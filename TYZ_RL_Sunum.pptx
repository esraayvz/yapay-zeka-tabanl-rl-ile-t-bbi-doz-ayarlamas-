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6D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16730B-BD8A-4A8B-A8C6-13A0B97B717C}" type="doc">
      <dgm:prSet loTypeId="urn:microsoft.com/office/officeart/2005/8/layout/vList6" loCatId="list" qsTypeId="urn:microsoft.com/office/officeart/2005/8/quickstyle/simple1" qsCatId="simple" csTypeId="urn:microsoft.com/office/officeart/2005/8/colors/colorful1" csCatId="colorful" phldr="1"/>
      <dgm:spPr/>
      <dgm:t>
        <a:bodyPr/>
        <a:lstStyle/>
        <a:p>
          <a:endParaRPr lang="tr-TR"/>
        </a:p>
      </dgm:t>
    </dgm:pt>
    <dgm:pt modelId="{DE9C3C6A-307F-403B-9E0E-1BF9F5F1E3B6}">
      <dgm:prSet phldrT="[Metin]"/>
      <dgm:spPr/>
      <dgm:t>
        <a:bodyPr/>
        <a:lstStyle/>
        <a:p>
          <a:pPr algn="ctr"/>
          <a:r>
            <a:rPr lang="tr-TR" dirty="0"/>
            <a:t>KEŞİFSEL VERİ ANALİZİ (EDA)</a:t>
          </a:r>
        </a:p>
      </dgm:t>
    </dgm:pt>
    <dgm:pt modelId="{D92BCB30-3281-4B25-8331-9D3F8CC18EE9}" type="parTrans" cxnId="{92E3C48D-1014-4F0A-B599-D6545C77BF65}">
      <dgm:prSet/>
      <dgm:spPr/>
      <dgm:t>
        <a:bodyPr/>
        <a:lstStyle/>
        <a:p>
          <a:pPr algn="just"/>
          <a:endParaRPr lang="tr-TR"/>
        </a:p>
      </dgm:t>
    </dgm:pt>
    <dgm:pt modelId="{C11C2AA5-3C62-452B-869F-BD6AD9080E14}" type="sibTrans" cxnId="{92E3C48D-1014-4F0A-B599-D6545C77BF65}">
      <dgm:prSet/>
      <dgm:spPr/>
      <dgm:t>
        <a:bodyPr/>
        <a:lstStyle/>
        <a:p>
          <a:pPr algn="just"/>
          <a:endParaRPr lang="tr-TR"/>
        </a:p>
      </dgm:t>
    </dgm:pt>
    <dgm:pt modelId="{9DA7652E-EC49-4864-9419-97DDC1443638}">
      <dgm:prSet phldrT="[Metin]" custT="1"/>
      <dgm:spPr/>
      <dgm:t>
        <a:bodyPr/>
        <a:lstStyle/>
        <a:p>
          <a:pPr algn="just">
            <a:buFont typeface="Arial" panose="020B0604020202020204" pitchFamily="34" charset="0"/>
            <a:buNone/>
          </a:pPr>
          <a:r>
            <a:rPr lang="tr-TR" sz="1600" dirty="0"/>
            <a:t>   </a:t>
          </a:r>
        </a:p>
      </dgm:t>
    </dgm:pt>
    <dgm:pt modelId="{C9202861-4F54-4010-A70C-B563617397A1}" type="parTrans" cxnId="{C4827895-91BC-4C18-9D58-0A65FF38D04A}">
      <dgm:prSet/>
      <dgm:spPr/>
      <dgm:t>
        <a:bodyPr/>
        <a:lstStyle/>
        <a:p>
          <a:pPr algn="just"/>
          <a:endParaRPr lang="tr-TR"/>
        </a:p>
      </dgm:t>
    </dgm:pt>
    <dgm:pt modelId="{37149B0E-16C4-4628-B630-AFCB6784DE56}" type="sibTrans" cxnId="{C4827895-91BC-4C18-9D58-0A65FF38D04A}">
      <dgm:prSet/>
      <dgm:spPr/>
      <dgm:t>
        <a:bodyPr/>
        <a:lstStyle/>
        <a:p>
          <a:pPr algn="just"/>
          <a:endParaRPr lang="tr-TR"/>
        </a:p>
      </dgm:t>
    </dgm:pt>
    <dgm:pt modelId="{1F8D7855-4965-42F3-8E5A-705AD7CFFEA5}">
      <dgm:prSet phldrT="[Metin]"/>
      <dgm:spPr/>
      <dgm:t>
        <a:bodyPr/>
        <a:lstStyle/>
        <a:p>
          <a:pPr algn="ctr"/>
          <a:r>
            <a:rPr lang="tr-TR" dirty="0"/>
            <a:t>VERİ GÖRSELLEŞTİRME</a:t>
          </a:r>
        </a:p>
      </dgm:t>
    </dgm:pt>
    <dgm:pt modelId="{02F5EA72-D8AB-4A5A-AFD2-681D00549AA8}" type="parTrans" cxnId="{C427FD72-5767-48EE-97BA-999E9242928E}">
      <dgm:prSet/>
      <dgm:spPr/>
      <dgm:t>
        <a:bodyPr/>
        <a:lstStyle/>
        <a:p>
          <a:pPr algn="just"/>
          <a:endParaRPr lang="tr-TR"/>
        </a:p>
      </dgm:t>
    </dgm:pt>
    <dgm:pt modelId="{2C7D10A0-6933-4E17-9A17-2DB90038A413}" type="sibTrans" cxnId="{C427FD72-5767-48EE-97BA-999E9242928E}">
      <dgm:prSet/>
      <dgm:spPr/>
      <dgm:t>
        <a:bodyPr/>
        <a:lstStyle/>
        <a:p>
          <a:pPr algn="just"/>
          <a:endParaRPr lang="tr-TR"/>
        </a:p>
      </dgm:t>
    </dgm:pt>
    <dgm:pt modelId="{6C7685A0-9395-4E6E-A688-B91BD0F4D302}">
      <dgm:prSet phldrT="[Metin]" custT="1"/>
      <dgm:spPr/>
      <dgm:t>
        <a:bodyPr/>
        <a:lstStyle/>
        <a:p>
          <a:pPr algn="just">
            <a:buNone/>
          </a:pPr>
          <a:r>
            <a:rPr lang="tr-TR" sz="1600" dirty="0"/>
            <a:t>    </a:t>
          </a:r>
        </a:p>
      </dgm:t>
    </dgm:pt>
    <dgm:pt modelId="{6A523F43-2E80-4D9E-A17B-EABE17048056}" type="parTrans" cxnId="{E8C301AC-8BCF-430F-BCA0-1883AAABEABC}">
      <dgm:prSet/>
      <dgm:spPr/>
      <dgm:t>
        <a:bodyPr/>
        <a:lstStyle/>
        <a:p>
          <a:pPr algn="just"/>
          <a:endParaRPr lang="tr-TR"/>
        </a:p>
      </dgm:t>
    </dgm:pt>
    <dgm:pt modelId="{BD6F07F5-F85E-411D-81EC-6E09D9B2194E}" type="sibTrans" cxnId="{E8C301AC-8BCF-430F-BCA0-1883AAABEABC}">
      <dgm:prSet/>
      <dgm:spPr/>
      <dgm:t>
        <a:bodyPr/>
        <a:lstStyle/>
        <a:p>
          <a:pPr algn="just"/>
          <a:endParaRPr lang="tr-TR"/>
        </a:p>
      </dgm:t>
    </dgm:pt>
    <dgm:pt modelId="{704A8007-7416-491D-AEC1-14D10ACCF896}">
      <dgm:prSet phldrT="[Metin]" phldr="0"/>
      <dgm:spPr/>
      <dgm:t>
        <a:bodyPr/>
        <a:lstStyle/>
        <a:p>
          <a:pPr algn="ctr"/>
          <a:r>
            <a:rPr lang="tr-TR" dirty="0"/>
            <a:t>VERİ ÖNİŞLEME</a:t>
          </a:r>
        </a:p>
      </dgm:t>
    </dgm:pt>
    <dgm:pt modelId="{117A349D-5AA7-43FA-911C-499F2CAB8E5E}" type="parTrans" cxnId="{C49434E2-8ED4-425B-AB1D-F393AD356166}">
      <dgm:prSet/>
      <dgm:spPr/>
      <dgm:t>
        <a:bodyPr/>
        <a:lstStyle/>
        <a:p>
          <a:pPr algn="just"/>
          <a:endParaRPr lang="tr-TR"/>
        </a:p>
      </dgm:t>
    </dgm:pt>
    <dgm:pt modelId="{7794ECB9-84F3-428B-9D37-088FD139D5B4}" type="sibTrans" cxnId="{C49434E2-8ED4-425B-AB1D-F393AD356166}">
      <dgm:prSet/>
      <dgm:spPr/>
      <dgm:t>
        <a:bodyPr/>
        <a:lstStyle/>
        <a:p>
          <a:pPr algn="just"/>
          <a:endParaRPr lang="tr-TR"/>
        </a:p>
      </dgm:t>
    </dgm:pt>
    <dgm:pt modelId="{07B7A3EB-FEBC-4D00-A4D5-CA1D3C2C92D3}">
      <dgm:prSet phldrT="[Metin]" custT="1"/>
      <dgm:spPr/>
      <dgm:t>
        <a:bodyPr/>
        <a:lstStyle/>
        <a:p>
          <a:pPr algn="just">
            <a:buFont typeface="Arial" panose="020B0604020202020204" pitchFamily="34" charset="0"/>
            <a:buNone/>
          </a:pPr>
          <a:r>
            <a:rPr lang="tr-TR" sz="1600" dirty="0"/>
            <a:t>    Veri seti Python’a aktarılmış, satır–sütun sayısı, ilk satırlar, veri tipleri ve tanımlayıcı istatistikler incelenmiştir. Eksik değerler ve düşük çeşitlilikteki kategoriler kontrol edilmiş, sayısal değişkenlerde uç değerler IQR yöntemiyle belirlenmiştir.</a:t>
          </a:r>
        </a:p>
      </dgm:t>
    </dgm:pt>
    <dgm:pt modelId="{AB1D1771-27CA-44B7-9164-6EC45B46514C}" type="parTrans" cxnId="{D950EA99-2B57-4C6C-8D88-CCCAED7E0CA3}">
      <dgm:prSet/>
      <dgm:spPr/>
      <dgm:t>
        <a:bodyPr/>
        <a:lstStyle/>
        <a:p>
          <a:pPr algn="just"/>
          <a:endParaRPr lang="tr-TR"/>
        </a:p>
      </dgm:t>
    </dgm:pt>
    <dgm:pt modelId="{74A06D20-2B31-4AD2-B7E8-20581724ED49}" type="sibTrans" cxnId="{D950EA99-2B57-4C6C-8D88-CCCAED7E0CA3}">
      <dgm:prSet/>
      <dgm:spPr/>
      <dgm:t>
        <a:bodyPr/>
        <a:lstStyle/>
        <a:p>
          <a:pPr algn="just"/>
          <a:endParaRPr lang="tr-TR"/>
        </a:p>
      </dgm:t>
    </dgm:pt>
    <dgm:pt modelId="{4B395D94-B756-4D59-B7C8-D88A5A7FCCFE}">
      <dgm:prSet phldrT="[Metin]" custT="1"/>
      <dgm:spPr/>
      <dgm:t>
        <a:bodyPr/>
        <a:lstStyle/>
        <a:p>
          <a:pPr algn="just">
            <a:buNone/>
          </a:pPr>
          <a:r>
            <a:rPr lang="tr-TR" sz="1600" dirty="0"/>
            <a:t>    Veri setindeki sayısal değişkenler arasındaki ilişkiler korelasyon matrisi ile incelenmiş, pozitif ve negatif ilişkiler gözlemlenmiştir. Ayrıca histogram ve </a:t>
          </a:r>
          <a:r>
            <a:rPr lang="tr-TR" sz="1600" dirty="0" err="1"/>
            <a:t>boxplotlar</a:t>
          </a:r>
          <a:r>
            <a:rPr lang="tr-TR" sz="1600" dirty="0"/>
            <a:t> ile değişkenlerin dağılımı ve olası uç değerler görselleştirilmiştir.</a:t>
          </a:r>
        </a:p>
      </dgm:t>
    </dgm:pt>
    <dgm:pt modelId="{D2DFDA5D-D28A-46CD-86CE-CF9A4911BB58}" type="parTrans" cxnId="{56B40D39-852E-4238-B61F-4A8C14F2949F}">
      <dgm:prSet/>
      <dgm:spPr/>
      <dgm:t>
        <a:bodyPr/>
        <a:lstStyle/>
        <a:p>
          <a:pPr algn="just"/>
          <a:endParaRPr lang="tr-TR"/>
        </a:p>
      </dgm:t>
    </dgm:pt>
    <dgm:pt modelId="{8CCE306E-AA9D-490C-BC97-B43315D34B01}" type="sibTrans" cxnId="{56B40D39-852E-4238-B61F-4A8C14F2949F}">
      <dgm:prSet/>
      <dgm:spPr/>
      <dgm:t>
        <a:bodyPr/>
        <a:lstStyle/>
        <a:p>
          <a:pPr algn="just"/>
          <a:endParaRPr lang="tr-TR"/>
        </a:p>
      </dgm:t>
    </dgm:pt>
    <dgm:pt modelId="{95AF6A88-7C00-4CA1-BBBF-A4058D44BCD9}">
      <dgm:prSet custT="1"/>
      <dgm:spPr/>
      <dgm:t>
        <a:bodyPr/>
        <a:lstStyle/>
        <a:p>
          <a:pPr algn="just">
            <a:buNone/>
          </a:pPr>
          <a:r>
            <a:rPr lang="tr-TR" sz="1600" dirty="0"/>
            <a:t>    Veri setine ön işlem uygulanmış; katılımcılar için ID oluşturulmuş, isim sütunları çıkarılmış ve değişkenler sayısal/kategorik olarak ayrılmıştır. Sayısal değişkenlere uç değerleri azaltmak için </a:t>
          </a:r>
          <a:r>
            <a:rPr lang="tr-TR" sz="1600" dirty="0" err="1"/>
            <a:t>Winsorize</a:t>
          </a:r>
          <a:r>
            <a:rPr lang="tr-TR" sz="1600" dirty="0"/>
            <a:t> ve ölçekleme için </a:t>
          </a:r>
          <a:r>
            <a:rPr lang="tr-TR" sz="1600" dirty="0" err="1"/>
            <a:t>RobustScaler</a:t>
          </a:r>
          <a:r>
            <a:rPr lang="tr-TR" sz="1600" dirty="0"/>
            <a:t> uygulanmış, kategorik değişkenler (duygusal durum ve ilaç türü) sayısal değerlere dönüştürülmüştür.</a:t>
          </a:r>
        </a:p>
      </dgm:t>
    </dgm:pt>
    <dgm:pt modelId="{58E477D4-898A-47F8-B41B-F38848DB5BD6}" type="parTrans" cxnId="{529951CF-00FE-43C6-96CB-12CB4DC10CAB}">
      <dgm:prSet/>
      <dgm:spPr/>
      <dgm:t>
        <a:bodyPr/>
        <a:lstStyle/>
        <a:p>
          <a:pPr algn="just"/>
          <a:endParaRPr lang="tr-TR"/>
        </a:p>
      </dgm:t>
    </dgm:pt>
    <dgm:pt modelId="{BC1B9F5C-E871-48E4-969E-3329DE622B18}" type="sibTrans" cxnId="{529951CF-00FE-43C6-96CB-12CB4DC10CAB}">
      <dgm:prSet/>
      <dgm:spPr/>
      <dgm:t>
        <a:bodyPr/>
        <a:lstStyle/>
        <a:p>
          <a:pPr algn="just"/>
          <a:endParaRPr lang="tr-TR"/>
        </a:p>
      </dgm:t>
    </dgm:pt>
    <dgm:pt modelId="{E6980162-2818-40CB-9C7C-74D23CAF1FCA}" type="pres">
      <dgm:prSet presAssocID="{2716730B-BD8A-4A8B-A8C6-13A0B97B717C}" presName="Name0" presStyleCnt="0">
        <dgm:presLayoutVars>
          <dgm:dir/>
          <dgm:animLvl val="lvl"/>
          <dgm:resizeHandles/>
        </dgm:presLayoutVars>
      </dgm:prSet>
      <dgm:spPr/>
    </dgm:pt>
    <dgm:pt modelId="{CE8C6136-EEDE-48B6-84CF-632B5D7E165B}" type="pres">
      <dgm:prSet presAssocID="{DE9C3C6A-307F-403B-9E0E-1BF9F5F1E3B6}" presName="linNode" presStyleCnt="0"/>
      <dgm:spPr/>
    </dgm:pt>
    <dgm:pt modelId="{CEE55308-1699-4C1C-99CF-3242D6FE7F41}" type="pres">
      <dgm:prSet presAssocID="{DE9C3C6A-307F-403B-9E0E-1BF9F5F1E3B6}" presName="parentShp" presStyleLbl="node1" presStyleIdx="0" presStyleCnt="3" custScaleX="38926">
        <dgm:presLayoutVars>
          <dgm:bulletEnabled val="1"/>
        </dgm:presLayoutVars>
      </dgm:prSet>
      <dgm:spPr/>
    </dgm:pt>
    <dgm:pt modelId="{E7DDB296-AD1F-46D5-814D-641886FCC180}" type="pres">
      <dgm:prSet presAssocID="{DE9C3C6A-307F-403B-9E0E-1BF9F5F1E3B6}" presName="childShp" presStyleLbl="bgAccFollowNode1" presStyleIdx="0" presStyleCnt="3" custScaleX="146813">
        <dgm:presLayoutVars>
          <dgm:bulletEnabled val="1"/>
        </dgm:presLayoutVars>
      </dgm:prSet>
      <dgm:spPr/>
    </dgm:pt>
    <dgm:pt modelId="{691F9336-B082-4098-98AA-1753D876C923}" type="pres">
      <dgm:prSet presAssocID="{C11C2AA5-3C62-452B-869F-BD6AD9080E14}" presName="spacing" presStyleCnt="0"/>
      <dgm:spPr/>
    </dgm:pt>
    <dgm:pt modelId="{29387780-E440-4416-9BA4-4247BDDA2D5F}" type="pres">
      <dgm:prSet presAssocID="{1F8D7855-4965-42F3-8E5A-705AD7CFFEA5}" presName="linNode" presStyleCnt="0"/>
      <dgm:spPr/>
    </dgm:pt>
    <dgm:pt modelId="{99C0CC3D-879B-4810-804D-C34BBF9589C4}" type="pres">
      <dgm:prSet presAssocID="{1F8D7855-4965-42F3-8E5A-705AD7CFFEA5}" presName="parentShp" presStyleLbl="node1" presStyleIdx="1" presStyleCnt="3" custScaleX="39568">
        <dgm:presLayoutVars>
          <dgm:bulletEnabled val="1"/>
        </dgm:presLayoutVars>
      </dgm:prSet>
      <dgm:spPr/>
    </dgm:pt>
    <dgm:pt modelId="{B220FA0F-F748-4139-8A53-A939330EA67B}" type="pres">
      <dgm:prSet presAssocID="{1F8D7855-4965-42F3-8E5A-705AD7CFFEA5}" presName="childShp" presStyleLbl="bgAccFollowNode1" presStyleIdx="1" presStyleCnt="3" custScaleX="147541">
        <dgm:presLayoutVars>
          <dgm:bulletEnabled val="1"/>
        </dgm:presLayoutVars>
      </dgm:prSet>
      <dgm:spPr/>
    </dgm:pt>
    <dgm:pt modelId="{647747A0-3C53-49E7-A5D5-88F9471A5897}" type="pres">
      <dgm:prSet presAssocID="{2C7D10A0-6933-4E17-9A17-2DB90038A413}" presName="spacing" presStyleCnt="0"/>
      <dgm:spPr/>
    </dgm:pt>
    <dgm:pt modelId="{1E8A91A1-EDA4-44E3-998A-C572E8B3E129}" type="pres">
      <dgm:prSet presAssocID="{704A8007-7416-491D-AEC1-14D10ACCF896}" presName="linNode" presStyleCnt="0"/>
      <dgm:spPr/>
    </dgm:pt>
    <dgm:pt modelId="{D71AAE7E-3CF9-40FC-B504-3534D8DC9EA4}" type="pres">
      <dgm:prSet presAssocID="{704A8007-7416-491D-AEC1-14D10ACCF896}" presName="parentShp" presStyleLbl="node1" presStyleIdx="2" presStyleCnt="3" custScaleX="39993">
        <dgm:presLayoutVars>
          <dgm:bulletEnabled val="1"/>
        </dgm:presLayoutVars>
      </dgm:prSet>
      <dgm:spPr/>
    </dgm:pt>
    <dgm:pt modelId="{2E2D618F-E104-42A5-A482-FB3A27F1B4C0}" type="pres">
      <dgm:prSet presAssocID="{704A8007-7416-491D-AEC1-14D10ACCF896}" presName="childShp" presStyleLbl="bgAccFollowNode1" presStyleIdx="2" presStyleCnt="3" custScaleX="147267">
        <dgm:presLayoutVars>
          <dgm:bulletEnabled val="1"/>
        </dgm:presLayoutVars>
      </dgm:prSet>
      <dgm:spPr/>
    </dgm:pt>
  </dgm:ptLst>
  <dgm:cxnLst>
    <dgm:cxn modelId="{2551A504-7138-4209-918E-3338953E657E}" type="presOf" srcId="{6C7685A0-9395-4E6E-A688-B91BD0F4D302}" destId="{B220FA0F-F748-4139-8A53-A939330EA67B}" srcOrd="0" destOrd="0" presId="urn:microsoft.com/office/officeart/2005/8/layout/vList6"/>
    <dgm:cxn modelId="{37567E37-5178-4FE9-BAB0-D96E98EBF5EA}" type="presOf" srcId="{07B7A3EB-FEBC-4D00-A4D5-CA1D3C2C92D3}" destId="{E7DDB296-AD1F-46D5-814D-641886FCC180}" srcOrd="0" destOrd="1" presId="urn:microsoft.com/office/officeart/2005/8/layout/vList6"/>
    <dgm:cxn modelId="{56B40D39-852E-4238-B61F-4A8C14F2949F}" srcId="{1F8D7855-4965-42F3-8E5A-705AD7CFFEA5}" destId="{4B395D94-B756-4D59-B7C8-D88A5A7FCCFE}" srcOrd="1" destOrd="0" parTransId="{D2DFDA5D-D28A-46CD-86CE-CF9A4911BB58}" sibTransId="{8CCE306E-AA9D-490C-BC97-B43315D34B01}"/>
    <dgm:cxn modelId="{4798A03E-50AA-4FCB-8519-0ECB850D7050}" type="presOf" srcId="{704A8007-7416-491D-AEC1-14D10ACCF896}" destId="{D71AAE7E-3CF9-40FC-B504-3534D8DC9EA4}" srcOrd="0" destOrd="0" presId="urn:microsoft.com/office/officeart/2005/8/layout/vList6"/>
    <dgm:cxn modelId="{07193751-E770-4292-89DD-7BE0D0C5CD29}" type="presOf" srcId="{2716730B-BD8A-4A8B-A8C6-13A0B97B717C}" destId="{E6980162-2818-40CB-9C7C-74D23CAF1FCA}" srcOrd="0" destOrd="0" presId="urn:microsoft.com/office/officeart/2005/8/layout/vList6"/>
    <dgm:cxn modelId="{C427FD72-5767-48EE-97BA-999E9242928E}" srcId="{2716730B-BD8A-4A8B-A8C6-13A0B97B717C}" destId="{1F8D7855-4965-42F3-8E5A-705AD7CFFEA5}" srcOrd="1" destOrd="0" parTransId="{02F5EA72-D8AB-4A5A-AFD2-681D00549AA8}" sibTransId="{2C7D10A0-6933-4E17-9A17-2DB90038A413}"/>
    <dgm:cxn modelId="{D5A5A584-13CB-458A-A8E3-3584D403CD66}" type="presOf" srcId="{95AF6A88-7C00-4CA1-BBBF-A4058D44BCD9}" destId="{2E2D618F-E104-42A5-A482-FB3A27F1B4C0}" srcOrd="0" destOrd="0" presId="urn:microsoft.com/office/officeart/2005/8/layout/vList6"/>
    <dgm:cxn modelId="{92E3C48D-1014-4F0A-B599-D6545C77BF65}" srcId="{2716730B-BD8A-4A8B-A8C6-13A0B97B717C}" destId="{DE9C3C6A-307F-403B-9E0E-1BF9F5F1E3B6}" srcOrd="0" destOrd="0" parTransId="{D92BCB30-3281-4B25-8331-9D3F8CC18EE9}" sibTransId="{C11C2AA5-3C62-452B-869F-BD6AD9080E14}"/>
    <dgm:cxn modelId="{C4827895-91BC-4C18-9D58-0A65FF38D04A}" srcId="{DE9C3C6A-307F-403B-9E0E-1BF9F5F1E3B6}" destId="{9DA7652E-EC49-4864-9419-97DDC1443638}" srcOrd="0" destOrd="0" parTransId="{C9202861-4F54-4010-A70C-B563617397A1}" sibTransId="{37149B0E-16C4-4628-B630-AFCB6784DE56}"/>
    <dgm:cxn modelId="{D950EA99-2B57-4C6C-8D88-CCCAED7E0CA3}" srcId="{DE9C3C6A-307F-403B-9E0E-1BF9F5F1E3B6}" destId="{07B7A3EB-FEBC-4D00-A4D5-CA1D3C2C92D3}" srcOrd="1" destOrd="0" parTransId="{AB1D1771-27CA-44B7-9164-6EC45B46514C}" sibTransId="{74A06D20-2B31-4AD2-B7E8-20581724ED49}"/>
    <dgm:cxn modelId="{E8C301AC-8BCF-430F-BCA0-1883AAABEABC}" srcId="{1F8D7855-4965-42F3-8E5A-705AD7CFFEA5}" destId="{6C7685A0-9395-4E6E-A688-B91BD0F4D302}" srcOrd="0" destOrd="0" parTransId="{6A523F43-2E80-4D9E-A17B-EABE17048056}" sibTransId="{BD6F07F5-F85E-411D-81EC-6E09D9B2194E}"/>
    <dgm:cxn modelId="{75A651B0-329F-4907-AC3E-4BACC870C1CA}" type="presOf" srcId="{4B395D94-B756-4D59-B7C8-D88A5A7FCCFE}" destId="{B220FA0F-F748-4139-8A53-A939330EA67B}" srcOrd="0" destOrd="1" presId="urn:microsoft.com/office/officeart/2005/8/layout/vList6"/>
    <dgm:cxn modelId="{DC2BFDBC-0DE4-4306-BAFA-B1BFC7C32323}" type="presOf" srcId="{DE9C3C6A-307F-403B-9E0E-1BF9F5F1E3B6}" destId="{CEE55308-1699-4C1C-99CF-3242D6FE7F41}" srcOrd="0" destOrd="0" presId="urn:microsoft.com/office/officeart/2005/8/layout/vList6"/>
    <dgm:cxn modelId="{D71AC2CA-798E-41B1-B72C-1394108E4954}" type="presOf" srcId="{9DA7652E-EC49-4864-9419-97DDC1443638}" destId="{E7DDB296-AD1F-46D5-814D-641886FCC180}" srcOrd="0" destOrd="0" presId="urn:microsoft.com/office/officeart/2005/8/layout/vList6"/>
    <dgm:cxn modelId="{529951CF-00FE-43C6-96CB-12CB4DC10CAB}" srcId="{704A8007-7416-491D-AEC1-14D10ACCF896}" destId="{95AF6A88-7C00-4CA1-BBBF-A4058D44BCD9}" srcOrd="0" destOrd="0" parTransId="{58E477D4-898A-47F8-B41B-F38848DB5BD6}" sibTransId="{BC1B9F5C-E871-48E4-969E-3329DE622B18}"/>
    <dgm:cxn modelId="{C49434E2-8ED4-425B-AB1D-F393AD356166}" srcId="{2716730B-BD8A-4A8B-A8C6-13A0B97B717C}" destId="{704A8007-7416-491D-AEC1-14D10ACCF896}" srcOrd="2" destOrd="0" parTransId="{117A349D-5AA7-43FA-911C-499F2CAB8E5E}" sibTransId="{7794ECB9-84F3-428B-9D37-088FD139D5B4}"/>
    <dgm:cxn modelId="{CC9725F2-ADE0-4521-8D24-E027EF5AF34F}" type="presOf" srcId="{1F8D7855-4965-42F3-8E5A-705AD7CFFEA5}" destId="{99C0CC3D-879B-4810-804D-C34BBF9589C4}" srcOrd="0" destOrd="0" presId="urn:microsoft.com/office/officeart/2005/8/layout/vList6"/>
    <dgm:cxn modelId="{CCEB915E-8D19-4514-A72E-FC521D104B77}" type="presParOf" srcId="{E6980162-2818-40CB-9C7C-74D23CAF1FCA}" destId="{CE8C6136-EEDE-48B6-84CF-632B5D7E165B}" srcOrd="0" destOrd="0" presId="urn:microsoft.com/office/officeart/2005/8/layout/vList6"/>
    <dgm:cxn modelId="{21574893-6CDE-44B2-9EBC-683DDE33442D}" type="presParOf" srcId="{CE8C6136-EEDE-48B6-84CF-632B5D7E165B}" destId="{CEE55308-1699-4C1C-99CF-3242D6FE7F41}" srcOrd="0" destOrd="0" presId="urn:microsoft.com/office/officeart/2005/8/layout/vList6"/>
    <dgm:cxn modelId="{E6785141-92A1-45CF-8297-E97FDD4A49C2}" type="presParOf" srcId="{CE8C6136-EEDE-48B6-84CF-632B5D7E165B}" destId="{E7DDB296-AD1F-46D5-814D-641886FCC180}" srcOrd="1" destOrd="0" presId="urn:microsoft.com/office/officeart/2005/8/layout/vList6"/>
    <dgm:cxn modelId="{96FCD68B-625C-4A14-B593-0FFCA3D5D3DF}" type="presParOf" srcId="{E6980162-2818-40CB-9C7C-74D23CAF1FCA}" destId="{691F9336-B082-4098-98AA-1753D876C923}" srcOrd="1" destOrd="0" presId="urn:microsoft.com/office/officeart/2005/8/layout/vList6"/>
    <dgm:cxn modelId="{5DDABA58-28D4-4329-83FD-36A6AC939AA8}" type="presParOf" srcId="{E6980162-2818-40CB-9C7C-74D23CAF1FCA}" destId="{29387780-E440-4416-9BA4-4247BDDA2D5F}" srcOrd="2" destOrd="0" presId="urn:microsoft.com/office/officeart/2005/8/layout/vList6"/>
    <dgm:cxn modelId="{1128EF5F-3FD9-43A4-B126-D37464D1192C}" type="presParOf" srcId="{29387780-E440-4416-9BA4-4247BDDA2D5F}" destId="{99C0CC3D-879B-4810-804D-C34BBF9589C4}" srcOrd="0" destOrd="0" presId="urn:microsoft.com/office/officeart/2005/8/layout/vList6"/>
    <dgm:cxn modelId="{1741253F-C5E2-4A5E-94FC-313D9952F4F9}" type="presParOf" srcId="{29387780-E440-4416-9BA4-4247BDDA2D5F}" destId="{B220FA0F-F748-4139-8A53-A939330EA67B}" srcOrd="1" destOrd="0" presId="urn:microsoft.com/office/officeart/2005/8/layout/vList6"/>
    <dgm:cxn modelId="{3F237699-2148-4F97-94D3-55B024DFBB13}" type="presParOf" srcId="{E6980162-2818-40CB-9C7C-74D23CAF1FCA}" destId="{647747A0-3C53-49E7-A5D5-88F9471A5897}" srcOrd="3" destOrd="0" presId="urn:microsoft.com/office/officeart/2005/8/layout/vList6"/>
    <dgm:cxn modelId="{17AD5A7A-7BDB-4C99-8810-982604AA3BE9}" type="presParOf" srcId="{E6980162-2818-40CB-9C7C-74D23CAF1FCA}" destId="{1E8A91A1-EDA4-44E3-998A-C572E8B3E129}" srcOrd="4" destOrd="0" presId="urn:microsoft.com/office/officeart/2005/8/layout/vList6"/>
    <dgm:cxn modelId="{300FDCA1-6CAE-415E-A93E-7FE30A68693F}" type="presParOf" srcId="{1E8A91A1-EDA4-44E3-998A-C572E8B3E129}" destId="{D71AAE7E-3CF9-40FC-B504-3534D8DC9EA4}" srcOrd="0" destOrd="0" presId="urn:microsoft.com/office/officeart/2005/8/layout/vList6"/>
    <dgm:cxn modelId="{C1A58A48-4903-4DA0-B88A-DC715EA126E2}" type="presParOf" srcId="{1E8A91A1-EDA4-44E3-998A-C572E8B3E129}" destId="{2E2D618F-E104-42A5-A482-FB3A27F1B4C0}"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0F2E28-5557-4AD5-9EC0-368D5874967E}"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15AB52E1-B9F2-4EFA-8503-660E1145F08D}">
      <dgm:prSet/>
      <dgm:spPr/>
      <dgm:t>
        <a:bodyPr/>
        <a:lstStyle/>
        <a:p>
          <a:r>
            <a:rPr lang="tr-TR" i="0" baseline="0" dirty="0"/>
            <a:t>Çalışmada ilaç dozajını optimize etmek için </a:t>
          </a:r>
          <a:r>
            <a:rPr lang="tr-TR" b="1" i="0" baseline="0" dirty="0"/>
            <a:t>offline </a:t>
          </a:r>
          <a:r>
            <a:rPr lang="tr-TR" b="1" i="0" baseline="0" dirty="0" err="1"/>
            <a:t>reinforcement</a:t>
          </a:r>
          <a:r>
            <a:rPr lang="tr-TR" b="1" i="0" baseline="0" dirty="0"/>
            <a:t> </a:t>
          </a:r>
          <a:r>
            <a:rPr lang="tr-TR" b="1" i="0" baseline="0" dirty="0" err="1"/>
            <a:t>learning</a:t>
          </a:r>
          <a:r>
            <a:rPr lang="tr-TR" b="1" i="0" baseline="0" dirty="0"/>
            <a:t> (RL)</a:t>
          </a:r>
          <a:r>
            <a:rPr lang="tr-TR" i="0" baseline="0" dirty="0"/>
            <a:t> yaklaşımı kullanılmıştır.</a:t>
          </a:r>
          <a:endParaRPr lang="en-US" dirty="0"/>
        </a:p>
      </dgm:t>
    </dgm:pt>
    <dgm:pt modelId="{0466DF1E-2167-4896-9891-072A479A8F30}" type="parTrans" cxnId="{6CB3BB9A-036A-4FCE-820A-A01C76EE9574}">
      <dgm:prSet/>
      <dgm:spPr/>
      <dgm:t>
        <a:bodyPr/>
        <a:lstStyle/>
        <a:p>
          <a:endParaRPr lang="en-US"/>
        </a:p>
      </dgm:t>
    </dgm:pt>
    <dgm:pt modelId="{AF66011E-822B-44A0-A29A-AE0DA6A69949}" type="sibTrans" cxnId="{6CB3BB9A-036A-4FCE-820A-A01C76EE9574}">
      <dgm:prSet/>
      <dgm:spPr/>
      <dgm:t>
        <a:bodyPr/>
        <a:lstStyle/>
        <a:p>
          <a:endParaRPr lang="en-US"/>
        </a:p>
      </dgm:t>
    </dgm:pt>
    <dgm:pt modelId="{DA6891AB-C5DA-497D-A2D8-C975FEC4B301}">
      <dgm:prSet/>
      <dgm:spPr/>
      <dgm:t>
        <a:bodyPr/>
        <a:lstStyle/>
        <a:p>
          <a:r>
            <a:rPr lang="tr-TR" i="0" baseline="0"/>
            <a:t>Ajan, gerçek ortam yerine </a:t>
          </a:r>
          <a:r>
            <a:rPr lang="tr-TR" b="1" i="0" baseline="0"/>
            <a:t>geçmiş veri üzerinden öğrenmiş</a:t>
          </a:r>
          <a:r>
            <a:rPr lang="tr-TR" i="0" baseline="0"/>
            <a:t> ve </a:t>
          </a:r>
          <a:r>
            <a:rPr lang="tr-TR" b="1" i="0" baseline="0"/>
            <a:t>MedicalEnv</a:t>
          </a:r>
          <a:r>
            <a:rPr lang="tr-TR" i="0" baseline="0"/>
            <a:t> ortamında durum–eylem geçişleri simüle edilmiştir.</a:t>
          </a:r>
          <a:endParaRPr lang="en-US"/>
        </a:p>
      </dgm:t>
    </dgm:pt>
    <dgm:pt modelId="{7ABA63A8-908D-47F3-BCD8-C17D3A98066F}" type="parTrans" cxnId="{C78F2789-92B9-4128-9B88-2A61E23447B8}">
      <dgm:prSet/>
      <dgm:spPr/>
      <dgm:t>
        <a:bodyPr/>
        <a:lstStyle/>
        <a:p>
          <a:endParaRPr lang="en-US"/>
        </a:p>
      </dgm:t>
    </dgm:pt>
    <dgm:pt modelId="{66A6FAB0-2C67-4762-B0A6-ACE237C97887}" type="sibTrans" cxnId="{C78F2789-92B9-4128-9B88-2A61E23447B8}">
      <dgm:prSet/>
      <dgm:spPr/>
      <dgm:t>
        <a:bodyPr/>
        <a:lstStyle/>
        <a:p>
          <a:endParaRPr lang="en-US"/>
        </a:p>
      </dgm:t>
    </dgm:pt>
    <dgm:pt modelId="{5C88D844-7338-43EE-B07D-DE8BA23F5195}">
      <dgm:prSet/>
      <dgm:spPr/>
      <dgm:t>
        <a:bodyPr/>
        <a:lstStyle/>
        <a:p>
          <a:r>
            <a:rPr lang="tr-TR" i="0" baseline="0"/>
            <a:t>Durum uzayı: </a:t>
          </a:r>
          <a:r>
            <a:rPr lang="tr-TR" b="1" i="0" baseline="0"/>
            <a:t>Diff</a:t>
          </a:r>
          <a:r>
            <a:rPr lang="tr-TR" i="0" baseline="0"/>
            <a:t>, doz, ilaç türü ve duygusal durum (Happy/Sad) bilgilerini içerir; eylem uzayı: </a:t>
          </a:r>
          <a:r>
            <a:rPr lang="tr-TR" b="1" i="0" baseline="0"/>
            <a:t>dozu azalt (0), sabit tut (1), artır (2)</a:t>
          </a:r>
          <a:r>
            <a:rPr lang="tr-TR" i="0" baseline="0"/>
            <a:t>.</a:t>
          </a:r>
          <a:endParaRPr lang="en-US"/>
        </a:p>
      </dgm:t>
    </dgm:pt>
    <dgm:pt modelId="{5F89594C-E6D8-4B7A-AB8D-BD56E2431923}" type="parTrans" cxnId="{09E2A166-355C-4518-B729-674A30D38CAE}">
      <dgm:prSet/>
      <dgm:spPr/>
      <dgm:t>
        <a:bodyPr/>
        <a:lstStyle/>
        <a:p>
          <a:endParaRPr lang="en-US"/>
        </a:p>
      </dgm:t>
    </dgm:pt>
    <dgm:pt modelId="{5D10F075-BD88-4D5A-92B5-A45F1BC9583F}" type="sibTrans" cxnId="{09E2A166-355C-4518-B729-674A30D38CAE}">
      <dgm:prSet/>
      <dgm:spPr/>
      <dgm:t>
        <a:bodyPr/>
        <a:lstStyle/>
        <a:p>
          <a:endParaRPr lang="en-US"/>
        </a:p>
      </dgm:t>
    </dgm:pt>
    <dgm:pt modelId="{2A242290-DC59-440D-98DF-9254BB01E777}">
      <dgm:prSet/>
      <dgm:spPr/>
      <dgm:t>
        <a:bodyPr/>
        <a:lstStyle/>
        <a:p>
          <a:r>
            <a:rPr lang="tr-TR" i="0" baseline="0"/>
            <a:t>Bir </a:t>
          </a:r>
          <a:r>
            <a:rPr lang="tr-TR" b="1" i="0" baseline="0"/>
            <a:t>dinamik model</a:t>
          </a:r>
          <a:r>
            <a:rPr lang="tr-TR" i="0" baseline="0"/>
            <a:t>, Diff değerini tahmin ederek ajanın öğrenme sürecinde veriyle geri bildirim sağlamıştır.</a:t>
          </a:r>
          <a:endParaRPr lang="en-US"/>
        </a:p>
      </dgm:t>
    </dgm:pt>
    <dgm:pt modelId="{AE886A6B-E1AB-47B6-9932-EF846F3847E0}" type="parTrans" cxnId="{5645AEBC-A93B-4056-B842-58DF8F4786A8}">
      <dgm:prSet/>
      <dgm:spPr/>
      <dgm:t>
        <a:bodyPr/>
        <a:lstStyle/>
        <a:p>
          <a:endParaRPr lang="en-US"/>
        </a:p>
      </dgm:t>
    </dgm:pt>
    <dgm:pt modelId="{E68859BF-46F5-4F93-8140-C7C386231EC2}" type="sibTrans" cxnId="{5645AEBC-A93B-4056-B842-58DF8F4786A8}">
      <dgm:prSet/>
      <dgm:spPr/>
      <dgm:t>
        <a:bodyPr/>
        <a:lstStyle/>
        <a:p>
          <a:endParaRPr lang="en-US"/>
        </a:p>
      </dgm:t>
    </dgm:pt>
    <dgm:pt modelId="{1729AD62-BEAF-40D1-AB56-FD6336772F76}">
      <dgm:prSet/>
      <dgm:spPr/>
      <dgm:t>
        <a:bodyPr/>
        <a:lstStyle/>
        <a:p>
          <a:r>
            <a:rPr lang="tr-TR" i="0" baseline="0"/>
            <a:t>Ajanın </a:t>
          </a:r>
          <a:r>
            <a:rPr lang="tr-TR" b="1" i="0" baseline="0"/>
            <a:t>Politika Ağı (PolicyNetwork)</a:t>
          </a:r>
          <a:r>
            <a:rPr lang="tr-TR" i="0" baseline="0"/>
            <a:t> PyTorch ile kurulmuş ve </a:t>
          </a:r>
          <a:r>
            <a:rPr lang="tr-TR" b="1" i="0" baseline="0"/>
            <a:t>REINFORCE (Policy Gradient)</a:t>
          </a:r>
          <a:r>
            <a:rPr lang="tr-TR" i="0" baseline="0"/>
            <a:t> algoritmasıyla eğitilmiştir.</a:t>
          </a:r>
          <a:endParaRPr lang="en-US"/>
        </a:p>
      </dgm:t>
    </dgm:pt>
    <dgm:pt modelId="{193A7074-A4A2-4D04-AC77-45335F978937}" type="parTrans" cxnId="{19D291AD-63B6-40CC-B90D-928D90276B10}">
      <dgm:prSet/>
      <dgm:spPr/>
      <dgm:t>
        <a:bodyPr/>
        <a:lstStyle/>
        <a:p>
          <a:endParaRPr lang="en-US"/>
        </a:p>
      </dgm:t>
    </dgm:pt>
    <dgm:pt modelId="{BDA22FE6-9467-4B2C-B99F-57618066E037}" type="sibTrans" cxnId="{19D291AD-63B6-40CC-B90D-928D90276B10}">
      <dgm:prSet/>
      <dgm:spPr/>
      <dgm:t>
        <a:bodyPr/>
        <a:lstStyle/>
        <a:p>
          <a:endParaRPr lang="en-US"/>
        </a:p>
      </dgm:t>
    </dgm:pt>
    <dgm:pt modelId="{EBA06B47-33A3-4EF3-97F1-102087D8AB4C}">
      <dgm:prSet/>
      <dgm:spPr/>
      <dgm:t>
        <a:bodyPr/>
        <a:lstStyle/>
        <a:p>
          <a:r>
            <a:rPr lang="tr-TR" i="0" baseline="0"/>
            <a:t>Eğitimde amaç, </a:t>
          </a:r>
          <a:r>
            <a:rPr lang="tr-TR" b="1" i="0" baseline="0"/>
            <a:t>uzun vadeli ödülü maksimize etmek</a:t>
          </a:r>
          <a:r>
            <a:rPr lang="tr-TR" i="0" baseline="0"/>
            <a:t> ve epizotlar boyunca politikanın istikrarını gözlemlemektir.</a:t>
          </a:r>
          <a:endParaRPr lang="en-US"/>
        </a:p>
      </dgm:t>
    </dgm:pt>
    <dgm:pt modelId="{946203EA-7B2A-46D2-AC95-2837D30B7E54}" type="parTrans" cxnId="{5AFB1728-C873-43EA-9763-A115F9EB7E73}">
      <dgm:prSet/>
      <dgm:spPr/>
      <dgm:t>
        <a:bodyPr/>
        <a:lstStyle/>
        <a:p>
          <a:endParaRPr lang="en-US"/>
        </a:p>
      </dgm:t>
    </dgm:pt>
    <dgm:pt modelId="{A5AE5AEC-F3AD-45D2-9AC5-D2170695EA5D}" type="sibTrans" cxnId="{5AFB1728-C873-43EA-9763-A115F9EB7E73}">
      <dgm:prSet/>
      <dgm:spPr/>
      <dgm:t>
        <a:bodyPr/>
        <a:lstStyle/>
        <a:p>
          <a:endParaRPr lang="en-US"/>
        </a:p>
      </dgm:t>
    </dgm:pt>
    <dgm:pt modelId="{5BB273F1-1CBF-4C5A-BE7E-65B24FC554B8}">
      <dgm:prSet/>
      <dgm:spPr/>
      <dgm:t>
        <a:bodyPr/>
        <a:lstStyle/>
        <a:p>
          <a:r>
            <a:rPr lang="tr-TR" i="0" baseline="0"/>
            <a:t>Test aşamasında politika deterministik olarak işletilmiş, en yüksek olasılıklı eylem (argmax) seçilmiştir.</a:t>
          </a:r>
          <a:endParaRPr lang="en-US"/>
        </a:p>
      </dgm:t>
    </dgm:pt>
    <dgm:pt modelId="{CE9BD2C8-2C8A-46AF-B32F-A7195EAE1ED7}" type="parTrans" cxnId="{891B3F8D-41BA-494E-96B9-AEE743DB55AA}">
      <dgm:prSet/>
      <dgm:spPr/>
      <dgm:t>
        <a:bodyPr/>
        <a:lstStyle/>
        <a:p>
          <a:endParaRPr lang="en-US"/>
        </a:p>
      </dgm:t>
    </dgm:pt>
    <dgm:pt modelId="{7C9A99B2-B7E2-414B-92BC-D77EB1BBD741}" type="sibTrans" cxnId="{891B3F8D-41BA-494E-96B9-AEE743DB55AA}">
      <dgm:prSet/>
      <dgm:spPr/>
      <dgm:t>
        <a:bodyPr/>
        <a:lstStyle/>
        <a:p>
          <a:endParaRPr lang="en-US"/>
        </a:p>
      </dgm:t>
    </dgm:pt>
    <dgm:pt modelId="{AEC569A6-9188-49E7-BE8D-0EDE402E3EDC}">
      <dgm:prSet/>
      <dgm:spPr/>
      <dgm:t>
        <a:bodyPr/>
        <a:lstStyle/>
        <a:p>
          <a:r>
            <a:rPr lang="tr-TR" i="0" baseline="0"/>
            <a:t>Performans 100 epizotta </a:t>
          </a:r>
          <a:r>
            <a:rPr lang="tr-TR" b="1" i="0" baseline="0"/>
            <a:t>ortalama ödül</a:t>
          </a:r>
          <a:r>
            <a:rPr lang="tr-TR" i="0" baseline="0"/>
            <a:t>, </a:t>
          </a:r>
          <a:r>
            <a:rPr lang="tr-TR" b="1" i="0" baseline="0"/>
            <a:t>denge süresi</a:t>
          </a:r>
          <a:r>
            <a:rPr lang="tr-TR" i="0" baseline="0"/>
            <a:t> ve tek epizot </a:t>
          </a:r>
          <a:r>
            <a:rPr lang="tr-TR" b="1" i="0" baseline="0"/>
            <a:t>accuracy</a:t>
          </a:r>
          <a:r>
            <a:rPr lang="tr-TR" i="0" baseline="0"/>
            <a:t> ile değerlendirilmiştir.</a:t>
          </a:r>
          <a:endParaRPr lang="en-US"/>
        </a:p>
      </dgm:t>
    </dgm:pt>
    <dgm:pt modelId="{E39D5EC9-CDAD-4E04-BA7A-47057467A8EB}" type="parTrans" cxnId="{AD7E6439-0545-42FD-B7CF-DB3309E42AAB}">
      <dgm:prSet/>
      <dgm:spPr/>
      <dgm:t>
        <a:bodyPr/>
        <a:lstStyle/>
        <a:p>
          <a:endParaRPr lang="en-US"/>
        </a:p>
      </dgm:t>
    </dgm:pt>
    <dgm:pt modelId="{96A6A4CE-8830-4863-A139-B725A11FF1B1}" type="sibTrans" cxnId="{AD7E6439-0545-42FD-B7CF-DB3309E42AAB}">
      <dgm:prSet/>
      <dgm:spPr/>
      <dgm:t>
        <a:bodyPr/>
        <a:lstStyle/>
        <a:p>
          <a:endParaRPr lang="en-US"/>
        </a:p>
      </dgm:t>
    </dgm:pt>
    <dgm:pt modelId="{F6EF8771-EF6F-4F23-8BD7-8B747508B7F3}">
      <dgm:prSet/>
      <dgm:spPr/>
      <dgm:t>
        <a:bodyPr/>
        <a:lstStyle/>
        <a:p>
          <a:r>
            <a:rPr lang="tr-TR" i="0" baseline="0"/>
            <a:t>Dinamik modelin başarısı, tahmin edilen Diff değerlerinin </a:t>
          </a:r>
          <a:r>
            <a:rPr lang="tr-TR" b="1" i="0" baseline="0"/>
            <a:t>ortalama hatası ve standart sapması</a:t>
          </a:r>
          <a:r>
            <a:rPr lang="tr-TR" i="0" baseline="0"/>
            <a:t> ile raporlanmıştır.</a:t>
          </a:r>
          <a:endParaRPr lang="en-US"/>
        </a:p>
      </dgm:t>
    </dgm:pt>
    <dgm:pt modelId="{43DB3889-17E5-4803-A2FE-3539ED177338}" type="parTrans" cxnId="{CE9845F9-7FC7-45A6-BB42-62896E89C0D6}">
      <dgm:prSet/>
      <dgm:spPr/>
      <dgm:t>
        <a:bodyPr/>
        <a:lstStyle/>
        <a:p>
          <a:endParaRPr lang="en-US"/>
        </a:p>
      </dgm:t>
    </dgm:pt>
    <dgm:pt modelId="{77CD0E7F-6D33-4AA0-A9BB-473ABF0F8392}" type="sibTrans" cxnId="{CE9845F9-7FC7-45A6-BB42-62896E89C0D6}">
      <dgm:prSet/>
      <dgm:spPr/>
      <dgm:t>
        <a:bodyPr/>
        <a:lstStyle/>
        <a:p>
          <a:endParaRPr lang="en-US"/>
        </a:p>
      </dgm:t>
    </dgm:pt>
    <dgm:pt modelId="{BAB5E2B2-14BD-440E-90FD-5529429E00E5}" type="pres">
      <dgm:prSet presAssocID="{900F2E28-5557-4AD5-9EC0-368D5874967E}" presName="diagram" presStyleCnt="0">
        <dgm:presLayoutVars>
          <dgm:dir/>
          <dgm:resizeHandles val="exact"/>
        </dgm:presLayoutVars>
      </dgm:prSet>
      <dgm:spPr/>
    </dgm:pt>
    <dgm:pt modelId="{C34E9201-C6DD-4657-BC99-363653EA0A29}" type="pres">
      <dgm:prSet presAssocID="{15AB52E1-B9F2-4EFA-8503-660E1145F08D}" presName="node" presStyleLbl="node1" presStyleIdx="0" presStyleCnt="9">
        <dgm:presLayoutVars>
          <dgm:bulletEnabled val="1"/>
        </dgm:presLayoutVars>
      </dgm:prSet>
      <dgm:spPr/>
    </dgm:pt>
    <dgm:pt modelId="{998A4EF1-8B97-406E-A46B-9F39BB8BDA30}" type="pres">
      <dgm:prSet presAssocID="{AF66011E-822B-44A0-A29A-AE0DA6A69949}" presName="sibTrans" presStyleCnt="0"/>
      <dgm:spPr/>
    </dgm:pt>
    <dgm:pt modelId="{48DC5ABE-B73A-4F71-90E1-0FEFCB52739A}" type="pres">
      <dgm:prSet presAssocID="{DA6891AB-C5DA-497D-A2D8-C975FEC4B301}" presName="node" presStyleLbl="node1" presStyleIdx="1" presStyleCnt="9">
        <dgm:presLayoutVars>
          <dgm:bulletEnabled val="1"/>
        </dgm:presLayoutVars>
      </dgm:prSet>
      <dgm:spPr/>
    </dgm:pt>
    <dgm:pt modelId="{468C53D7-07FB-4D0A-876E-2B0EE57A4B90}" type="pres">
      <dgm:prSet presAssocID="{66A6FAB0-2C67-4762-B0A6-ACE237C97887}" presName="sibTrans" presStyleCnt="0"/>
      <dgm:spPr/>
    </dgm:pt>
    <dgm:pt modelId="{7A394428-D7F5-437A-87BE-6D1C72EC4E1C}" type="pres">
      <dgm:prSet presAssocID="{5C88D844-7338-43EE-B07D-DE8BA23F5195}" presName="node" presStyleLbl="node1" presStyleIdx="2" presStyleCnt="9">
        <dgm:presLayoutVars>
          <dgm:bulletEnabled val="1"/>
        </dgm:presLayoutVars>
      </dgm:prSet>
      <dgm:spPr/>
    </dgm:pt>
    <dgm:pt modelId="{D406CF09-373C-485C-84CA-3F9404E01D10}" type="pres">
      <dgm:prSet presAssocID="{5D10F075-BD88-4D5A-92B5-A45F1BC9583F}" presName="sibTrans" presStyleCnt="0"/>
      <dgm:spPr/>
    </dgm:pt>
    <dgm:pt modelId="{D5CDCEBB-67AA-4CB9-969C-DFB7D5C14519}" type="pres">
      <dgm:prSet presAssocID="{2A242290-DC59-440D-98DF-9254BB01E777}" presName="node" presStyleLbl="node1" presStyleIdx="3" presStyleCnt="9">
        <dgm:presLayoutVars>
          <dgm:bulletEnabled val="1"/>
        </dgm:presLayoutVars>
      </dgm:prSet>
      <dgm:spPr/>
    </dgm:pt>
    <dgm:pt modelId="{69082937-6D2D-4E58-849A-B911A99CF69A}" type="pres">
      <dgm:prSet presAssocID="{E68859BF-46F5-4F93-8140-C7C386231EC2}" presName="sibTrans" presStyleCnt="0"/>
      <dgm:spPr/>
    </dgm:pt>
    <dgm:pt modelId="{5BD28592-E632-40B9-B6D4-E92AA409AD2F}" type="pres">
      <dgm:prSet presAssocID="{1729AD62-BEAF-40D1-AB56-FD6336772F76}" presName="node" presStyleLbl="node1" presStyleIdx="4" presStyleCnt="9">
        <dgm:presLayoutVars>
          <dgm:bulletEnabled val="1"/>
        </dgm:presLayoutVars>
      </dgm:prSet>
      <dgm:spPr/>
    </dgm:pt>
    <dgm:pt modelId="{C4A4755F-C9AB-4F9D-8233-A7270DCCBF4B}" type="pres">
      <dgm:prSet presAssocID="{BDA22FE6-9467-4B2C-B99F-57618066E037}" presName="sibTrans" presStyleCnt="0"/>
      <dgm:spPr/>
    </dgm:pt>
    <dgm:pt modelId="{115836DB-F1C3-45B6-B693-23F23068690E}" type="pres">
      <dgm:prSet presAssocID="{EBA06B47-33A3-4EF3-97F1-102087D8AB4C}" presName="node" presStyleLbl="node1" presStyleIdx="5" presStyleCnt="9">
        <dgm:presLayoutVars>
          <dgm:bulletEnabled val="1"/>
        </dgm:presLayoutVars>
      </dgm:prSet>
      <dgm:spPr/>
    </dgm:pt>
    <dgm:pt modelId="{976EA9CC-FB16-4C5E-B321-9B160DEDE879}" type="pres">
      <dgm:prSet presAssocID="{A5AE5AEC-F3AD-45D2-9AC5-D2170695EA5D}" presName="sibTrans" presStyleCnt="0"/>
      <dgm:spPr/>
    </dgm:pt>
    <dgm:pt modelId="{83E7BCFA-BC14-4BC8-9626-444B50942F68}" type="pres">
      <dgm:prSet presAssocID="{5BB273F1-1CBF-4C5A-BE7E-65B24FC554B8}" presName="node" presStyleLbl="node1" presStyleIdx="6" presStyleCnt="9">
        <dgm:presLayoutVars>
          <dgm:bulletEnabled val="1"/>
        </dgm:presLayoutVars>
      </dgm:prSet>
      <dgm:spPr/>
    </dgm:pt>
    <dgm:pt modelId="{0653D139-8B04-49D0-A4ED-181C2711F36E}" type="pres">
      <dgm:prSet presAssocID="{7C9A99B2-B7E2-414B-92BC-D77EB1BBD741}" presName="sibTrans" presStyleCnt="0"/>
      <dgm:spPr/>
    </dgm:pt>
    <dgm:pt modelId="{9D55516B-CBAD-4193-BD98-E8469CE6360F}" type="pres">
      <dgm:prSet presAssocID="{AEC569A6-9188-49E7-BE8D-0EDE402E3EDC}" presName="node" presStyleLbl="node1" presStyleIdx="7" presStyleCnt="9">
        <dgm:presLayoutVars>
          <dgm:bulletEnabled val="1"/>
        </dgm:presLayoutVars>
      </dgm:prSet>
      <dgm:spPr/>
    </dgm:pt>
    <dgm:pt modelId="{2CFA63A6-0E18-43B6-950A-495A4B456799}" type="pres">
      <dgm:prSet presAssocID="{96A6A4CE-8830-4863-A139-B725A11FF1B1}" presName="sibTrans" presStyleCnt="0"/>
      <dgm:spPr/>
    </dgm:pt>
    <dgm:pt modelId="{68993F59-839C-4B38-9A30-EA7974D56397}" type="pres">
      <dgm:prSet presAssocID="{F6EF8771-EF6F-4F23-8BD7-8B747508B7F3}" presName="node" presStyleLbl="node1" presStyleIdx="8" presStyleCnt="9">
        <dgm:presLayoutVars>
          <dgm:bulletEnabled val="1"/>
        </dgm:presLayoutVars>
      </dgm:prSet>
      <dgm:spPr/>
    </dgm:pt>
  </dgm:ptLst>
  <dgm:cxnLst>
    <dgm:cxn modelId="{5AFB1728-C873-43EA-9763-A115F9EB7E73}" srcId="{900F2E28-5557-4AD5-9EC0-368D5874967E}" destId="{EBA06B47-33A3-4EF3-97F1-102087D8AB4C}" srcOrd="5" destOrd="0" parTransId="{946203EA-7B2A-46D2-AC95-2837D30B7E54}" sibTransId="{A5AE5AEC-F3AD-45D2-9AC5-D2170695EA5D}"/>
    <dgm:cxn modelId="{1938D133-EB98-4566-9FA0-E1C8430E4A7B}" type="presOf" srcId="{2A242290-DC59-440D-98DF-9254BB01E777}" destId="{D5CDCEBB-67AA-4CB9-969C-DFB7D5C14519}" srcOrd="0" destOrd="0" presId="urn:microsoft.com/office/officeart/2005/8/layout/default"/>
    <dgm:cxn modelId="{AD7E6439-0545-42FD-B7CF-DB3309E42AAB}" srcId="{900F2E28-5557-4AD5-9EC0-368D5874967E}" destId="{AEC569A6-9188-49E7-BE8D-0EDE402E3EDC}" srcOrd="7" destOrd="0" parTransId="{E39D5EC9-CDAD-4E04-BA7A-47057467A8EB}" sibTransId="{96A6A4CE-8830-4863-A139-B725A11FF1B1}"/>
    <dgm:cxn modelId="{4452FD43-F338-4B9E-8EDE-342A35BE048A}" type="presOf" srcId="{F6EF8771-EF6F-4F23-8BD7-8B747508B7F3}" destId="{68993F59-839C-4B38-9A30-EA7974D56397}" srcOrd="0" destOrd="0" presId="urn:microsoft.com/office/officeart/2005/8/layout/default"/>
    <dgm:cxn modelId="{09E2A166-355C-4518-B729-674A30D38CAE}" srcId="{900F2E28-5557-4AD5-9EC0-368D5874967E}" destId="{5C88D844-7338-43EE-B07D-DE8BA23F5195}" srcOrd="2" destOrd="0" parTransId="{5F89594C-E6D8-4B7A-AB8D-BD56E2431923}" sibTransId="{5D10F075-BD88-4D5A-92B5-A45F1BC9583F}"/>
    <dgm:cxn modelId="{D4D71368-3568-4669-89BF-72C293042078}" type="presOf" srcId="{DA6891AB-C5DA-497D-A2D8-C975FEC4B301}" destId="{48DC5ABE-B73A-4F71-90E1-0FEFCB52739A}" srcOrd="0" destOrd="0" presId="urn:microsoft.com/office/officeart/2005/8/layout/default"/>
    <dgm:cxn modelId="{D8FA0F5A-C8A0-49B8-9A1D-2B557F26CFCC}" type="presOf" srcId="{5C88D844-7338-43EE-B07D-DE8BA23F5195}" destId="{7A394428-D7F5-437A-87BE-6D1C72EC4E1C}" srcOrd="0" destOrd="0" presId="urn:microsoft.com/office/officeart/2005/8/layout/default"/>
    <dgm:cxn modelId="{3BB07683-D2D8-4DBD-A5CF-91950E826202}" type="presOf" srcId="{EBA06B47-33A3-4EF3-97F1-102087D8AB4C}" destId="{115836DB-F1C3-45B6-B693-23F23068690E}" srcOrd="0" destOrd="0" presId="urn:microsoft.com/office/officeart/2005/8/layout/default"/>
    <dgm:cxn modelId="{C78F2789-92B9-4128-9B88-2A61E23447B8}" srcId="{900F2E28-5557-4AD5-9EC0-368D5874967E}" destId="{DA6891AB-C5DA-497D-A2D8-C975FEC4B301}" srcOrd="1" destOrd="0" parTransId="{7ABA63A8-908D-47F3-BCD8-C17D3A98066F}" sibTransId="{66A6FAB0-2C67-4762-B0A6-ACE237C97887}"/>
    <dgm:cxn modelId="{891B3F8D-41BA-494E-96B9-AEE743DB55AA}" srcId="{900F2E28-5557-4AD5-9EC0-368D5874967E}" destId="{5BB273F1-1CBF-4C5A-BE7E-65B24FC554B8}" srcOrd="6" destOrd="0" parTransId="{CE9BD2C8-2C8A-46AF-B32F-A7195EAE1ED7}" sibTransId="{7C9A99B2-B7E2-414B-92BC-D77EB1BBD741}"/>
    <dgm:cxn modelId="{6CB3BB9A-036A-4FCE-820A-A01C76EE9574}" srcId="{900F2E28-5557-4AD5-9EC0-368D5874967E}" destId="{15AB52E1-B9F2-4EFA-8503-660E1145F08D}" srcOrd="0" destOrd="0" parTransId="{0466DF1E-2167-4896-9891-072A479A8F30}" sibTransId="{AF66011E-822B-44A0-A29A-AE0DA6A69949}"/>
    <dgm:cxn modelId="{19D291AD-63B6-40CC-B90D-928D90276B10}" srcId="{900F2E28-5557-4AD5-9EC0-368D5874967E}" destId="{1729AD62-BEAF-40D1-AB56-FD6336772F76}" srcOrd="4" destOrd="0" parTransId="{193A7074-A4A2-4D04-AC77-45335F978937}" sibTransId="{BDA22FE6-9467-4B2C-B99F-57618066E037}"/>
    <dgm:cxn modelId="{7D78D5B2-E1F1-422E-94F1-31B1123DD577}" type="presOf" srcId="{15AB52E1-B9F2-4EFA-8503-660E1145F08D}" destId="{C34E9201-C6DD-4657-BC99-363653EA0A29}" srcOrd="0" destOrd="0" presId="urn:microsoft.com/office/officeart/2005/8/layout/default"/>
    <dgm:cxn modelId="{5645AEBC-A93B-4056-B842-58DF8F4786A8}" srcId="{900F2E28-5557-4AD5-9EC0-368D5874967E}" destId="{2A242290-DC59-440D-98DF-9254BB01E777}" srcOrd="3" destOrd="0" parTransId="{AE886A6B-E1AB-47B6-9932-EF846F3847E0}" sibTransId="{E68859BF-46F5-4F93-8140-C7C386231EC2}"/>
    <dgm:cxn modelId="{0D6632C0-8986-405B-A3DE-8C1D28DA1CDE}" type="presOf" srcId="{1729AD62-BEAF-40D1-AB56-FD6336772F76}" destId="{5BD28592-E632-40B9-B6D4-E92AA409AD2F}" srcOrd="0" destOrd="0" presId="urn:microsoft.com/office/officeart/2005/8/layout/default"/>
    <dgm:cxn modelId="{15FFBFC0-05DC-454C-B6E2-96D17C985581}" type="presOf" srcId="{AEC569A6-9188-49E7-BE8D-0EDE402E3EDC}" destId="{9D55516B-CBAD-4193-BD98-E8469CE6360F}" srcOrd="0" destOrd="0" presId="urn:microsoft.com/office/officeart/2005/8/layout/default"/>
    <dgm:cxn modelId="{CD93C9D1-2BAC-4472-8533-9FA2EDECFFA9}" type="presOf" srcId="{5BB273F1-1CBF-4C5A-BE7E-65B24FC554B8}" destId="{83E7BCFA-BC14-4BC8-9626-444B50942F68}" srcOrd="0" destOrd="0" presId="urn:microsoft.com/office/officeart/2005/8/layout/default"/>
    <dgm:cxn modelId="{37419BD7-B0C0-4C96-A4DC-E97BC8AA6246}" type="presOf" srcId="{900F2E28-5557-4AD5-9EC0-368D5874967E}" destId="{BAB5E2B2-14BD-440E-90FD-5529429E00E5}" srcOrd="0" destOrd="0" presId="urn:microsoft.com/office/officeart/2005/8/layout/default"/>
    <dgm:cxn modelId="{CE9845F9-7FC7-45A6-BB42-62896E89C0D6}" srcId="{900F2E28-5557-4AD5-9EC0-368D5874967E}" destId="{F6EF8771-EF6F-4F23-8BD7-8B747508B7F3}" srcOrd="8" destOrd="0" parTransId="{43DB3889-17E5-4803-A2FE-3539ED177338}" sibTransId="{77CD0E7F-6D33-4AA0-A9BB-473ABF0F8392}"/>
    <dgm:cxn modelId="{983DB586-6F69-4BF9-B453-1D60DB7E92D8}" type="presParOf" srcId="{BAB5E2B2-14BD-440E-90FD-5529429E00E5}" destId="{C34E9201-C6DD-4657-BC99-363653EA0A29}" srcOrd="0" destOrd="0" presId="urn:microsoft.com/office/officeart/2005/8/layout/default"/>
    <dgm:cxn modelId="{B5401376-411A-47EC-B142-C70601DC55AD}" type="presParOf" srcId="{BAB5E2B2-14BD-440E-90FD-5529429E00E5}" destId="{998A4EF1-8B97-406E-A46B-9F39BB8BDA30}" srcOrd="1" destOrd="0" presId="urn:microsoft.com/office/officeart/2005/8/layout/default"/>
    <dgm:cxn modelId="{7DBB8028-1355-4DAD-BB23-A180DA3CB0AC}" type="presParOf" srcId="{BAB5E2B2-14BD-440E-90FD-5529429E00E5}" destId="{48DC5ABE-B73A-4F71-90E1-0FEFCB52739A}" srcOrd="2" destOrd="0" presId="urn:microsoft.com/office/officeart/2005/8/layout/default"/>
    <dgm:cxn modelId="{09714891-D0A5-467A-B900-DDC62E7A02A4}" type="presParOf" srcId="{BAB5E2B2-14BD-440E-90FD-5529429E00E5}" destId="{468C53D7-07FB-4D0A-876E-2B0EE57A4B90}" srcOrd="3" destOrd="0" presId="urn:microsoft.com/office/officeart/2005/8/layout/default"/>
    <dgm:cxn modelId="{A0989109-634C-45D9-9A16-4682F15BF34D}" type="presParOf" srcId="{BAB5E2B2-14BD-440E-90FD-5529429E00E5}" destId="{7A394428-D7F5-437A-87BE-6D1C72EC4E1C}" srcOrd="4" destOrd="0" presId="urn:microsoft.com/office/officeart/2005/8/layout/default"/>
    <dgm:cxn modelId="{72526FE0-89F3-4361-966E-B33194EA4E9F}" type="presParOf" srcId="{BAB5E2B2-14BD-440E-90FD-5529429E00E5}" destId="{D406CF09-373C-485C-84CA-3F9404E01D10}" srcOrd="5" destOrd="0" presId="urn:microsoft.com/office/officeart/2005/8/layout/default"/>
    <dgm:cxn modelId="{60DE2182-EEBE-4B6D-92E8-0AA60C622AFB}" type="presParOf" srcId="{BAB5E2B2-14BD-440E-90FD-5529429E00E5}" destId="{D5CDCEBB-67AA-4CB9-969C-DFB7D5C14519}" srcOrd="6" destOrd="0" presId="urn:microsoft.com/office/officeart/2005/8/layout/default"/>
    <dgm:cxn modelId="{F28D1666-A380-42FF-93E6-33BD675036C5}" type="presParOf" srcId="{BAB5E2B2-14BD-440E-90FD-5529429E00E5}" destId="{69082937-6D2D-4E58-849A-B911A99CF69A}" srcOrd="7" destOrd="0" presId="urn:microsoft.com/office/officeart/2005/8/layout/default"/>
    <dgm:cxn modelId="{934C2681-9C6F-4343-A2A5-DEF1FA07A283}" type="presParOf" srcId="{BAB5E2B2-14BD-440E-90FD-5529429E00E5}" destId="{5BD28592-E632-40B9-B6D4-E92AA409AD2F}" srcOrd="8" destOrd="0" presId="urn:microsoft.com/office/officeart/2005/8/layout/default"/>
    <dgm:cxn modelId="{543B7A84-F962-4451-9CD6-C28EC472B089}" type="presParOf" srcId="{BAB5E2B2-14BD-440E-90FD-5529429E00E5}" destId="{C4A4755F-C9AB-4F9D-8233-A7270DCCBF4B}" srcOrd="9" destOrd="0" presId="urn:microsoft.com/office/officeart/2005/8/layout/default"/>
    <dgm:cxn modelId="{B896EF21-B6B4-4DAE-B23E-DD68BFF127B3}" type="presParOf" srcId="{BAB5E2B2-14BD-440E-90FD-5529429E00E5}" destId="{115836DB-F1C3-45B6-B693-23F23068690E}" srcOrd="10" destOrd="0" presId="urn:microsoft.com/office/officeart/2005/8/layout/default"/>
    <dgm:cxn modelId="{FFA41D09-EAD2-4926-B17D-3CA370B7DCC8}" type="presParOf" srcId="{BAB5E2B2-14BD-440E-90FD-5529429E00E5}" destId="{976EA9CC-FB16-4C5E-B321-9B160DEDE879}" srcOrd="11" destOrd="0" presId="urn:microsoft.com/office/officeart/2005/8/layout/default"/>
    <dgm:cxn modelId="{9EC44E9D-DF27-47D2-9CDE-852F3263BD47}" type="presParOf" srcId="{BAB5E2B2-14BD-440E-90FD-5529429E00E5}" destId="{83E7BCFA-BC14-4BC8-9626-444B50942F68}" srcOrd="12" destOrd="0" presId="urn:microsoft.com/office/officeart/2005/8/layout/default"/>
    <dgm:cxn modelId="{7F164AA2-D21D-4ADA-A26A-20494CF8A02D}" type="presParOf" srcId="{BAB5E2B2-14BD-440E-90FD-5529429E00E5}" destId="{0653D139-8B04-49D0-A4ED-181C2711F36E}" srcOrd="13" destOrd="0" presId="urn:microsoft.com/office/officeart/2005/8/layout/default"/>
    <dgm:cxn modelId="{73136150-A5F8-4957-8A25-AE3EA638370D}" type="presParOf" srcId="{BAB5E2B2-14BD-440E-90FD-5529429E00E5}" destId="{9D55516B-CBAD-4193-BD98-E8469CE6360F}" srcOrd="14" destOrd="0" presId="urn:microsoft.com/office/officeart/2005/8/layout/default"/>
    <dgm:cxn modelId="{98B089B9-3854-400F-9879-BBAC384F14BF}" type="presParOf" srcId="{BAB5E2B2-14BD-440E-90FD-5529429E00E5}" destId="{2CFA63A6-0E18-43B6-950A-495A4B456799}" srcOrd="15" destOrd="0" presId="urn:microsoft.com/office/officeart/2005/8/layout/default"/>
    <dgm:cxn modelId="{A2C8D46B-4DA4-4BBC-8E10-B84B1DFDBCA1}" type="presParOf" srcId="{BAB5E2B2-14BD-440E-90FD-5529429E00E5}" destId="{68993F59-839C-4B38-9A30-EA7974D56397}"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3858CA7-DE83-4602-AEAA-9AB1C9EEC3D6}" type="doc">
      <dgm:prSet loTypeId="urn:microsoft.com/office/officeart/2005/8/layout/hierarchy3" loCatId="hierarchy" qsTypeId="urn:microsoft.com/office/officeart/2005/8/quickstyle/simple1" qsCatId="simple" csTypeId="urn:microsoft.com/office/officeart/2005/8/colors/accent6_2" csCatId="accent6" phldr="1"/>
      <dgm:spPr/>
      <dgm:t>
        <a:bodyPr/>
        <a:lstStyle/>
        <a:p>
          <a:endParaRPr lang="tr-TR"/>
        </a:p>
      </dgm:t>
    </dgm:pt>
    <dgm:pt modelId="{2CE66509-E165-4F87-8054-2F991D861D5C}">
      <dgm:prSet/>
      <dgm:spPr/>
      <dgm:t>
        <a:bodyPr/>
        <a:lstStyle/>
        <a:p>
          <a:r>
            <a:rPr lang="tr-TR" dirty="0"/>
            <a:t>Modelin Eğitim Sonuçları</a:t>
          </a:r>
        </a:p>
      </dgm:t>
    </dgm:pt>
    <dgm:pt modelId="{3A859886-8332-47C0-9C11-3DAC9B29922E}" type="parTrans" cxnId="{3B87551A-78DC-46E3-A93A-9BE819892F5F}">
      <dgm:prSet/>
      <dgm:spPr/>
      <dgm:t>
        <a:bodyPr/>
        <a:lstStyle/>
        <a:p>
          <a:endParaRPr lang="tr-TR"/>
        </a:p>
      </dgm:t>
    </dgm:pt>
    <dgm:pt modelId="{AF99D30E-5BC6-4888-809D-8C87056A5E54}" type="sibTrans" cxnId="{3B87551A-78DC-46E3-A93A-9BE819892F5F}">
      <dgm:prSet/>
      <dgm:spPr/>
      <dgm:t>
        <a:bodyPr/>
        <a:lstStyle/>
        <a:p>
          <a:endParaRPr lang="tr-TR"/>
        </a:p>
      </dgm:t>
    </dgm:pt>
    <dgm:pt modelId="{90E86589-D8DA-4AC4-90BC-C72C1339D7BA}">
      <dgm:prSet/>
      <dgm:spPr/>
      <dgm:t>
        <a:bodyPr/>
        <a:lstStyle/>
        <a:p>
          <a:r>
            <a:rPr lang="tr-TR"/>
            <a:t>Toplam ödüller: 16 ile 72 arasında.</a:t>
          </a:r>
        </a:p>
      </dgm:t>
    </dgm:pt>
    <dgm:pt modelId="{1D50E302-0510-49B6-BFD9-024F1AFC0513}" type="parTrans" cxnId="{0E3A7A82-E83F-43EC-84F3-C9E5DB102AFC}">
      <dgm:prSet/>
      <dgm:spPr/>
      <dgm:t>
        <a:bodyPr/>
        <a:lstStyle/>
        <a:p>
          <a:endParaRPr lang="tr-TR"/>
        </a:p>
      </dgm:t>
    </dgm:pt>
    <dgm:pt modelId="{BEE84213-D9FA-470F-8AE8-BC0717036C04}" type="sibTrans" cxnId="{0E3A7A82-E83F-43EC-84F3-C9E5DB102AFC}">
      <dgm:prSet/>
      <dgm:spPr/>
      <dgm:t>
        <a:bodyPr/>
        <a:lstStyle/>
        <a:p>
          <a:endParaRPr lang="tr-TR"/>
        </a:p>
      </dgm:t>
    </dgm:pt>
    <dgm:pt modelId="{59866D9A-B06B-4B4F-99B1-6BE20835C637}">
      <dgm:prSet/>
      <dgm:spPr/>
      <dgm:t>
        <a:bodyPr/>
        <a:lstStyle/>
        <a:p>
          <a:r>
            <a:rPr lang="tr-TR"/>
            <a:t>100 epizotluk test: Ortalama ödül 67.96, denge süresi 132.98.</a:t>
          </a:r>
        </a:p>
      </dgm:t>
    </dgm:pt>
    <dgm:pt modelId="{ADA86B10-373C-4A4C-8807-314F5EF791BF}" type="parTrans" cxnId="{97485F65-F645-436D-8DBF-3310B005E25A}">
      <dgm:prSet/>
      <dgm:spPr/>
      <dgm:t>
        <a:bodyPr/>
        <a:lstStyle/>
        <a:p>
          <a:endParaRPr lang="tr-TR"/>
        </a:p>
      </dgm:t>
    </dgm:pt>
    <dgm:pt modelId="{B80CD324-1B01-48ED-965B-78CE31B05CDA}" type="sibTrans" cxnId="{97485F65-F645-436D-8DBF-3310B005E25A}">
      <dgm:prSet/>
      <dgm:spPr/>
      <dgm:t>
        <a:bodyPr/>
        <a:lstStyle/>
        <a:p>
          <a:endParaRPr lang="tr-TR"/>
        </a:p>
      </dgm:t>
    </dgm:pt>
    <dgm:pt modelId="{BA97AB9D-80DB-4D6A-B05C-A854E11CB3FC}">
      <dgm:prSet/>
      <dgm:spPr/>
      <dgm:t>
        <a:bodyPr/>
        <a:lstStyle/>
        <a:p>
          <a:r>
            <a:rPr lang="tr-TR"/>
            <a:t>Tek-run sonuçları: Toplam ödül 68, accuracy %67.17.</a:t>
          </a:r>
        </a:p>
      </dgm:t>
    </dgm:pt>
    <dgm:pt modelId="{544A1993-8ED6-4F43-A149-D47880AF5798}" type="parTrans" cxnId="{46271A07-8E70-4B53-B0BD-CF6B80FE2D53}">
      <dgm:prSet/>
      <dgm:spPr/>
      <dgm:t>
        <a:bodyPr/>
        <a:lstStyle/>
        <a:p>
          <a:endParaRPr lang="tr-TR"/>
        </a:p>
      </dgm:t>
    </dgm:pt>
    <dgm:pt modelId="{38D21265-2DAC-48F3-932F-E87D7603A4E0}" type="sibTrans" cxnId="{46271A07-8E70-4B53-B0BD-CF6B80FE2D53}">
      <dgm:prSet/>
      <dgm:spPr/>
      <dgm:t>
        <a:bodyPr/>
        <a:lstStyle/>
        <a:p>
          <a:endParaRPr lang="tr-TR"/>
        </a:p>
      </dgm:t>
    </dgm:pt>
    <dgm:pt modelId="{84CD6518-BEAF-43FB-9513-A39714E25278}">
      <dgm:prSet/>
      <dgm:spPr/>
      <dgm:t>
        <a:bodyPr/>
        <a:lstStyle/>
        <a:p>
          <a:r>
            <a:rPr lang="tr-TR"/>
            <a:t>Dinamik model tahmin hatası: Ortalama hata -0.3578, standart sapma 1.0004.</a:t>
          </a:r>
        </a:p>
      </dgm:t>
    </dgm:pt>
    <dgm:pt modelId="{EC42D557-2E02-4994-B37E-F70158FEDEFB}" type="parTrans" cxnId="{500E2C06-B013-4718-A951-D4B5C3D6DFC8}">
      <dgm:prSet/>
      <dgm:spPr/>
      <dgm:t>
        <a:bodyPr/>
        <a:lstStyle/>
        <a:p>
          <a:endParaRPr lang="tr-TR"/>
        </a:p>
      </dgm:t>
    </dgm:pt>
    <dgm:pt modelId="{AE3FE026-D896-4DA3-9FFE-17F708719A11}" type="sibTrans" cxnId="{500E2C06-B013-4718-A951-D4B5C3D6DFC8}">
      <dgm:prSet/>
      <dgm:spPr/>
      <dgm:t>
        <a:bodyPr/>
        <a:lstStyle/>
        <a:p>
          <a:endParaRPr lang="tr-TR"/>
        </a:p>
      </dgm:t>
    </dgm:pt>
    <dgm:pt modelId="{F4FACCE8-F785-4EC7-85FF-DFE4B2F84CFF}">
      <dgm:prSet/>
      <dgm:spPr/>
      <dgm:t>
        <a:bodyPr/>
        <a:lstStyle/>
        <a:p>
          <a:r>
            <a:rPr lang="tr-TR" dirty="0"/>
            <a:t>Optimizasyon Sonrası Gelişen Performans</a:t>
          </a:r>
        </a:p>
      </dgm:t>
    </dgm:pt>
    <dgm:pt modelId="{17DE1E20-3280-4C2D-91C4-B39AE70ADB87}" type="parTrans" cxnId="{26AA121C-4495-455A-885C-2D0FD845CF75}">
      <dgm:prSet/>
      <dgm:spPr/>
      <dgm:t>
        <a:bodyPr/>
        <a:lstStyle/>
        <a:p>
          <a:endParaRPr lang="tr-TR"/>
        </a:p>
      </dgm:t>
    </dgm:pt>
    <dgm:pt modelId="{BE154759-2C9D-48B0-ABFD-8FE20DEC668A}" type="sibTrans" cxnId="{26AA121C-4495-455A-885C-2D0FD845CF75}">
      <dgm:prSet/>
      <dgm:spPr/>
      <dgm:t>
        <a:bodyPr/>
        <a:lstStyle/>
        <a:p>
          <a:endParaRPr lang="tr-TR"/>
        </a:p>
      </dgm:t>
    </dgm:pt>
    <dgm:pt modelId="{9DE21E47-A18C-41A9-9FBE-FBA65237EC2B}">
      <dgm:prSet/>
      <dgm:spPr/>
      <dgm:t>
        <a:bodyPr/>
        <a:lstStyle/>
        <a:p>
          <a:r>
            <a:rPr lang="tr-TR"/>
            <a:t>Toplam ödüller: 46 ile 140 arasında, yüksek ödüller özellikle 550. epizottan sonra.</a:t>
          </a:r>
        </a:p>
      </dgm:t>
    </dgm:pt>
    <dgm:pt modelId="{B48A0A66-30B5-443A-B1BB-CA66D1B331BE}" type="parTrans" cxnId="{BAE35D93-EDD1-43FC-AFF7-2239B3217B08}">
      <dgm:prSet/>
      <dgm:spPr/>
      <dgm:t>
        <a:bodyPr/>
        <a:lstStyle/>
        <a:p>
          <a:endParaRPr lang="tr-TR"/>
        </a:p>
      </dgm:t>
    </dgm:pt>
    <dgm:pt modelId="{23BF0800-CB28-4F4C-840A-AAE90C091058}" type="sibTrans" cxnId="{BAE35D93-EDD1-43FC-AFF7-2239B3217B08}">
      <dgm:prSet/>
      <dgm:spPr/>
      <dgm:t>
        <a:bodyPr/>
        <a:lstStyle/>
        <a:p>
          <a:endParaRPr lang="tr-TR"/>
        </a:p>
      </dgm:t>
    </dgm:pt>
    <dgm:pt modelId="{98C5C93E-AC50-41E7-864B-013B3E692098}">
      <dgm:prSet/>
      <dgm:spPr/>
      <dgm:t>
        <a:bodyPr/>
        <a:lstStyle/>
        <a:p>
          <a:r>
            <a:rPr lang="tr-TR"/>
            <a:t>100 epizotluk test: Ortalama ödül 134.00, denge süresi 166.00.</a:t>
          </a:r>
        </a:p>
      </dgm:t>
    </dgm:pt>
    <dgm:pt modelId="{DDD6D7B3-9F10-46E8-AFB6-E3D784132B5C}" type="parTrans" cxnId="{16BF6B3D-84D3-4BF6-8771-348A63DFB2E1}">
      <dgm:prSet/>
      <dgm:spPr/>
      <dgm:t>
        <a:bodyPr/>
        <a:lstStyle/>
        <a:p>
          <a:endParaRPr lang="tr-TR"/>
        </a:p>
      </dgm:t>
    </dgm:pt>
    <dgm:pt modelId="{2E289640-2B99-4F79-912D-A2FE12768783}" type="sibTrans" cxnId="{16BF6B3D-84D3-4BF6-8771-348A63DFB2E1}">
      <dgm:prSet/>
      <dgm:spPr/>
      <dgm:t>
        <a:bodyPr/>
        <a:lstStyle/>
        <a:p>
          <a:endParaRPr lang="tr-TR"/>
        </a:p>
      </dgm:t>
    </dgm:pt>
    <dgm:pt modelId="{E39C7DDA-5546-43A0-A20C-6BD5F5B7ED4D}">
      <dgm:prSet/>
      <dgm:spPr/>
      <dgm:t>
        <a:bodyPr/>
        <a:lstStyle/>
        <a:p>
          <a:r>
            <a:rPr lang="tr-TR" dirty="0"/>
            <a:t>Tek-</a:t>
          </a:r>
          <a:r>
            <a:rPr lang="tr-TR" dirty="0" err="1"/>
            <a:t>run</a:t>
          </a:r>
          <a:r>
            <a:rPr lang="tr-TR" dirty="0"/>
            <a:t> sonuçları: Toplam ödül 134.00, doğruluk %83.84.</a:t>
          </a:r>
        </a:p>
      </dgm:t>
    </dgm:pt>
    <dgm:pt modelId="{E2B89CA3-65D8-4BD5-96EB-40C60BDA45C0}" type="parTrans" cxnId="{84020BC2-A14E-4DE7-8754-6688700CDC5C}">
      <dgm:prSet/>
      <dgm:spPr/>
      <dgm:t>
        <a:bodyPr/>
        <a:lstStyle/>
        <a:p>
          <a:endParaRPr lang="tr-TR"/>
        </a:p>
      </dgm:t>
    </dgm:pt>
    <dgm:pt modelId="{6C52B62D-C762-489D-8389-5FA726617334}" type="sibTrans" cxnId="{84020BC2-A14E-4DE7-8754-6688700CDC5C}">
      <dgm:prSet/>
      <dgm:spPr/>
      <dgm:t>
        <a:bodyPr/>
        <a:lstStyle/>
        <a:p>
          <a:endParaRPr lang="tr-TR"/>
        </a:p>
      </dgm:t>
    </dgm:pt>
    <dgm:pt modelId="{AA40C799-75F1-45FB-A21C-B2271C948D3F}">
      <dgm:prSet/>
      <dgm:spPr/>
      <dgm:t>
        <a:bodyPr/>
        <a:lstStyle/>
        <a:p>
          <a:r>
            <a:rPr lang="tr-TR"/>
            <a:t>Dinamik model tahmin hatası: Ortalama hata -0.1922, standart sapma 1.0011.</a:t>
          </a:r>
        </a:p>
      </dgm:t>
    </dgm:pt>
    <dgm:pt modelId="{EBBD1BF9-994C-4314-8995-59920B2D4891}" type="parTrans" cxnId="{6A37FA68-7E4C-4B6D-B963-6D413CAE96A4}">
      <dgm:prSet/>
      <dgm:spPr/>
      <dgm:t>
        <a:bodyPr/>
        <a:lstStyle/>
        <a:p>
          <a:endParaRPr lang="tr-TR"/>
        </a:p>
      </dgm:t>
    </dgm:pt>
    <dgm:pt modelId="{CDDF18D7-5FC1-46FC-B16B-C4832FA4CFDF}" type="sibTrans" cxnId="{6A37FA68-7E4C-4B6D-B963-6D413CAE96A4}">
      <dgm:prSet/>
      <dgm:spPr/>
      <dgm:t>
        <a:bodyPr/>
        <a:lstStyle/>
        <a:p>
          <a:endParaRPr lang="tr-TR"/>
        </a:p>
      </dgm:t>
    </dgm:pt>
    <dgm:pt modelId="{753D1D3C-67D8-43C6-8856-6FCAD3778111}" type="pres">
      <dgm:prSet presAssocID="{53858CA7-DE83-4602-AEAA-9AB1C9EEC3D6}" presName="diagram" presStyleCnt="0">
        <dgm:presLayoutVars>
          <dgm:chPref val="1"/>
          <dgm:dir/>
          <dgm:animOne val="branch"/>
          <dgm:animLvl val="lvl"/>
          <dgm:resizeHandles/>
        </dgm:presLayoutVars>
      </dgm:prSet>
      <dgm:spPr/>
    </dgm:pt>
    <dgm:pt modelId="{2D49D5BB-3EE7-49DA-9DA2-23D20FF0B95B}" type="pres">
      <dgm:prSet presAssocID="{2CE66509-E165-4F87-8054-2F991D861D5C}" presName="root" presStyleCnt="0"/>
      <dgm:spPr/>
    </dgm:pt>
    <dgm:pt modelId="{062BA235-9344-4325-B11E-2F1859A9EA7A}" type="pres">
      <dgm:prSet presAssocID="{2CE66509-E165-4F87-8054-2F991D861D5C}" presName="rootComposite" presStyleCnt="0"/>
      <dgm:spPr/>
    </dgm:pt>
    <dgm:pt modelId="{17B6E353-411F-4E83-A26D-50323F56F561}" type="pres">
      <dgm:prSet presAssocID="{2CE66509-E165-4F87-8054-2F991D861D5C}" presName="rootText" presStyleLbl="node1" presStyleIdx="0" presStyleCnt="2"/>
      <dgm:spPr/>
    </dgm:pt>
    <dgm:pt modelId="{D3D878C0-3160-4775-A45C-348F7E5764D4}" type="pres">
      <dgm:prSet presAssocID="{2CE66509-E165-4F87-8054-2F991D861D5C}" presName="rootConnector" presStyleLbl="node1" presStyleIdx="0" presStyleCnt="2"/>
      <dgm:spPr/>
    </dgm:pt>
    <dgm:pt modelId="{E69C2DDE-731D-4B32-841E-9FA777BCF5DB}" type="pres">
      <dgm:prSet presAssocID="{2CE66509-E165-4F87-8054-2F991D861D5C}" presName="childShape" presStyleCnt="0"/>
      <dgm:spPr/>
    </dgm:pt>
    <dgm:pt modelId="{97386654-6474-4823-847C-DAF63F7D7E9A}" type="pres">
      <dgm:prSet presAssocID="{1D50E302-0510-49B6-BFD9-024F1AFC0513}" presName="Name13" presStyleLbl="parChTrans1D2" presStyleIdx="0" presStyleCnt="8"/>
      <dgm:spPr/>
    </dgm:pt>
    <dgm:pt modelId="{37D3A051-1209-4033-A1D7-18EEB57BC979}" type="pres">
      <dgm:prSet presAssocID="{90E86589-D8DA-4AC4-90BC-C72C1339D7BA}" presName="childText" presStyleLbl="bgAcc1" presStyleIdx="0" presStyleCnt="8">
        <dgm:presLayoutVars>
          <dgm:bulletEnabled val="1"/>
        </dgm:presLayoutVars>
      </dgm:prSet>
      <dgm:spPr/>
    </dgm:pt>
    <dgm:pt modelId="{1C2247EF-43D9-497E-8A9D-B89BE9BC2A8A}" type="pres">
      <dgm:prSet presAssocID="{ADA86B10-373C-4A4C-8807-314F5EF791BF}" presName="Name13" presStyleLbl="parChTrans1D2" presStyleIdx="1" presStyleCnt="8"/>
      <dgm:spPr/>
    </dgm:pt>
    <dgm:pt modelId="{C5460989-5F5F-4A56-A177-A894ED507CB5}" type="pres">
      <dgm:prSet presAssocID="{59866D9A-B06B-4B4F-99B1-6BE20835C637}" presName="childText" presStyleLbl="bgAcc1" presStyleIdx="1" presStyleCnt="8">
        <dgm:presLayoutVars>
          <dgm:bulletEnabled val="1"/>
        </dgm:presLayoutVars>
      </dgm:prSet>
      <dgm:spPr/>
    </dgm:pt>
    <dgm:pt modelId="{2A671FD4-08BE-4A30-B3E7-FA5E02D41AA9}" type="pres">
      <dgm:prSet presAssocID="{544A1993-8ED6-4F43-A149-D47880AF5798}" presName="Name13" presStyleLbl="parChTrans1D2" presStyleIdx="2" presStyleCnt="8"/>
      <dgm:spPr/>
    </dgm:pt>
    <dgm:pt modelId="{F69DE5E7-6410-4B70-9379-36E23C267E57}" type="pres">
      <dgm:prSet presAssocID="{BA97AB9D-80DB-4D6A-B05C-A854E11CB3FC}" presName="childText" presStyleLbl="bgAcc1" presStyleIdx="2" presStyleCnt="8">
        <dgm:presLayoutVars>
          <dgm:bulletEnabled val="1"/>
        </dgm:presLayoutVars>
      </dgm:prSet>
      <dgm:spPr/>
    </dgm:pt>
    <dgm:pt modelId="{E06EA86D-0CE7-479C-B4E7-26FF1941B57D}" type="pres">
      <dgm:prSet presAssocID="{EC42D557-2E02-4994-B37E-F70158FEDEFB}" presName="Name13" presStyleLbl="parChTrans1D2" presStyleIdx="3" presStyleCnt="8"/>
      <dgm:spPr/>
    </dgm:pt>
    <dgm:pt modelId="{E87334C3-611E-4E2B-9DB9-07F3FAB2540D}" type="pres">
      <dgm:prSet presAssocID="{84CD6518-BEAF-43FB-9513-A39714E25278}" presName="childText" presStyleLbl="bgAcc1" presStyleIdx="3" presStyleCnt="8">
        <dgm:presLayoutVars>
          <dgm:bulletEnabled val="1"/>
        </dgm:presLayoutVars>
      </dgm:prSet>
      <dgm:spPr/>
    </dgm:pt>
    <dgm:pt modelId="{D62F4F5B-9ED6-439C-BFDE-FA3249DC3506}" type="pres">
      <dgm:prSet presAssocID="{F4FACCE8-F785-4EC7-85FF-DFE4B2F84CFF}" presName="root" presStyleCnt="0"/>
      <dgm:spPr/>
    </dgm:pt>
    <dgm:pt modelId="{3C2E99EA-6665-4ACF-9609-79822A534D0F}" type="pres">
      <dgm:prSet presAssocID="{F4FACCE8-F785-4EC7-85FF-DFE4B2F84CFF}" presName="rootComposite" presStyleCnt="0"/>
      <dgm:spPr/>
    </dgm:pt>
    <dgm:pt modelId="{3B9A54DD-CD08-430B-92FA-D89886322164}" type="pres">
      <dgm:prSet presAssocID="{F4FACCE8-F785-4EC7-85FF-DFE4B2F84CFF}" presName="rootText" presStyleLbl="node1" presStyleIdx="1" presStyleCnt="2"/>
      <dgm:spPr/>
    </dgm:pt>
    <dgm:pt modelId="{643ACCA7-85A6-4BF7-B450-53F6979D5CF6}" type="pres">
      <dgm:prSet presAssocID="{F4FACCE8-F785-4EC7-85FF-DFE4B2F84CFF}" presName="rootConnector" presStyleLbl="node1" presStyleIdx="1" presStyleCnt="2"/>
      <dgm:spPr/>
    </dgm:pt>
    <dgm:pt modelId="{0DE16ABB-0A26-47B6-A04C-B5DDBD3C36CF}" type="pres">
      <dgm:prSet presAssocID="{F4FACCE8-F785-4EC7-85FF-DFE4B2F84CFF}" presName="childShape" presStyleCnt="0"/>
      <dgm:spPr/>
    </dgm:pt>
    <dgm:pt modelId="{DE611239-83A0-4CE4-8DA6-946340221D09}" type="pres">
      <dgm:prSet presAssocID="{B48A0A66-30B5-443A-B1BB-CA66D1B331BE}" presName="Name13" presStyleLbl="parChTrans1D2" presStyleIdx="4" presStyleCnt="8"/>
      <dgm:spPr/>
    </dgm:pt>
    <dgm:pt modelId="{825055F5-C936-44BC-9DA9-CF73E98A5DB0}" type="pres">
      <dgm:prSet presAssocID="{9DE21E47-A18C-41A9-9FBE-FBA65237EC2B}" presName="childText" presStyleLbl="bgAcc1" presStyleIdx="4" presStyleCnt="8">
        <dgm:presLayoutVars>
          <dgm:bulletEnabled val="1"/>
        </dgm:presLayoutVars>
      </dgm:prSet>
      <dgm:spPr/>
    </dgm:pt>
    <dgm:pt modelId="{AF0366F9-2740-4646-A781-E835749DBA3F}" type="pres">
      <dgm:prSet presAssocID="{DDD6D7B3-9F10-46E8-AFB6-E3D784132B5C}" presName="Name13" presStyleLbl="parChTrans1D2" presStyleIdx="5" presStyleCnt="8"/>
      <dgm:spPr/>
    </dgm:pt>
    <dgm:pt modelId="{7A5F23BD-F8FE-40E5-8947-54085D4F9C9B}" type="pres">
      <dgm:prSet presAssocID="{98C5C93E-AC50-41E7-864B-013B3E692098}" presName="childText" presStyleLbl="bgAcc1" presStyleIdx="5" presStyleCnt="8">
        <dgm:presLayoutVars>
          <dgm:bulletEnabled val="1"/>
        </dgm:presLayoutVars>
      </dgm:prSet>
      <dgm:spPr/>
    </dgm:pt>
    <dgm:pt modelId="{09D4032F-AF18-4D0B-9901-A220744F511B}" type="pres">
      <dgm:prSet presAssocID="{E2B89CA3-65D8-4BD5-96EB-40C60BDA45C0}" presName="Name13" presStyleLbl="parChTrans1D2" presStyleIdx="6" presStyleCnt="8"/>
      <dgm:spPr/>
    </dgm:pt>
    <dgm:pt modelId="{C4082258-CE22-4378-ADF4-2B8447BBDD37}" type="pres">
      <dgm:prSet presAssocID="{E39C7DDA-5546-43A0-A20C-6BD5F5B7ED4D}" presName="childText" presStyleLbl="bgAcc1" presStyleIdx="6" presStyleCnt="8">
        <dgm:presLayoutVars>
          <dgm:bulletEnabled val="1"/>
        </dgm:presLayoutVars>
      </dgm:prSet>
      <dgm:spPr/>
    </dgm:pt>
    <dgm:pt modelId="{901B5629-9A4D-49C6-87D7-A3C8C3543E6E}" type="pres">
      <dgm:prSet presAssocID="{EBBD1BF9-994C-4314-8995-59920B2D4891}" presName="Name13" presStyleLbl="parChTrans1D2" presStyleIdx="7" presStyleCnt="8"/>
      <dgm:spPr/>
    </dgm:pt>
    <dgm:pt modelId="{5562651C-B9CA-4E63-9DB5-85C62DAF90C0}" type="pres">
      <dgm:prSet presAssocID="{AA40C799-75F1-45FB-A21C-B2271C948D3F}" presName="childText" presStyleLbl="bgAcc1" presStyleIdx="7" presStyleCnt="8">
        <dgm:presLayoutVars>
          <dgm:bulletEnabled val="1"/>
        </dgm:presLayoutVars>
      </dgm:prSet>
      <dgm:spPr/>
    </dgm:pt>
  </dgm:ptLst>
  <dgm:cxnLst>
    <dgm:cxn modelId="{500E2C06-B013-4718-A951-D4B5C3D6DFC8}" srcId="{2CE66509-E165-4F87-8054-2F991D861D5C}" destId="{84CD6518-BEAF-43FB-9513-A39714E25278}" srcOrd="3" destOrd="0" parTransId="{EC42D557-2E02-4994-B37E-F70158FEDEFB}" sibTransId="{AE3FE026-D896-4DA3-9FFE-17F708719A11}"/>
    <dgm:cxn modelId="{46271A07-8E70-4B53-B0BD-CF6B80FE2D53}" srcId="{2CE66509-E165-4F87-8054-2F991D861D5C}" destId="{BA97AB9D-80DB-4D6A-B05C-A854E11CB3FC}" srcOrd="2" destOrd="0" parTransId="{544A1993-8ED6-4F43-A149-D47880AF5798}" sibTransId="{38D21265-2DAC-48F3-932F-E87D7603A4E0}"/>
    <dgm:cxn modelId="{1B97FD09-F104-41DF-B659-6C4B0A5F7DA9}" type="presOf" srcId="{84CD6518-BEAF-43FB-9513-A39714E25278}" destId="{E87334C3-611E-4E2B-9DB9-07F3FAB2540D}" srcOrd="0" destOrd="0" presId="urn:microsoft.com/office/officeart/2005/8/layout/hierarchy3"/>
    <dgm:cxn modelId="{3B87551A-78DC-46E3-A93A-9BE819892F5F}" srcId="{53858CA7-DE83-4602-AEAA-9AB1C9EEC3D6}" destId="{2CE66509-E165-4F87-8054-2F991D861D5C}" srcOrd="0" destOrd="0" parTransId="{3A859886-8332-47C0-9C11-3DAC9B29922E}" sibTransId="{AF99D30E-5BC6-4888-809D-8C87056A5E54}"/>
    <dgm:cxn modelId="{26AA121C-4495-455A-885C-2D0FD845CF75}" srcId="{53858CA7-DE83-4602-AEAA-9AB1C9EEC3D6}" destId="{F4FACCE8-F785-4EC7-85FF-DFE4B2F84CFF}" srcOrd="1" destOrd="0" parTransId="{17DE1E20-3280-4C2D-91C4-B39AE70ADB87}" sibTransId="{BE154759-2C9D-48B0-ABFD-8FE20DEC668A}"/>
    <dgm:cxn modelId="{A5967B27-19F1-4A7A-ACF6-E067E7DC67F5}" type="presOf" srcId="{EC42D557-2E02-4994-B37E-F70158FEDEFB}" destId="{E06EA86D-0CE7-479C-B4E7-26FF1941B57D}" srcOrd="0" destOrd="0" presId="urn:microsoft.com/office/officeart/2005/8/layout/hierarchy3"/>
    <dgm:cxn modelId="{16BF6B3D-84D3-4BF6-8771-348A63DFB2E1}" srcId="{F4FACCE8-F785-4EC7-85FF-DFE4B2F84CFF}" destId="{98C5C93E-AC50-41E7-864B-013B3E692098}" srcOrd="1" destOrd="0" parTransId="{DDD6D7B3-9F10-46E8-AFB6-E3D784132B5C}" sibTransId="{2E289640-2B99-4F79-912D-A2FE12768783}"/>
    <dgm:cxn modelId="{A663733E-DE54-45FF-86D6-7D2F9D989501}" type="presOf" srcId="{1D50E302-0510-49B6-BFD9-024F1AFC0513}" destId="{97386654-6474-4823-847C-DAF63F7D7E9A}" srcOrd="0" destOrd="0" presId="urn:microsoft.com/office/officeart/2005/8/layout/hierarchy3"/>
    <dgm:cxn modelId="{A2209641-48EA-4EF3-9F52-A5A8E8258778}" type="presOf" srcId="{2CE66509-E165-4F87-8054-2F991D861D5C}" destId="{D3D878C0-3160-4775-A45C-348F7E5764D4}" srcOrd="1" destOrd="0" presId="urn:microsoft.com/office/officeart/2005/8/layout/hierarchy3"/>
    <dgm:cxn modelId="{97485F65-F645-436D-8DBF-3310B005E25A}" srcId="{2CE66509-E165-4F87-8054-2F991D861D5C}" destId="{59866D9A-B06B-4B4F-99B1-6BE20835C637}" srcOrd="1" destOrd="0" parTransId="{ADA86B10-373C-4A4C-8807-314F5EF791BF}" sibTransId="{B80CD324-1B01-48ED-965B-78CE31B05CDA}"/>
    <dgm:cxn modelId="{6A37FA68-7E4C-4B6D-B963-6D413CAE96A4}" srcId="{F4FACCE8-F785-4EC7-85FF-DFE4B2F84CFF}" destId="{AA40C799-75F1-45FB-A21C-B2271C948D3F}" srcOrd="3" destOrd="0" parTransId="{EBBD1BF9-994C-4314-8995-59920B2D4891}" sibTransId="{CDDF18D7-5FC1-46FC-B16B-C4832FA4CFDF}"/>
    <dgm:cxn modelId="{9F96656D-11A2-402B-B4FA-9B60E347A545}" type="presOf" srcId="{F4FACCE8-F785-4EC7-85FF-DFE4B2F84CFF}" destId="{643ACCA7-85A6-4BF7-B450-53F6979D5CF6}" srcOrd="1" destOrd="0" presId="urn:microsoft.com/office/officeart/2005/8/layout/hierarchy3"/>
    <dgm:cxn modelId="{1765C274-7D42-46A1-9236-A5A82B967C82}" type="presOf" srcId="{2CE66509-E165-4F87-8054-2F991D861D5C}" destId="{17B6E353-411F-4E83-A26D-50323F56F561}" srcOrd="0" destOrd="0" presId="urn:microsoft.com/office/officeart/2005/8/layout/hierarchy3"/>
    <dgm:cxn modelId="{0E3A7A82-E83F-43EC-84F3-C9E5DB102AFC}" srcId="{2CE66509-E165-4F87-8054-2F991D861D5C}" destId="{90E86589-D8DA-4AC4-90BC-C72C1339D7BA}" srcOrd="0" destOrd="0" parTransId="{1D50E302-0510-49B6-BFD9-024F1AFC0513}" sibTransId="{BEE84213-D9FA-470F-8AE8-BC0717036C04}"/>
    <dgm:cxn modelId="{F922A485-31C3-407F-8392-2D2935FAC260}" type="presOf" srcId="{53858CA7-DE83-4602-AEAA-9AB1C9EEC3D6}" destId="{753D1D3C-67D8-43C6-8856-6FCAD3778111}" srcOrd="0" destOrd="0" presId="urn:microsoft.com/office/officeart/2005/8/layout/hierarchy3"/>
    <dgm:cxn modelId="{2515048B-2271-43A6-88ED-A9FBD283565F}" type="presOf" srcId="{E2B89CA3-65D8-4BD5-96EB-40C60BDA45C0}" destId="{09D4032F-AF18-4D0B-9901-A220744F511B}" srcOrd="0" destOrd="0" presId="urn:microsoft.com/office/officeart/2005/8/layout/hierarchy3"/>
    <dgm:cxn modelId="{BAE35D93-EDD1-43FC-AFF7-2239B3217B08}" srcId="{F4FACCE8-F785-4EC7-85FF-DFE4B2F84CFF}" destId="{9DE21E47-A18C-41A9-9FBE-FBA65237EC2B}" srcOrd="0" destOrd="0" parTransId="{B48A0A66-30B5-443A-B1BB-CA66D1B331BE}" sibTransId="{23BF0800-CB28-4F4C-840A-AAE90C091058}"/>
    <dgm:cxn modelId="{509C41A5-0B17-489C-A864-E96AD410F152}" type="presOf" srcId="{ADA86B10-373C-4A4C-8807-314F5EF791BF}" destId="{1C2247EF-43D9-497E-8A9D-B89BE9BC2A8A}" srcOrd="0" destOrd="0" presId="urn:microsoft.com/office/officeart/2005/8/layout/hierarchy3"/>
    <dgm:cxn modelId="{7CDA0BAF-B3E9-4444-B39B-DA262585764F}" type="presOf" srcId="{BA97AB9D-80DB-4D6A-B05C-A854E11CB3FC}" destId="{F69DE5E7-6410-4B70-9379-36E23C267E57}" srcOrd="0" destOrd="0" presId="urn:microsoft.com/office/officeart/2005/8/layout/hierarchy3"/>
    <dgm:cxn modelId="{978D62B2-44CC-4184-9259-E261888EC274}" type="presOf" srcId="{59866D9A-B06B-4B4F-99B1-6BE20835C637}" destId="{C5460989-5F5F-4A56-A177-A894ED507CB5}" srcOrd="0" destOrd="0" presId="urn:microsoft.com/office/officeart/2005/8/layout/hierarchy3"/>
    <dgm:cxn modelId="{8EA28CBD-0D81-438C-9716-9FC828285967}" type="presOf" srcId="{AA40C799-75F1-45FB-A21C-B2271C948D3F}" destId="{5562651C-B9CA-4E63-9DB5-85C62DAF90C0}" srcOrd="0" destOrd="0" presId="urn:microsoft.com/office/officeart/2005/8/layout/hierarchy3"/>
    <dgm:cxn modelId="{84020BC2-A14E-4DE7-8754-6688700CDC5C}" srcId="{F4FACCE8-F785-4EC7-85FF-DFE4B2F84CFF}" destId="{E39C7DDA-5546-43A0-A20C-6BD5F5B7ED4D}" srcOrd="2" destOrd="0" parTransId="{E2B89CA3-65D8-4BD5-96EB-40C60BDA45C0}" sibTransId="{6C52B62D-C762-489D-8389-5FA726617334}"/>
    <dgm:cxn modelId="{BA2B1EC3-5160-4178-9EB2-1C558A3F80B2}" type="presOf" srcId="{544A1993-8ED6-4F43-A149-D47880AF5798}" destId="{2A671FD4-08BE-4A30-B3E7-FA5E02D41AA9}" srcOrd="0" destOrd="0" presId="urn:microsoft.com/office/officeart/2005/8/layout/hierarchy3"/>
    <dgm:cxn modelId="{ED694FC8-A169-415C-A8BA-8DA15EB9B020}" type="presOf" srcId="{90E86589-D8DA-4AC4-90BC-C72C1339D7BA}" destId="{37D3A051-1209-4033-A1D7-18EEB57BC979}" srcOrd="0" destOrd="0" presId="urn:microsoft.com/office/officeart/2005/8/layout/hierarchy3"/>
    <dgm:cxn modelId="{5A5464CA-9963-4C27-972C-442FF1EF41D6}" type="presOf" srcId="{EBBD1BF9-994C-4314-8995-59920B2D4891}" destId="{901B5629-9A4D-49C6-87D7-A3C8C3543E6E}" srcOrd="0" destOrd="0" presId="urn:microsoft.com/office/officeart/2005/8/layout/hierarchy3"/>
    <dgm:cxn modelId="{43ECF7CA-07F2-4917-AC58-0DA29323D3CF}" type="presOf" srcId="{98C5C93E-AC50-41E7-864B-013B3E692098}" destId="{7A5F23BD-F8FE-40E5-8947-54085D4F9C9B}" srcOrd="0" destOrd="0" presId="urn:microsoft.com/office/officeart/2005/8/layout/hierarchy3"/>
    <dgm:cxn modelId="{3B7C4CCE-3CA3-4A96-A778-A8F3A5B7D2AB}" type="presOf" srcId="{B48A0A66-30B5-443A-B1BB-CA66D1B331BE}" destId="{DE611239-83A0-4CE4-8DA6-946340221D09}" srcOrd="0" destOrd="0" presId="urn:microsoft.com/office/officeart/2005/8/layout/hierarchy3"/>
    <dgm:cxn modelId="{70FFF1D6-F9AA-4428-AAA8-80B071C1B2D3}" type="presOf" srcId="{9DE21E47-A18C-41A9-9FBE-FBA65237EC2B}" destId="{825055F5-C936-44BC-9DA9-CF73E98A5DB0}" srcOrd="0" destOrd="0" presId="urn:microsoft.com/office/officeart/2005/8/layout/hierarchy3"/>
    <dgm:cxn modelId="{F6F536EE-E5A7-4F67-8DEA-436E12499AF0}" type="presOf" srcId="{F4FACCE8-F785-4EC7-85FF-DFE4B2F84CFF}" destId="{3B9A54DD-CD08-430B-92FA-D89886322164}" srcOrd="0" destOrd="0" presId="urn:microsoft.com/office/officeart/2005/8/layout/hierarchy3"/>
    <dgm:cxn modelId="{67D4D1EE-2E98-401D-8E5E-496EE70D1514}" type="presOf" srcId="{E39C7DDA-5546-43A0-A20C-6BD5F5B7ED4D}" destId="{C4082258-CE22-4378-ADF4-2B8447BBDD37}" srcOrd="0" destOrd="0" presId="urn:microsoft.com/office/officeart/2005/8/layout/hierarchy3"/>
    <dgm:cxn modelId="{1A8016FA-2820-4193-A15C-270ADCB3B775}" type="presOf" srcId="{DDD6D7B3-9F10-46E8-AFB6-E3D784132B5C}" destId="{AF0366F9-2740-4646-A781-E835749DBA3F}" srcOrd="0" destOrd="0" presId="urn:microsoft.com/office/officeart/2005/8/layout/hierarchy3"/>
    <dgm:cxn modelId="{0207CFB0-FC0D-4C93-9AD1-17EDC49225EB}" type="presParOf" srcId="{753D1D3C-67D8-43C6-8856-6FCAD3778111}" destId="{2D49D5BB-3EE7-49DA-9DA2-23D20FF0B95B}" srcOrd="0" destOrd="0" presId="urn:microsoft.com/office/officeart/2005/8/layout/hierarchy3"/>
    <dgm:cxn modelId="{8F7CEAFA-AC60-4561-A65D-5C3039736D61}" type="presParOf" srcId="{2D49D5BB-3EE7-49DA-9DA2-23D20FF0B95B}" destId="{062BA235-9344-4325-B11E-2F1859A9EA7A}" srcOrd="0" destOrd="0" presId="urn:microsoft.com/office/officeart/2005/8/layout/hierarchy3"/>
    <dgm:cxn modelId="{A226367A-2DDC-4F8C-A777-65BB40677474}" type="presParOf" srcId="{062BA235-9344-4325-B11E-2F1859A9EA7A}" destId="{17B6E353-411F-4E83-A26D-50323F56F561}" srcOrd="0" destOrd="0" presId="urn:microsoft.com/office/officeart/2005/8/layout/hierarchy3"/>
    <dgm:cxn modelId="{BCCC4D6D-F3FD-430A-843D-40EA23A23527}" type="presParOf" srcId="{062BA235-9344-4325-B11E-2F1859A9EA7A}" destId="{D3D878C0-3160-4775-A45C-348F7E5764D4}" srcOrd="1" destOrd="0" presId="urn:microsoft.com/office/officeart/2005/8/layout/hierarchy3"/>
    <dgm:cxn modelId="{28543462-1358-4B47-A790-78407F6BFD50}" type="presParOf" srcId="{2D49D5BB-3EE7-49DA-9DA2-23D20FF0B95B}" destId="{E69C2DDE-731D-4B32-841E-9FA777BCF5DB}" srcOrd="1" destOrd="0" presId="urn:microsoft.com/office/officeart/2005/8/layout/hierarchy3"/>
    <dgm:cxn modelId="{506AE4EA-D4FB-472F-B373-B3D07BD450C8}" type="presParOf" srcId="{E69C2DDE-731D-4B32-841E-9FA777BCF5DB}" destId="{97386654-6474-4823-847C-DAF63F7D7E9A}" srcOrd="0" destOrd="0" presId="urn:microsoft.com/office/officeart/2005/8/layout/hierarchy3"/>
    <dgm:cxn modelId="{274AD2EA-C7C4-4A35-A8FB-A9A649365EC1}" type="presParOf" srcId="{E69C2DDE-731D-4B32-841E-9FA777BCF5DB}" destId="{37D3A051-1209-4033-A1D7-18EEB57BC979}" srcOrd="1" destOrd="0" presId="urn:microsoft.com/office/officeart/2005/8/layout/hierarchy3"/>
    <dgm:cxn modelId="{0DECD0BC-522B-40BF-89E6-4CD0F639C69D}" type="presParOf" srcId="{E69C2DDE-731D-4B32-841E-9FA777BCF5DB}" destId="{1C2247EF-43D9-497E-8A9D-B89BE9BC2A8A}" srcOrd="2" destOrd="0" presId="urn:microsoft.com/office/officeart/2005/8/layout/hierarchy3"/>
    <dgm:cxn modelId="{1F4BDA29-31DD-428B-AD63-096CE34AA625}" type="presParOf" srcId="{E69C2DDE-731D-4B32-841E-9FA777BCF5DB}" destId="{C5460989-5F5F-4A56-A177-A894ED507CB5}" srcOrd="3" destOrd="0" presId="urn:microsoft.com/office/officeart/2005/8/layout/hierarchy3"/>
    <dgm:cxn modelId="{DE3A0225-5557-499C-8047-C6198742CC41}" type="presParOf" srcId="{E69C2DDE-731D-4B32-841E-9FA777BCF5DB}" destId="{2A671FD4-08BE-4A30-B3E7-FA5E02D41AA9}" srcOrd="4" destOrd="0" presId="urn:microsoft.com/office/officeart/2005/8/layout/hierarchy3"/>
    <dgm:cxn modelId="{B41772BF-7F84-4D40-A163-DDD2BB9C282E}" type="presParOf" srcId="{E69C2DDE-731D-4B32-841E-9FA777BCF5DB}" destId="{F69DE5E7-6410-4B70-9379-36E23C267E57}" srcOrd="5" destOrd="0" presId="urn:microsoft.com/office/officeart/2005/8/layout/hierarchy3"/>
    <dgm:cxn modelId="{8F5E2DCE-29C8-476B-AD4B-EA669E9D4A6A}" type="presParOf" srcId="{E69C2DDE-731D-4B32-841E-9FA777BCF5DB}" destId="{E06EA86D-0CE7-479C-B4E7-26FF1941B57D}" srcOrd="6" destOrd="0" presId="urn:microsoft.com/office/officeart/2005/8/layout/hierarchy3"/>
    <dgm:cxn modelId="{309DCEAD-7651-4BBD-AE4F-64FC186F4D90}" type="presParOf" srcId="{E69C2DDE-731D-4B32-841E-9FA777BCF5DB}" destId="{E87334C3-611E-4E2B-9DB9-07F3FAB2540D}" srcOrd="7" destOrd="0" presId="urn:microsoft.com/office/officeart/2005/8/layout/hierarchy3"/>
    <dgm:cxn modelId="{1FDB440B-E1E6-48C2-8A2B-A603AA39C497}" type="presParOf" srcId="{753D1D3C-67D8-43C6-8856-6FCAD3778111}" destId="{D62F4F5B-9ED6-439C-BFDE-FA3249DC3506}" srcOrd="1" destOrd="0" presId="urn:microsoft.com/office/officeart/2005/8/layout/hierarchy3"/>
    <dgm:cxn modelId="{F7B57ECF-138A-4CFF-A6B1-2BDB5E69BF23}" type="presParOf" srcId="{D62F4F5B-9ED6-439C-BFDE-FA3249DC3506}" destId="{3C2E99EA-6665-4ACF-9609-79822A534D0F}" srcOrd="0" destOrd="0" presId="urn:microsoft.com/office/officeart/2005/8/layout/hierarchy3"/>
    <dgm:cxn modelId="{A2B60B7E-3D9F-45D5-9700-CA918F26A0AB}" type="presParOf" srcId="{3C2E99EA-6665-4ACF-9609-79822A534D0F}" destId="{3B9A54DD-CD08-430B-92FA-D89886322164}" srcOrd="0" destOrd="0" presId="urn:microsoft.com/office/officeart/2005/8/layout/hierarchy3"/>
    <dgm:cxn modelId="{DE1A5032-B379-4731-9F56-2A06EB0DB297}" type="presParOf" srcId="{3C2E99EA-6665-4ACF-9609-79822A534D0F}" destId="{643ACCA7-85A6-4BF7-B450-53F6979D5CF6}" srcOrd="1" destOrd="0" presId="urn:microsoft.com/office/officeart/2005/8/layout/hierarchy3"/>
    <dgm:cxn modelId="{6CB76D2D-3165-43F7-A6EA-1BCB7501D5A8}" type="presParOf" srcId="{D62F4F5B-9ED6-439C-BFDE-FA3249DC3506}" destId="{0DE16ABB-0A26-47B6-A04C-B5DDBD3C36CF}" srcOrd="1" destOrd="0" presId="urn:microsoft.com/office/officeart/2005/8/layout/hierarchy3"/>
    <dgm:cxn modelId="{E6679D4B-69F1-406C-8097-B951EA1D5621}" type="presParOf" srcId="{0DE16ABB-0A26-47B6-A04C-B5DDBD3C36CF}" destId="{DE611239-83A0-4CE4-8DA6-946340221D09}" srcOrd="0" destOrd="0" presId="urn:microsoft.com/office/officeart/2005/8/layout/hierarchy3"/>
    <dgm:cxn modelId="{220C03E2-40AD-45B9-8268-0ABF20E9F03A}" type="presParOf" srcId="{0DE16ABB-0A26-47B6-A04C-B5DDBD3C36CF}" destId="{825055F5-C936-44BC-9DA9-CF73E98A5DB0}" srcOrd="1" destOrd="0" presId="urn:microsoft.com/office/officeart/2005/8/layout/hierarchy3"/>
    <dgm:cxn modelId="{1188B40D-2179-4D30-A5F5-87CF6C1CD9F2}" type="presParOf" srcId="{0DE16ABB-0A26-47B6-A04C-B5DDBD3C36CF}" destId="{AF0366F9-2740-4646-A781-E835749DBA3F}" srcOrd="2" destOrd="0" presId="urn:microsoft.com/office/officeart/2005/8/layout/hierarchy3"/>
    <dgm:cxn modelId="{5E4F700F-DF4C-407F-985A-E62805F879FC}" type="presParOf" srcId="{0DE16ABB-0A26-47B6-A04C-B5DDBD3C36CF}" destId="{7A5F23BD-F8FE-40E5-8947-54085D4F9C9B}" srcOrd="3" destOrd="0" presId="urn:microsoft.com/office/officeart/2005/8/layout/hierarchy3"/>
    <dgm:cxn modelId="{EEA4837F-8C55-42E6-9BFF-69B0E0D0A187}" type="presParOf" srcId="{0DE16ABB-0A26-47B6-A04C-B5DDBD3C36CF}" destId="{09D4032F-AF18-4D0B-9901-A220744F511B}" srcOrd="4" destOrd="0" presId="urn:microsoft.com/office/officeart/2005/8/layout/hierarchy3"/>
    <dgm:cxn modelId="{9338A60A-FAB4-4C49-95A0-272D6A89F0A5}" type="presParOf" srcId="{0DE16ABB-0A26-47B6-A04C-B5DDBD3C36CF}" destId="{C4082258-CE22-4378-ADF4-2B8447BBDD37}" srcOrd="5" destOrd="0" presId="urn:microsoft.com/office/officeart/2005/8/layout/hierarchy3"/>
    <dgm:cxn modelId="{51996BCF-4C3B-4833-B69B-DDB57BD11AE1}" type="presParOf" srcId="{0DE16ABB-0A26-47B6-A04C-B5DDBD3C36CF}" destId="{901B5629-9A4D-49C6-87D7-A3C8C3543E6E}" srcOrd="6" destOrd="0" presId="urn:microsoft.com/office/officeart/2005/8/layout/hierarchy3"/>
    <dgm:cxn modelId="{9452CDA3-29BD-4A4D-AE95-0FBD6EC09C05}" type="presParOf" srcId="{0DE16ABB-0A26-47B6-A04C-B5DDBD3C36CF}" destId="{5562651C-B9CA-4E63-9DB5-85C62DAF90C0}" srcOrd="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4A30670-7B07-462D-9892-EE3CD92689B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tr-TR"/>
        </a:p>
      </dgm:t>
    </dgm:pt>
    <dgm:pt modelId="{7AC1A6AF-44BF-4F77-AB6C-7EAD050257C1}">
      <dgm:prSet/>
      <dgm:spPr/>
      <dgm:t>
        <a:bodyPr/>
        <a:lstStyle/>
        <a:p>
          <a:pPr algn="ctr"/>
          <a:r>
            <a:rPr lang="tr-TR" b="1" dirty="0"/>
            <a:t>Test Aşaması</a:t>
          </a:r>
          <a:endParaRPr lang="tr-TR" dirty="0"/>
        </a:p>
      </dgm:t>
    </dgm:pt>
    <dgm:pt modelId="{E68A9FC8-9014-4DFB-989D-E7979BCE4B82}" type="parTrans" cxnId="{9CCDFCAF-6874-4A7E-84EB-3AC1611ACDBF}">
      <dgm:prSet/>
      <dgm:spPr/>
      <dgm:t>
        <a:bodyPr/>
        <a:lstStyle/>
        <a:p>
          <a:pPr algn="just"/>
          <a:endParaRPr lang="tr-TR"/>
        </a:p>
      </dgm:t>
    </dgm:pt>
    <dgm:pt modelId="{CE62709C-49A9-4DFB-9FBE-7DAC41FD9319}" type="sibTrans" cxnId="{9CCDFCAF-6874-4A7E-84EB-3AC1611ACDBF}">
      <dgm:prSet/>
      <dgm:spPr/>
      <dgm:t>
        <a:bodyPr/>
        <a:lstStyle/>
        <a:p>
          <a:pPr algn="just"/>
          <a:endParaRPr lang="tr-TR"/>
        </a:p>
      </dgm:t>
    </dgm:pt>
    <dgm:pt modelId="{421F43A4-5952-4412-BA83-759D6C8C9E5E}">
      <dgm:prSet/>
      <dgm:spPr/>
      <dgm:t>
        <a:bodyPr/>
        <a:lstStyle/>
        <a:p>
          <a:pPr algn="just"/>
          <a:r>
            <a:rPr lang="tr-TR" dirty="0"/>
            <a:t>Modelin doğru ve hatalı karar verdiği örnekler de tek </a:t>
          </a:r>
          <a:r>
            <a:rPr lang="tr-TR" dirty="0" err="1"/>
            <a:t>run</a:t>
          </a:r>
          <a:r>
            <a:rPr lang="tr-TR" dirty="0"/>
            <a:t> baz alınarak raporlanmıştır;</a:t>
          </a:r>
        </a:p>
      </dgm:t>
    </dgm:pt>
    <dgm:pt modelId="{BC8C41E7-ADF6-480C-A35D-C5E28D56A07E}" type="parTrans" cxnId="{FE06C633-7E3C-4717-AA76-421A150F0AA6}">
      <dgm:prSet/>
      <dgm:spPr/>
      <dgm:t>
        <a:bodyPr/>
        <a:lstStyle/>
        <a:p>
          <a:pPr algn="just"/>
          <a:endParaRPr lang="tr-TR"/>
        </a:p>
      </dgm:t>
    </dgm:pt>
    <dgm:pt modelId="{115AF5FE-1910-4B49-8122-034055859785}" type="sibTrans" cxnId="{FE06C633-7E3C-4717-AA76-421A150F0AA6}">
      <dgm:prSet/>
      <dgm:spPr/>
      <dgm:t>
        <a:bodyPr/>
        <a:lstStyle/>
        <a:p>
          <a:pPr algn="just"/>
          <a:endParaRPr lang="tr-TR"/>
        </a:p>
      </dgm:t>
    </dgm:pt>
    <dgm:pt modelId="{DEFEED0A-FBF9-4C75-AC7C-F23C829435EF}">
      <dgm:prSet/>
      <dgm:spPr/>
      <dgm:t>
        <a:bodyPr/>
        <a:lstStyle/>
        <a:p>
          <a:pPr algn="just"/>
          <a:r>
            <a:rPr lang="tr-TR" dirty="0"/>
            <a:t>Pozitif ödül alan ilk 5 satır ID: [2, 37, 158, 48, 9].</a:t>
          </a:r>
        </a:p>
      </dgm:t>
    </dgm:pt>
    <dgm:pt modelId="{8324A5B5-55B1-4266-82D8-6BB94AC3C148}" type="parTrans" cxnId="{5F527C4B-6030-43DD-92AB-8C306AE59DAE}">
      <dgm:prSet/>
      <dgm:spPr/>
      <dgm:t>
        <a:bodyPr/>
        <a:lstStyle/>
        <a:p>
          <a:pPr algn="just"/>
          <a:endParaRPr lang="tr-TR"/>
        </a:p>
      </dgm:t>
    </dgm:pt>
    <dgm:pt modelId="{1DE77521-A1C9-4772-9D75-E15510E9314A}" type="sibTrans" cxnId="{5F527C4B-6030-43DD-92AB-8C306AE59DAE}">
      <dgm:prSet/>
      <dgm:spPr/>
      <dgm:t>
        <a:bodyPr/>
        <a:lstStyle/>
        <a:p>
          <a:pPr algn="just"/>
          <a:endParaRPr lang="tr-TR"/>
        </a:p>
      </dgm:t>
    </dgm:pt>
    <dgm:pt modelId="{2CB62831-3769-466B-803E-717D99FE2D53}">
      <dgm:prSet/>
      <dgm:spPr/>
      <dgm:t>
        <a:bodyPr/>
        <a:lstStyle/>
        <a:p>
          <a:pPr algn="just"/>
          <a:r>
            <a:rPr lang="tr-TR" dirty="0"/>
            <a:t>Negatif veya sıfır ödül alan ilk 5 satır ID: [111, 57, 56, 126, 189].</a:t>
          </a:r>
        </a:p>
      </dgm:t>
    </dgm:pt>
    <dgm:pt modelId="{F8A3C92D-2736-43B5-9892-821EA2B418D6}" type="parTrans" cxnId="{C68D9273-B4BE-41D4-B62C-28B35233245B}">
      <dgm:prSet/>
      <dgm:spPr/>
      <dgm:t>
        <a:bodyPr/>
        <a:lstStyle/>
        <a:p>
          <a:pPr algn="just"/>
          <a:endParaRPr lang="tr-TR"/>
        </a:p>
      </dgm:t>
    </dgm:pt>
    <dgm:pt modelId="{CC816B34-8159-4F4D-9FF2-F1A959F5DD2D}" type="sibTrans" cxnId="{C68D9273-B4BE-41D4-B62C-28B35233245B}">
      <dgm:prSet/>
      <dgm:spPr/>
      <dgm:t>
        <a:bodyPr/>
        <a:lstStyle/>
        <a:p>
          <a:pPr algn="just"/>
          <a:endParaRPr lang="tr-TR"/>
        </a:p>
      </dgm:t>
    </dgm:pt>
    <dgm:pt modelId="{5F0DF1C1-3287-4C88-A529-99EA45F55AED}" type="pres">
      <dgm:prSet presAssocID="{F4A30670-7B07-462D-9892-EE3CD92689B8}" presName="Name0" presStyleCnt="0">
        <dgm:presLayoutVars>
          <dgm:dir/>
          <dgm:animLvl val="lvl"/>
          <dgm:resizeHandles val="exact"/>
        </dgm:presLayoutVars>
      </dgm:prSet>
      <dgm:spPr/>
    </dgm:pt>
    <dgm:pt modelId="{09B965ED-5757-43E6-A31C-ADAB34731D07}" type="pres">
      <dgm:prSet presAssocID="{7AC1A6AF-44BF-4F77-AB6C-7EAD050257C1}" presName="composite" presStyleCnt="0"/>
      <dgm:spPr/>
    </dgm:pt>
    <dgm:pt modelId="{066E2260-D53F-4222-AF8D-2E556AB7510E}" type="pres">
      <dgm:prSet presAssocID="{7AC1A6AF-44BF-4F77-AB6C-7EAD050257C1}" presName="parTx" presStyleLbl="alignNode1" presStyleIdx="0" presStyleCnt="1">
        <dgm:presLayoutVars>
          <dgm:chMax val="0"/>
          <dgm:chPref val="0"/>
          <dgm:bulletEnabled val="1"/>
        </dgm:presLayoutVars>
      </dgm:prSet>
      <dgm:spPr/>
    </dgm:pt>
    <dgm:pt modelId="{20931980-E691-4F30-A695-C8469C89E5EE}" type="pres">
      <dgm:prSet presAssocID="{7AC1A6AF-44BF-4F77-AB6C-7EAD050257C1}" presName="desTx" presStyleLbl="alignAccFollowNode1" presStyleIdx="0" presStyleCnt="1">
        <dgm:presLayoutVars>
          <dgm:bulletEnabled val="1"/>
        </dgm:presLayoutVars>
      </dgm:prSet>
      <dgm:spPr/>
    </dgm:pt>
  </dgm:ptLst>
  <dgm:cxnLst>
    <dgm:cxn modelId="{FE06C633-7E3C-4717-AA76-421A150F0AA6}" srcId="{7AC1A6AF-44BF-4F77-AB6C-7EAD050257C1}" destId="{421F43A4-5952-4412-BA83-759D6C8C9E5E}" srcOrd="0" destOrd="0" parTransId="{BC8C41E7-ADF6-480C-A35D-C5E28D56A07E}" sibTransId="{115AF5FE-1910-4B49-8122-034055859785}"/>
    <dgm:cxn modelId="{0AAE0C45-8EE3-444A-8F90-F0503DCE6EC0}" type="presOf" srcId="{F4A30670-7B07-462D-9892-EE3CD92689B8}" destId="{5F0DF1C1-3287-4C88-A529-99EA45F55AED}" srcOrd="0" destOrd="0" presId="urn:microsoft.com/office/officeart/2005/8/layout/hList1"/>
    <dgm:cxn modelId="{5F527C4B-6030-43DD-92AB-8C306AE59DAE}" srcId="{7AC1A6AF-44BF-4F77-AB6C-7EAD050257C1}" destId="{DEFEED0A-FBF9-4C75-AC7C-F23C829435EF}" srcOrd="1" destOrd="0" parTransId="{8324A5B5-55B1-4266-82D8-6BB94AC3C148}" sibTransId="{1DE77521-A1C9-4772-9D75-E15510E9314A}"/>
    <dgm:cxn modelId="{42007E6E-117E-40A5-AF30-75896EB481D9}" type="presOf" srcId="{421F43A4-5952-4412-BA83-759D6C8C9E5E}" destId="{20931980-E691-4F30-A695-C8469C89E5EE}" srcOrd="0" destOrd="0" presId="urn:microsoft.com/office/officeart/2005/8/layout/hList1"/>
    <dgm:cxn modelId="{49A2C74E-F042-40B5-BE9B-4A52177071D1}" type="presOf" srcId="{7AC1A6AF-44BF-4F77-AB6C-7EAD050257C1}" destId="{066E2260-D53F-4222-AF8D-2E556AB7510E}" srcOrd="0" destOrd="0" presId="urn:microsoft.com/office/officeart/2005/8/layout/hList1"/>
    <dgm:cxn modelId="{C68D9273-B4BE-41D4-B62C-28B35233245B}" srcId="{7AC1A6AF-44BF-4F77-AB6C-7EAD050257C1}" destId="{2CB62831-3769-466B-803E-717D99FE2D53}" srcOrd="2" destOrd="0" parTransId="{F8A3C92D-2736-43B5-9892-821EA2B418D6}" sibTransId="{CC816B34-8159-4F4D-9FF2-F1A959F5DD2D}"/>
    <dgm:cxn modelId="{6F449C74-897A-46E4-85A2-00371184D686}" type="presOf" srcId="{DEFEED0A-FBF9-4C75-AC7C-F23C829435EF}" destId="{20931980-E691-4F30-A695-C8469C89E5EE}" srcOrd="0" destOrd="1" presId="urn:microsoft.com/office/officeart/2005/8/layout/hList1"/>
    <dgm:cxn modelId="{9CCDFCAF-6874-4A7E-84EB-3AC1611ACDBF}" srcId="{F4A30670-7B07-462D-9892-EE3CD92689B8}" destId="{7AC1A6AF-44BF-4F77-AB6C-7EAD050257C1}" srcOrd="0" destOrd="0" parTransId="{E68A9FC8-9014-4DFB-989D-E7979BCE4B82}" sibTransId="{CE62709C-49A9-4DFB-9FBE-7DAC41FD9319}"/>
    <dgm:cxn modelId="{6BFE59E1-D209-4B29-ADE6-3E2CFA5BA98C}" type="presOf" srcId="{2CB62831-3769-466B-803E-717D99FE2D53}" destId="{20931980-E691-4F30-A695-C8469C89E5EE}" srcOrd="0" destOrd="2" presId="urn:microsoft.com/office/officeart/2005/8/layout/hList1"/>
    <dgm:cxn modelId="{06AC76E4-7C7E-4E57-8CA6-7E0AE8146B50}" type="presParOf" srcId="{5F0DF1C1-3287-4C88-A529-99EA45F55AED}" destId="{09B965ED-5757-43E6-A31C-ADAB34731D07}" srcOrd="0" destOrd="0" presId="urn:microsoft.com/office/officeart/2005/8/layout/hList1"/>
    <dgm:cxn modelId="{F1C57018-8C3A-4911-86FF-7B5B3F519608}" type="presParOf" srcId="{09B965ED-5757-43E6-A31C-ADAB34731D07}" destId="{066E2260-D53F-4222-AF8D-2E556AB7510E}" srcOrd="0" destOrd="0" presId="urn:microsoft.com/office/officeart/2005/8/layout/hList1"/>
    <dgm:cxn modelId="{E10A04DC-C903-425C-8753-F452E7F56A2E}" type="presParOf" srcId="{09B965ED-5757-43E6-A31C-ADAB34731D07}" destId="{20931980-E691-4F30-A695-C8469C89E5EE}"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3C8BF7D-B76D-48CC-B42E-23343E7C5FE6}" type="doc">
      <dgm:prSet loTypeId="urn:microsoft.com/office/officeart/2008/layout/VerticalCircleList" loCatId="list" qsTypeId="urn:microsoft.com/office/officeart/2005/8/quickstyle/simple1" qsCatId="simple" csTypeId="urn:microsoft.com/office/officeart/2005/8/colors/accent1_2" csCatId="accent1" phldr="1"/>
      <dgm:spPr/>
      <dgm:t>
        <a:bodyPr/>
        <a:lstStyle/>
        <a:p>
          <a:endParaRPr lang="tr-TR"/>
        </a:p>
      </dgm:t>
    </dgm:pt>
    <dgm:pt modelId="{D6BF442D-9A6D-4224-851E-DFDC02438B67}">
      <dgm:prSet custT="1"/>
      <dgm:spPr/>
      <dgm:t>
        <a:bodyPr/>
        <a:lstStyle/>
        <a:p>
          <a:r>
            <a:rPr lang="tr-TR" sz="1800" b="1" dirty="0"/>
            <a:t>Sınırlılıklar</a:t>
          </a:r>
        </a:p>
      </dgm:t>
    </dgm:pt>
    <dgm:pt modelId="{AB680863-237D-424F-BC96-E6E309B3AE4A}" type="parTrans" cxnId="{003C32C1-7D79-4CDA-9C36-6D6951CC1946}">
      <dgm:prSet/>
      <dgm:spPr/>
      <dgm:t>
        <a:bodyPr/>
        <a:lstStyle/>
        <a:p>
          <a:endParaRPr lang="tr-TR"/>
        </a:p>
      </dgm:t>
    </dgm:pt>
    <dgm:pt modelId="{821B5E20-4612-430C-8A13-2E47636777B9}" type="sibTrans" cxnId="{003C32C1-7D79-4CDA-9C36-6D6951CC1946}">
      <dgm:prSet/>
      <dgm:spPr/>
      <dgm:t>
        <a:bodyPr/>
        <a:lstStyle/>
        <a:p>
          <a:endParaRPr lang="tr-TR"/>
        </a:p>
      </dgm:t>
    </dgm:pt>
    <dgm:pt modelId="{EE890D4D-A134-4499-BCC3-E36C1540CD67}">
      <dgm:prSet custT="1"/>
      <dgm:spPr/>
      <dgm:t>
        <a:bodyPr/>
        <a:lstStyle/>
        <a:p>
          <a:r>
            <a:rPr lang="tr-TR" sz="1800" b="1" dirty="0"/>
            <a:t>Gelecekteki çalışmalar</a:t>
          </a:r>
        </a:p>
      </dgm:t>
    </dgm:pt>
    <dgm:pt modelId="{6251A7F0-7F64-4C67-999A-6136A7A73B2E}" type="parTrans" cxnId="{6CFB2915-BF40-4561-BBAE-A500B83F3C54}">
      <dgm:prSet/>
      <dgm:spPr/>
      <dgm:t>
        <a:bodyPr/>
        <a:lstStyle/>
        <a:p>
          <a:endParaRPr lang="tr-TR"/>
        </a:p>
      </dgm:t>
    </dgm:pt>
    <dgm:pt modelId="{03F7C0A2-3547-4C05-BEF8-50BDEE8A4300}" type="sibTrans" cxnId="{6CFB2915-BF40-4561-BBAE-A500B83F3C54}">
      <dgm:prSet/>
      <dgm:spPr/>
      <dgm:t>
        <a:bodyPr/>
        <a:lstStyle/>
        <a:p>
          <a:endParaRPr lang="tr-TR"/>
        </a:p>
      </dgm:t>
    </dgm:pt>
    <dgm:pt modelId="{8F2EEEC4-6E83-4E0D-9165-5590B8C56E4E}">
      <dgm:prSet/>
      <dgm:spPr/>
      <dgm:t>
        <a:bodyPr/>
        <a:lstStyle/>
        <a:p>
          <a:pPr algn="just"/>
          <a:r>
            <a:rPr lang="tr-TR" dirty="0"/>
            <a:t>Katılımcı sayısı ve yaş aralığı sınırlı; RL modeli sadece belirli senaryolarda test edildi, bu da genellenebilirliği sınırlayabilir. Uç değerler ve bireysel varyasyonlar bazı sonuçların geçerliliğini kısıtlamaktadır.</a:t>
          </a:r>
        </a:p>
      </dgm:t>
    </dgm:pt>
    <dgm:pt modelId="{A48E1CA0-EDF2-4D5D-A3E1-AD228B8ED539}" type="sibTrans" cxnId="{B9AF6C9A-D279-41A9-B728-8934DCCF3290}">
      <dgm:prSet/>
      <dgm:spPr/>
      <dgm:t>
        <a:bodyPr/>
        <a:lstStyle/>
        <a:p>
          <a:endParaRPr lang="tr-TR"/>
        </a:p>
      </dgm:t>
    </dgm:pt>
    <dgm:pt modelId="{4ED19EF5-8A8D-4B2F-A089-EB8032412039}" type="parTrans" cxnId="{B9AF6C9A-D279-41A9-B728-8934DCCF3290}">
      <dgm:prSet/>
      <dgm:spPr/>
      <dgm:t>
        <a:bodyPr/>
        <a:lstStyle/>
        <a:p>
          <a:endParaRPr lang="tr-TR"/>
        </a:p>
      </dgm:t>
    </dgm:pt>
    <dgm:pt modelId="{C992E938-0E75-4883-9F67-B49E4C6F7051}">
      <dgm:prSet/>
      <dgm:spPr/>
      <dgm:t>
        <a:bodyPr/>
        <a:lstStyle/>
        <a:p>
          <a:pPr algn="l"/>
          <a:r>
            <a:rPr lang="tr-TR" dirty="0"/>
            <a:t>Daha geniş yaş ve demografik gruplarda yapılabilir; doz optimizasyonu kişiye özel tedavi stratejileri için geliştirilebilir. RL modeli farklı çevrelerde test edilerek güvenilirliği değerlendirilebilir.</a:t>
          </a:r>
        </a:p>
      </dgm:t>
    </dgm:pt>
    <dgm:pt modelId="{D2DE43C7-9A89-4958-AB67-031470E496ED}" type="parTrans" cxnId="{736043E8-3512-4EC4-B0C6-C98BA21AEE76}">
      <dgm:prSet/>
      <dgm:spPr/>
      <dgm:t>
        <a:bodyPr/>
        <a:lstStyle/>
        <a:p>
          <a:endParaRPr lang="tr-TR"/>
        </a:p>
      </dgm:t>
    </dgm:pt>
    <dgm:pt modelId="{EB0176A1-25B3-498E-A824-98E077058AD4}" type="sibTrans" cxnId="{736043E8-3512-4EC4-B0C6-C98BA21AEE76}">
      <dgm:prSet/>
      <dgm:spPr/>
      <dgm:t>
        <a:bodyPr/>
        <a:lstStyle/>
        <a:p>
          <a:endParaRPr lang="tr-TR"/>
        </a:p>
      </dgm:t>
    </dgm:pt>
    <dgm:pt modelId="{EED3AB49-B6DB-4F55-9495-E1E62C9685B9}" type="pres">
      <dgm:prSet presAssocID="{63C8BF7D-B76D-48CC-B42E-23343E7C5FE6}" presName="Name0" presStyleCnt="0">
        <dgm:presLayoutVars>
          <dgm:dir/>
        </dgm:presLayoutVars>
      </dgm:prSet>
      <dgm:spPr/>
    </dgm:pt>
    <dgm:pt modelId="{E2C01D40-6669-4808-BDD7-72B9FD97E956}" type="pres">
      <dgm:prSet presAssocID="{D6BF442D-9A6D-4224-851E-DFDC02438B67}" presName="withChildren" presStyleCnt="0"/>
      <dgm:spPr/>
    </dgm:pt>
    <dgm:pt modelId="{41560E82-7AD6-4B53-AF06-606086FE3136}" type="pres">
      <dgm:prSet presAssocID="{D6BF442D-9A6D-4224-851E-DFDC02438B67}" presName="bigCircle" presStyleLbl="vennNode1" presStyleIdx="0" presStyleCnt="4"/>
      <dgm:spPr>
        <a:solidFill>
          <a:schemeClr val="accent2">
            <a:lumMod val="40000"/>
            <a:lumOff val="60000"/>
            <a:alpha val="50000"/>
          </a:schemeClr>
        </a:solidFill>
      </dgm:spPr>
    </dgm:pt>
    <dgm:pt modelId="{60F41E04-2E8A-4BA1-A988-86911BE580BE}" type="pres">
      <dgm:prSet presAssocID="{D6BF442D-9A6D-4224-851E-DFDC02438B67}" presName="medCircle" presStyleLbl="vennNode1" presStyleIdx="1" presStyleCnt="4"/>
      <dgm:spPr>
        <a:solidFill>
          <a:schemeClr val="accent2">
            <a:lumMod val="20000"/>
            <a:lumOff val="80000"/>
            <a:alpha val="50000"/>
          </a:schemeClr>
        </a:solidFill>
      </dgm:spPr>
    </dgm:pt>
    <dgm:pt modelId="{FDA263A8-D4AC-41AC-A526-773168E4A294}" type="pres">
      <dgm:prSet presAssocID="{D6BF442D-9A6D-4224-851E-DFDC02438B67}" presName="txLvl1" presStyleLbl="revTx" presStyleIdx="0" presStyleCnt="4" custLinFactNeighborX="10779" custLinFactNeighborY="12812"/>
      <dgm:spPr/>
    </dgm:pt>
    <dgm:pt modelId="{1A635012-3354-4FB0-B40F-698CCCA14CEE}" type="pres">
      <dgm:prSet presAssocID="{D6BF442D-9A6D-4224-851E-DFDC02438B67}" presName="lin" presStyleCnt="0"/>
      <dgm:spPr/>
    </dgm:pt>
    <dgm:pt modelId="{7B4E15E6-0099-4094-886F-C2D651BACF5E}" type="pres">
      <dgm:prSet presAssocID="{8F2EEEC4-6E83-4E0D-9165-5590B8C56E4E}" presName="txLvl2" presStyleLbl="revTx" presStyleIdx="1" presStyleCnt="4" custScaleX="92840" custScaleY="109724" custLinFactNeighborX="-5805" custLinFactNeighborY="1528"/>
      <dgm:spPr/>
    </dgm:pt>
    <dgm:pt modelId="{4B5FBA46-9275-452C-92AC-FA54FEE82451}" type="pres">
      <dgm:prSet presAssocID="{D6BF442D-9A6D-4224-851E-DFDC02438B67}" presName="overlap" presStyleCnt="0"/>
      <dgm:spPr/>
    </dgm:pt>
    <dgm:pt modelId="{90E5B4B3-1BC1-4A97-9AFC-D287268A2FF7}" type="pres">
      <dgm:prSet presAssocID="{EE890D4D-A134-4499-BCC3-E36C1540CD67}" presName="withChildren" presStyleCnt="0"/>
      <dgm:spPr/>
    </dgm:pt>
    <dgm:pt modelId="{1C38A33E-651D-40CD-81CB-F28AEDF2C489}" type="pres">
      <dgm:prSet presAssocID="{EE890D4D-A134-4499-BCC3-E36C1540CD67}" presName="bigCircle" presStyleLbl="vennNode1" presStyleIdx="2" presStyleCnt="4"/>
      <dgm:spPr>
        <a:solidFill>
          <a:schemeClr val="accent2">
            <a:lumMod val="40000"/>
            <a:lumOff val="60000"/>
            <a:alpha val="50000"/>
          </a:schemeClr>
        </a:solidFill>
      </dgm:spPr>
    </dgm:pt>
    <dgm:pt modelId="{CA970F25-27BC-4D03-8CBA-9DBDFCC7E581}" type="pres">
      <dgm:prSet presAssocID="{EE890D4D-A134-4499-BCC3-E36C1540CD67}" presName="medCircle" presStyleLbl="vennNode1" presStyleIdx="3" presStyleCnt="4"/>
      <dgm:spPr>
        <a:solidFill>
          <a:schemeClr val="accent2">
            <a:lumMod val="20000"/>
            <a:lumOff val="80000"/>
            <a:alpha val="50000"/>
          </a:schemeClr>
        </a:solidFill>
      </dgm:spPr>
    </dgm:pt>
    <dgm:pt modelId="{A088C719-E65E-4490-9B5A-3A009CF56054}" type="pres">
      <dgm:prSet presAssocID="{EE890D4D-A134-4499-BCC3-E36C1540CD67}" presName="txLvl1" presStyleLbl="revTx" presStyleIdx="2" presStyleCnt="4" custLinFactNeighborX="1797" custLinFactNeighborY="61770"/>
      <dgm:spPr/>
    </dgm:pt>
    <dgm:pt modelId="{D89CD9FB-AE39-4702-9B1B-F83E7297E298}" type="pres">
      <dgm:prSet presAssocID="{EE890D4D-A134-4499-BCC3-E36C1540CD67}" presName="lin" presStyleCnt="0"/>
      <dgm:spPr/>
    </dgm:pt>
    <dgm:pt modelId="{D1B76ED4-5B32-4447-9D1B-B714CA8D827A}" type="pres">
      <dgm:prSet presAssocID="{C992E938-0E75-4883-9F67-B49E4C6F7051}" presName="txLvl2" presStyleLbl="revTx" presStyleIdx="3" presStyleCnt="4" custLinFactNeighborX="-2994" custLinFactNeighborY="15425"/>
      <dgm:spPr/>
    </dgm:pt>
  </dgm:ptLst>
  <dgm:cxnLst>
    <dgm:cxn modelId="{6CFB2915-BF40-4561-BBAE-A500B83F3C54}" srcId="{63C8BF7D-B76D-48CC-B42E-23343E7C5FE6}" destId="{EE890D4D-A134-4499-BCC3-E36C1540CD67}" srcOrd="1" destOrd="0" parTransId="{6251A7F0-7F64-4C67-999A-6136A7A73B2E}" sibTransId="{03F7C0A2-3547-4C05-BEF8-50BDEE8A4300}"/>
    <dgm:cxn modelId="{04D1BB63-5541-4CB8-89A1-670B3850C019}" type="presOf" srcId="{C992E938-0E75-4883-9F67-B49E4C6F7051}" destId="{D1B76ED4-5B32-4447-9D1B-B714CA8D827A}" srcOrd="0" destOrd="0" presId="urn:microsoft.com/office/officeart/2008/layout/VerticalCircleList"/>
    <dgm:cxn modelId="{B535DA47-6D5C-4F78-8D5F-27139EB091F8}" type="presOf" srcId="{EE890D4D-A134-4499-BCC3-E36C1540CD67}" destId="{A088C719-E65E-4490-9B5A-3A009CF56054}" srcOrd="0" destOrd="0" presId="urn:microsoft.com/office/officeart/2008/layout/VerticalCircleList"/>
    <dgm:cxn modelId="{F2C1DD80-B65E-4CBD-B9E0-80B88185B6CA}" type="presOf" srcId="{8F2EEEC4-6E83-4E0D-9165-5590B8C56E4E}" destId="{7B4E15E6-0099-4094-886F-C2D651BACF5E}" srcOrd="0" destOrd="0" presId="urn:microsoft.com/office/officeart/2008/layout/VerticalCircleList"/>
    <dgm:cxn modelId="{532F8092-37C7-4B18-A96F-8710434884D4}" type="presOf" srcId="{63C8BF7D-B76D-48CC-B42E-23343E7C5FE6}" destId="{EED3AB49-B6DB-4F55-9495-E1E62C9685B9}" srcOrd="0" destOrd="0" presId="urn:microsoft.com/office/officeart/2008/layout/VerticalCircleList"/>
    <dgm:cxn modelId="{B9AF6C9A-D279-41A9-B728-8934DCCF3290}" srcId="{D6BF442D-9A6D-4224-851E-DFDC02438B67}" destId="{8F2EEEC4-6E83-4E0D-9165-5590B8C56E4E}" srcOrd="0" destOrd="0" parTransId="{4ED19EF5-8A8D-4B2F-A089-EB8032412039}" sibTransId="{A48E1CA0-EDF2-4D5D-A3E1-AD228B8ED539}"/>
    <dgm:cxn modelId="{692EC19F-14BA-4F29-9716-6B23FFB0B00F}" type="presOf" srcId="{D6BF442D-9A6D-4224-851E-DFDC02438B67}" destId="{FDA263A8-D4AC-41AC-A526-773168E4A294}" srcOrd="0" destOrd="0" presId="urn:microsoft.com/office/officeart/2008/layout/VerticalCircleList"/>
    <dgm:cxn modelId="{003C32C1-7D79-4CDA-9C36-6D6951CC1946}" srcId="{63C8BF7D-B76D-48CC-B42E-23343E7C5FE6}" destId="{D6BF442D-9A6D-4224-851E-DFDC02438B67}" srcOrd="0" destOrd="0" parTransId="{AB680863-237D-424F-BC96-E6E309B3AE4A}" sibTransId="{821B5E20-4612-430C-8A13-2E47636777B9}"/>
    <dgm:cxn modelId="{736043E8-3512-4EC4-B0C6-C98BA21AEE76}" srcId="{EE890D4D-A134-4499-BCC3-E36C1540CD67}" destId="{C992E938-0E75-4883-9F67-B49E4C6F7051}" srcOrd="0" destOrd="0" parTransId="{D2DE43C7-9A89-4958-AB67-031470E496ED}" sibTransId="{EB0176A1-25B3-498E-A824-98E077058AD4}"/>
    <dgm:cxn modelId="{6C6B42C3-1000-495D-8ABB-D67D7274CF5C}" type="presParOf" srcId="{EED3AB49-B6DB-4F55-9495-E1E62C9685B9}" destId="{E2C01D40-6669-4808-BDD7-72B9FD97E956}" srcOrd="0" destOrd="0" presId="urn:microsoft.com/office/officeart/2008/layout/VerticalCircleList"/>
    <dgm:cxn modelId="{49A72AD9-2284-4832-B82F-92C0BB48C47D}" type="presParOf" srcId="{E2C01D40-6669-4808-BDD7-72B9FD97E956}" destId="{41560E82-7AD6-4B53-AF06-606086FE3136}" srcOrd="0" destOrd="0" presId="urn:microsoft.com/office/officeart/2008/layout/VerticalCircleList"/>
    <dgm:cxn modelId="{EF153D49-A51E-41B0-9B1F-3C7AF6828235}" type="presParOf" srcId="{E2C01D40-6669-4808-BDD7-72B9FD97E956}" destId="{60F41E04-2E8A-4BA1-A988-86911BE580BE}" srcOrd="1" destOrd="0" presId="urn:microsoft.com/office/officeart/2008/layout/VerticalCircleList"/>
    <dgm:cxn modelId="{DB600CB1-2BC1-4D10-98CF-A4A57ECF6112}" type="presParOf" srcId="{E2C01D40-6669-4808-BDD7-72B9FD97E956}" destId="{FDA263A8-D4AC-41AC-A526-773168E4A294}" srcOrd="2" destOrd="0" presId="urn:microsoft.com/office/officeart/2008/layout/VerticalCircleList"/>
    <dgm:cxn modelId="{A5BBC883-4A8C-4C5F-96B1-968528272374}" type="presParOf" srcId="{E2C01D40-6669-4808-BDD7-72B9FD97E956}" destId="{1A635012-3354-4FB0-B40F-698CCCA14CEE}" srcOrd="3" destOrd="0" presId="urn:microsoft.com/office/officeart/2008/layout/VerticalCircleList"/>
    <dgm:cxn modelId="{637F15A8-859D-443C-AF9F-BBFB06EB8A3F}" type="presParOf" srcId="{1A635012-3354-4FB0-B40F-698CCCA14CEE}" destId="{7B4E15E6-0099-4094-886F-C2D651BACF5E}" srcOrd="0" destOrd="0" presId="urn:microsoft.com/office/officeart/2008/layout/VerticalCircleList"/>
    <dgm:cxn modelId="{3A47D66D-C869-4B2E-90DF-6D776E9FB8D5}" type="presParOf" srcId="{EED3AB49-B6DB-4F55-9495-E1E62C9685B9}" destId="{4B5FBA46-9275-452C-92AC-FA54FEE82451}" srcOrd="1" destOrd="0" presId="urn:microsoft.com/office/officeart/2008/layout/VerticalCircleList"/>
    <dgm:cxn modelId="{D9F043CA-BB83-44F4-ABA4-136715B71E1A}" type="presParOf" srcId="{EED3AB49-B6DB-4F55-9495-E1E62C9685B9}" destId="{90E5B4B3-1BC1-4A97-9AFC-D287268A2FF7}" srcOrd="2" destOrd="0" presId="urn:microsoft.com/office/officeart/2008/layout/VerticalCircleList"/>
    <dgm:cxn modelId="{98926DB7-B03F-4315-B03B-361B646EB309}" type="presParOf" srcId="{90E5B4B3-1BC1-4A97-9AFC-D287268A2FF7}" destId="{1C38A33E-651D-40CD-81CB-F28AEDF2C489}" srcOrd="0" destOrd="0" presId="urn:microsoft.com/office/officeart/2008/layout/VerticalCircleList"/>
    <dgm:cxn modelId="{330AA649-59FA-4CAA-B006-13F040A1E3C6}" type="presParOf" srcId="{90E5B4B3-1BC1-4A97-9AFC-D287268A2FF7}" destId="{CA970F25-27BC-4D03-8CBA-9DBDFCC7E581}" srcOrd="1" destOrd="0" presId="urn:microsoft.com/office/officeart/2008/layout/VerticalCircleList"/>
    <dgm:cxn modelId="{9B1F17FA-B60D-4E00-A9A5-D07EB3791BFE}" type="presParOf" srcId="{90E5B4B3-1BC1-4A97-9AFC-D287268A2FF7}" destId="{A088C719-E65E-4490-9B5A-3A009CF56054}" srcOrd="2" destOrd="0" presId="urn:microsoft.com/office/officeart/2008/layout/VerticalCircleList"/>
    <dgm:cxn modelId="{50C6AC96-AEDC-47F6-8FCD-9F35A6BE2AA5}" type="presParOf" srcId="{90E5B4B3-1BC1-4A97-9AFC-D287268A2FF7}" destId="{D89CD9FB-AE39-4702-9B1B-F83E7297E298}" srcOrd="3" destOrd="0" presId="urn:microsoft.com/office/officeart/2008/layout/VerticalCircleList"/>
    <dgm:cxn modelId="{F77A3B3C-CC50-418C-898E-3BCD48808DC1}" type="presParOf" srcId="{D89CD9FB-AE39-4702-9B1B-F83E7297E298}" destId="{D1B76ED4-5B32-4447-9D1B-B714CA8D827A}" srcOrd="0" destOrd="0" presId="urn:microsoft.com/office/officeart/2008/layout/Vertical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7E2EFFC-24CB-41C8-B617-4D63CCF4285C}" type="doc">
      <dgm:prSet loTypeId="urn:microsoft.com/office/officeart/2005/8/layout/vList2" loCatId="list" qsTypeId="urn:microsoft.com/office/officeart/2005/8/quickstyle/simple1" qsCatId="simple" csTypeId="urn:microsoft.com/office/officeart/2005/8/colors/accent2_1" csCatId="accent2"/>
      <dgm:spPr/>
      <dgm:t>
        <a:bodyPr/>
        <a:lstStyle/>
        <a:p>
          <a:endParaRPr lang="tr-TR"/>
        </a:p>
      </dgm:t>
    </dgm:pt>
    <dgm:pt modelId="{C595C0E3-6060-4D75-B964-47A51FCF8D1E}">
      <dgm:prSet/>
      <dgm:spPr/>
      <dgm:t>
        <a:bodyPr/>
        <a:lstStyle/>
        <a:p>
          <a:r>
            <a:rPr lang="tr-TR" b="1" i="0" baseline="0"/>
            <a:t>Hafıza skorlarındaki iyileşme ve doz ilişkisi</a:t>
          </a:r>
          <a:r>
            <a:rPr lang="tr-TR" b="0" i="0" baseline="0"/>
            <a:t>, ilacın etkin olduğunu ve tedavi stratejilerinin optimize edilebileceğini gösteriyor.</a:t>
          </a:r>
          <a:endParaRPr lang="tr-TR"/>
        </a:p>
      </dgm:t>
    </dgm:pt>
    <dgm:pt modelId="{9EC089CC-1F4D-47C1-8337-43B6EBAD8B81}" type="parTrans" cxnId="{4601184A-7F25-4547-A7C0-E63D9F564FEE}">
      <dgm:prSet/>
      <dgm:spPr/>
      <dgm:t>
        <a:bodyPr/>
        <a:lstStyle/>
        <a:p>
          <a:endParaRPr lang="tr-TR"/>
        </a:p>
      </dgm:t>
    </dgm:pt>
    <dgm:pt modelId="{A1BE54AF-9156-484B-A34E-45FF6E1C3BA5}" type="sibTrans" cxnId="{4601184A-7F25-4547-A7C0-E63D9F564FEE}">
      <dgm:prSet/>
      <dgm:spPr/>
      <dgm:t>
        <a:bodyPr/>
        <a:lstStyle/>
        <a:p>
          <a:endParaRPr lang="tr-TR"/>
        </a:p>
      </dgm:t>
    </dgm:pt>
    <dgm:pt modelId="{E20F4844-703D-4F84-BDE2-17BE1938B0D1}">
      <dgm:prSet/>
      <dgm:spPr/>
      <dgm:t>
        <a:bodyPr/>
        <a:lstStyle/>
        <a:p>
          <a:r>
            <a:rPr lang="tr-TR" b="1" i="0" baseline="0"/>
            <a:t>RL modelinin performans artışı</a:t>
          </a:r>
          <a:r>
            <a:rPr lang="tr-TR" b="0" i="0" baseline="0"/>
            <a:t>, algoritmanın çevreyi öğrenme ve etkili bir politika geliştirme yeteneğini doğruluyor, bu da yapay zeka tabanlı modellemelerin karar destek sistemlerinde uygulanabilirliğini destekliyor.</a:t>
          </a:r>
          <a:endParaRPr lang="tr-TR"/>
        </a:p>
      </dgm:t>
    </dgm:pt>
    <dgm:pt modelId="{9B13832D-1F7B-4596-9E8D-26665B14B04A}" type="parTrans" cxnId="{539D4B76-5EC2-4A8C-A9F1-90F69CC3ED70}">
      <dgm:prSet/>
      <dgm:spPr/>
      <dgm:t>
        <a:bodyPr/>
        <a:lstStyle/>
        <a:p>
          <a:endParaRPr lang="tr-TR"/>
        </a:p>
      </dgm:t>
    </dgm:pt>
    <dgm:pt modelId="{C0D1AA9A-E758-4876-B746-1584208D4F7D}" type="sibTrans" cxnId="{539D4B76-5EC2-4A8C-A9F1-90F69CC3ED70}">
      <dgm:prSet/>
      <dgm:spPr/>
      <dgm:t>
        <a:bodyPr/>
        <a:lstStyle/>
        <a:p>
          <a:endParaRPr lang="tr-TR"/>
        </a:p>
      </dgm:t>
    </dgm:pt>
    <dgm:pt modelId="{2ACED812-2CF3-447B-A70C-865A651C8880}">
      <dgm:prSet/>
      <dgm:spPr/>
      <dgm:t>
        <a:bodyPr/>
        <a:lstStyle/>
        <a:p>
          <a:r>
            <a:rPr lang="tr-TR" b="1" i="0" baseline="0"/>
            <a:t>Yaşın minimal etkisi</a:t>
          </a:r>
          <a:r>
            <a:rPr lang="tr-TR" b="0" i="0" baseline="0"/>
            <a:t>, ilacın farklı yaş gruplarında benzer şekilde işlediğini ve doz-yanıt ilişkisinin yaş faktöründen bağımsız öğrenilebileceğini gösteriyor.</a:t>
          </a:r>
          <a:endParaRPr lang="tr-TR"/>
        </a:p>
      </dgm:t>
    </dgm:pt>
    <dgm:pt modelId="{B81BBE0D-215A-4EFB-A362-EAC79632C4A7}" type="parTrans" cxnId="{C6678F7D-FE8A-4F5F-9038-7ECAC1CC7A1B}">
      <dgm:prSet/>
      <dgm:spPr/>
      <dgm:t>
        <a:bodyPr/>
        <a:lstStyle/>
        <a:p>
          <a:endParaRPr lang="tr-TR"/>
        </a:p>
      </dgm:t>
    </dgm:pt>
    <dgm:pt modelId="{DA62775B-30CE-4E2F-98F9-B2D1EC37F82A}" type="sibTrans" cxnId="{C6678F7D-FE8A-4F5F-9038-7ECAC1CC7A1B}">
      <dgm:prSet/>
      <dgm:spPr/>
      <dgm:t>
        <a:bodyPr/>
        <a:lstStyle/>
        <a:p>
          <a:endParaRPr lang="tr-TR"/>
        </a:p>
      </dgm:t>
    </dgm:pt>
    <dgm:pt modelId="{DF008175-0971-43B4-BAA0-EDBD715BF7A8}">
      <dgm:prSet/>
      <dgm:spPr/>
      <dgm:t>
        <a:bodyPr/>
        <a:lstStyle/>
        <a:p>
          <a:r>
            <a:rPr lang="tr-TR" b="1" i="0" baseline="0"/>
            <a:t>Dengeli doz dağılımı ve veri eksiksizliği</a:t>
          </a:r>
          <a:r>
            <a:rPr lang="tr-TR" b="0" i="0" baseline="0"/>
            <a:t>, analizlerin güvenilirliğini artırmış ve sağlam bir temel oluşturmuştur.</a:t>
          </a:r>
          <a:endParaRPr lang="tr-TR"/>
        </a:p>
      </dgm:t>
    </dgm:pt>
    <dgm:pt modelId="{E1EF90D0-0059-4F2D-A798-E7F733A3E809}" type="parTrans" cxnId="{6C340F8C-4784-47F1-8C6E-BC617A689229}">
      <dgm:prSet/>
      <dgm:spPr/>
      <dgm:t>
        <a:bodyPr/>
        <a:lstStyle/>
        <a:p>
          <a:endParaRPr lang="tr-TR"/>
        </a:p>
      </dgm:t>
    </dgm:pt>
    <dgm:pt modelId="{14FAFEB5-B29C-4A77-AA8B-A5F31B1AFDC3}" type="sibTrans" cxnId="{6C340F8C-4784-47F1-8C6E-BC617A689229}">
      <dgm:prSet/>
      <dgm:spPr/>
      <dgm:t>
        <a:bodyPr/>
        <a:lstStyle/>
        <a:p>
          <a:endParaRPr lang="tr-TR"/>
        </a:p>
      </dgm:t>
    </dgm:pt>
    <dgm:pt modelId="{DE868D14-A73F-409D-914A-2B6520CDABE2}" type="pres">
      <dgm:prSet presAssocID="{87E2EFFC-24CB-41C8-B617-4D63CCF4285C}" presName="linear" presStyleCnt="0">
        <dgm:presLayoutVars>
          <dgm:animLvl val="lvl"/>
          <dgm:resizeHandles val="exact"/>
        </dgm:presLayoutVars>
      </dgm:prSet>
      <dgm:spPr/>
    </dgm:pt>
    <dgm:pt modelId="{FD98B9FA-3A52-4B59-AE26-2F2EC8E1A691}" type="pres">
      <dgm:prSet presAssocID="{C595C0E3-6060-4D75-B964-47A51FCF8D1E}" presName="parentText" presStyleLbl="node1" presStyleIdx="0" presStyleCnt="4">
        <dgm:presLayoutVars>
          <dgm:chMax val="0"/>
          <dgm:bulletEnabled val="1"/>
        </dgm:presLayoutVars>
      </dgm:prSet>
      <dgm:spPr/>
    </dgm:pt>
    <dgm:pt modelId="{65CA7026-BEC5-4D5F-A2D6-94F94A6ED2D3}" type="pres">
      <dgm:prSet presAssocID="{A1BE54AF-9156-484B-A34E-45FF6E1C3BA5}" presName="spacer" presStyleCnt="0"/>
      <dgm:spPr/>
    </dgm:pt>
    <dgm:pt modelId="{C039D716-E926-4FCF-8B68-49B6C31EC9B8}" type="pres">
      <dgm:prSet presAssocID="{E20F4844-703D-4F84-BDE2-17BE1938B0D1}" presName="parentText" presStyleLbl="node1" presStyleIdx="1" presStyleCnt="4">
        <dgm:presLayoutVars>
          <dgm:chMax val="0"/>
          <dgm:bulletEnabled val="1"/>
        </dgm:presLayoutVars>
      </dgm:prSet>
      <dgm:spPr/>
    </dgm:pt>
    <dgm:pt modelId="{032DBB17-127D-4347-8F57-7B25DDE96D38}" type="pres">
      <dgm:prSet presAssocID="{C0D1AA9A-E758-4876-B746-1584208D4F7D}" presName="spacer" presStyleCnt="0"/>
      <dgm:spPr/>
    </dgm:pt>
    <dgm:pt modelId="{447E8E37-0698-43AB-805C-F51AE516098F}" type="pres">
      <dgm:prSet presAssocID="{2ACED812-2CF3-447B-A70C-865A651C8880}" presName="parentText" presStyleLbl="node1" presStyleIdx="2" presStyleCnt="4">
        <dgm:presLayoutVars>
          <dgm:chMax val="0"/>
          <dgm:bulletEnabled val="1"/>
        </dgm:presLayoutVars>
      </dgm:prSet>
      <dgm:spPr/>
    </dgm:pt>
    <dgm:pt modelId="{BD2FE9D5-B462-4402-AC45-97C57BFD6708}" type="pres">
      <dgm:prSet presAssocID="{DA62775B-30CE-4E2F-98F9-B2D1EC37F82A}" presName="spacer" presStyleCnt="0"/>
      <dgm:spPr/>
    </dgm:pt>
    <dgm:pt modelId="{F95C2C1F-252B-4B0E-A55C-2A387A7104AD}" type="pres">
      <dgm:prSet presAssocID="{DF008175-0971-43B4-BAA0-EDBD715BF7A8}" presName="parentText" presStyleLbl="node1" presStyleIdx="3" presStyleCnt="4">
        <dgm:presLayoutVars>
          <dgm:chMax val="0"/>
          <dgm:bulletEnabled val="1"/>
        </dgm:presLayoutVars>
      </dgm:prSet>
      <dgm:spPr/>
    </dgm:pt>
  </dgm:ptLst>
  <dgm:cxnLst>
    <dgm:cxn modelId="{13FBA41B-9925-4BB4-8A05-03F40F2F99E0}" type="presOf" srcId="{2ACED812-2CF3-447B-A70C-865A651C8880}" destId="{447E8E37-0698-43AB-805C-F51AE516098F}" srcOrd="0" destOrd="0" presId="urn:microsoft.com/office/officeart/2005/8/layout/vList2"/>
    <dgm:cxn modelId="{C5116226-420D-4FB7-ABAA-EA9A5AEA6629}" type="presOf" srcId="{C595C0E3-6060-4D75-B964-47A51FCF8D1E}" destId="{FD98B9FA-3A52-4B59-AE26-2F2EC8E1A691}" srcOrd="0" destOrd="0" presId="urn:microsoft.com/office/officeart/2005/8/layout/vList2"/>
    <dgm:cxn modelId="{4601184A-7F25-4547-A7C0-E63D9F564FEE}" srcId="{87E2EFFC-24CB-41C8-B617-4D63CCF4285C}" destId="{C595C0E3-6060-4D75-B964-47A51FCF8D1E}" srcOrd="0" destOrd="0" parTransId="{9EC089CC-1F4D-47C1-8337-43B6EBAD8B81}" sibTransId="{A1BE54AF-9156-484B-A34E-45FF6E1C3BA5}"/>
    <dgm:cxn modelId="{539D4B76-5EC2-4A8C-A9F1-90F69CC3ED70}" srcId="{87E2EFFC-24CB-41C8-B617-4D63CCF4285C}" destId="{E20F4844-703D-4F84-BDE2-17BE1938B0D1}" srcOrd="1" destOrd="0" parTransId="{9B13832D-1F7B-4596-9E8D-26665B14B04A}" sibTransId="{C0D1AA9A-E758-4876-B746-1584208D4F7D}"/>
    <dgm:cxn modelId="{41724057-994F-4434-8B6F-7710B90BFB5E}" type="presOf" srcId="{87E2EFFC-24CB-41C8-B617-4D63CCF4285C}" destId="{DE868D14-A73F-409D-914A-2B6520CDABE2}" srcOrd="0" destOrd="0" presId="urn:microsoft.com/office/officeart/2005/8/layout/vList2"/>
    <dgm:cxn modelId="{C6678F7D-FE8A-4F5F-9038-7ECAC1CC7A1B}" srcId="{87E2EFFC-24CB-41C8-B617-4D63CCF4285C}" destId="{2ACED812-2CF3-447B-A70C-865A651C8880}" srcOrd="2" destOrd="0" parTransId="{B81BBE0D-215A-4EFB-A362-EAC79632C4A7}" sibTransId="{DA62775B-30CE-4E2F-98F9-B2D1EC37F82A}"/>
    <dgm:cxn modelId="{6C340F8C-4784-47F1-8C6E-BC617A689229}" srcId="{87E2EFFC-24CB-41C8-B617-4D63CCF4285C}" destId="{DF008175-0971-43B4-BAA0-EDBD715BF7A8}" srcOrd="3" destOrd="0" parTransId="{E1EF90D0-0059-4F2D-A798-E7F733A3E809}" sibTransId="{14FAFEB5-B29C-4A77-AA8B-A5F31B1AFDC3}"/>
    <dgm:cxn modelId="{7CE7AFC7-CAF3-48E4-BA91-BA0A6261C8F1}" type="presOf" srcId="{E20F4844-703D-4F84-BDE2-17BE1938B0D1}" destId="{C039D716-E926-4FCF-8B68-49B6C31EC9B8}" srcOrd="0" destOrd="0" presId="urn:microsoft.com/office/officeart/2005/8/layout/vList2"/>
    <dgm:cxn modelId="{5B20E3FA-936A-4785-A081-C2366BB114E2}" type="presOf" srcId="{DF008175-0971-43B4-BAA0-EDBD715BF7A8}" destId="{F95C2C1F-252B-4B0E-A55C-2A387A7104AD}" srcOrd="0" destOrd="0" presId="urn:microsoft.com/office/officeart/2005/8/layout/vList2"/>
    <dgm:cxn modelId="{28E14ACF-A290-4F94-8293-3C63849C0D94}" type="presParOf" srcId="{DE868D14-A73F-409D-914A-2B6520CDABE2}" destId="{FD98B9FA-3A52-4B59-AE26-2F2EC8E1A691}" srcOrd="0" destOrd="0" presId="urn:microsoft.com/office/officeart/2005/8/layout/vList2"/>
    <dgm:cxn modelId="{95E303CF-0F8A-4AF9-9153-31B0D30EAFC9}" type="presParOf" srcId="{DE868D14-A73F-409D-914A-2B6520CDABE2}" destId="{65CA7026-BEC5-4D5F-A2D6-94F94A6ED2D3}" srcOrd="1" destOrd="0" presId="urn:microsoft.com/office/officeart/2005/8/layout/vList2"/>
    <dgm:cxn modelId="{41AEDFC1-414A-4F98-81A2-8BDA8FD51929}" type="presParOf" srcId="{DE868D14-A73F-409D-914A-2B6520CDABE2}" destId="{C039D716-E926-4FCF-8B68-49B6C31EC9B8}" srcOrd="2" destOrd="0" presId="urn:microsoft.com/office/officeart/2005/8/layout/vList2"/>
    <dgm:cxn modelId="{A622634E-BD53-47B8-A8F5-AD1175D9D9C9}" type="presParOf" srcId="{DE868D14-A73F-409D-914A-2B6520CDABE2}" destId="{032DBB17-127D-4347-8F57-7B25DDE96D38}" srcOrd="3" destOrd="0" presId="urn:microsoft.com/office/officeart/2005/8/layout/vList2"/>
    <dgm:cxn modelId="{4C93252B-FA52-44FE-AF85-24F90FDF60F8}" type="presParOf" srcId="{DE868D14-A73F-409D-914A-2B6520CDABE2}" destId="{447E8E37-0698-43AB-805C-F51AE516098F}" srcOrd="4" destOrd="0" presId="urn:microsoft.com/office/officeart/2005/8/layout/vList2"/>
    <dgm:cxn modelId="{428E97CE-DD91-40FD-8B79-32D7C0C185C3}" type="presParOf" srcId="{DE868D14-A73F-409D-914A-2B6520CDABE2}" destId="{BD2FE9D5-B462-4402-AC45-97C57BFD6708}" srcOrd="5" destOrd="0" presId="urn:microsoft.com/office/officeart/2005/8/layout/vList2"/>
    <dgm:cxn modelId="{06548963-C8CE-40AD-B991-A22B6032F4D0}" type="presParOf" srcId="{DE868D14-A73F-409D-914A-2B6520CDABE2}" destId="{F95C2C1F-252B-4B0E-A55C-2A387A7104AD}" srcOrd="6"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B219B7F-7111-4A0B-ABCB-6FCECA7268AD}" type="doc">
      <dgm:prSet loTypeId="urn:microsoft.com/office/officeart/2005/8/layout/vList2" loCatId="list" qsTypeId="urn:microsoft.com/office/officeart/2005/8/quickstyle/simple1" qsCatId="simple" csTypeId="urn:microsoft.com/office/officeart/2005/8/colors/accent2_2" csCatId="accent2"/>
      <dgm:spPr/>
      <dgm:t>
        <a:bodyPr/>
        <a:lstStyle/>
        <a:p>
          <a:endParaRPr lang="tr-TR"/>
        </a:p>
      </dgm:t>
    </dgm:pt>
    <dgm:pt modelId="{FD5BEE2E-F47C-45BD-9EBA-623B28F43E1B}">
      <dgm:prSet/>
      <dgm:spPr/>
      <dgm:t>
        <a:bodyPr/>
        <a:lstStyle/>
        <a:p>
          <a:pPr algn="just"/>
          <a:r>
            <a:rPr lang="tr-TR" dirty="0"/>
            <a:t>Bu çalışma, ilaç dozlarının hafıza performansını artırdığını ve bireyler arası farklılıkların önemli olduğunu göstermiştir. Yaşın etkisi minimalken, doz-yanıt ilişkisi belirleyicidir. Hafıza skorlarındaki iyileşme tedavinin etkinliğini kanıtlamaktadır. </a:t>
          </a:r>
        </a:p>
      </dgm:t>
    </dgm:pt>
    <dgm:pt modelId="{103E91DC-FEB3-4EB5-A36C-E7AEC4E98821}" type="parTrans" cxnId="{0681556E-CEB3-4D22-A87D-FFF74C9A0C2A}">
      <dgm:prSet/>
      <dgm:spPr/>
      <dgm:t>
        <a:bodyPr/>
        <a:lstStyle/>
        <a:p>
          <a:endParaRPr lang="tr-TR"/>
        </a:p>
      </dgm:t>
    </dgm:pt>
    <dgm:pt modelId="{0EF0CDC7-A8A4-449C-A447-72FA85538449}" type="sibTrans" cxnId="{0681556E-CEB3-4D22-A87D-FFF74C9A0C2A}">
      <dgm:prSet/>
      <dgm:spPr/>
      <dgm:t>
        <a:bodyPr/>
        <a:lstStyle/>
        <a:p>
          <a:endParaRPr lang="tr-TR"/>
        </a:p>
      </dgm:t>
    </dgm:pt>
    <dgm:pt modelId="{B390565A-2245-498F-85E9-5DCD4346A2F7}">
      <dgm:prSet/>
      <dgm:spPr/>
      <dgm:t>
        <a:bodyPr/>
        <a:lstStyle/>
        <a:p>
          <a:pPr algn="just"/>
          <a:r>
            <a:rPr lang="tr-TR" dirty="0"/>
            <a:t>RL modeli, eğitim ve optimizasyon sürecinde performansını artırarak güvenilir kararlar üretebilmiştir. Sonuç olarak, çalışma ilaç etkilerini ve yapay zekâ tabanlı öğrenme süreçlerini başarılı şekilde değerlendirmiştir.</a:t>
          </a:r>
        </a:p>
      </dgm:t>
    </dgm:pt>
    <dgm:pt modelId="{4CE9A420-0B3C-44D4-9E8E-AA205194D6C4}" type="parTrans" cxnId="{760827AA-BAB8-4311-BBE5-5815CD29D310}">
      <dgm:prSet/>
      <dgm:spPr/>
      <dgm:t>
        <a:bodyPr/>
        <a:lstStyle/>
        <a:p>
          <a:endParaRPr lang="tr-TR"/>
        </a:p>
      </dgm:t>
    </dgm:pt>
    <dgm:pt modelId="{F432C1BA-4629-4BF4-A5C2-88DB2B121EBB}" type="sibTrans" cxnId="{760827AA-BAB8-4311-BBE5-5815CD29D310}">
      <dgm:prSet/>
      <dgm:spPr/>
      <dgm:t>
        <a:bodyPr/>
        <a:lstStyle/>
        <a:p>
          <a:endParaRPr lang="tr-TR"/>
        </a:p>
      </dgm:t>
    </dgm:pt>
    <dgm:pt modelId="{4121EB4B-2623-41A9-8DD7-F4F82176D57E}" type="pres">
      <dgm:prSet presAssocID="{9B219B7F-7111-4A0B-ABCB-6FCECA7268AD}" presName="linear" presStyleCnt="0">
        <dgm:presLayoutVars>
          <dgm:animLvl val="lvl"/>
          <dgm:resizeHandles val="exact"/>
        </dgm:presLayoutVars>
      </dgm:prSet>
      <dgm:spPr/>
    </dgm:pt>
    <dgm:pt modelId="{C0B2888E-5BCD-4C5F-A8B2-A2A75C3601F8}" type="pres">
      <dgm:prSet presAssocID="{FD5BEE2E-F47C-45BD-9EBA-623B28F43E1B}" presName="parentText" presStyleLbl="node1" presStyleIdx="0" presStyleCnt="2">
        <dgm:presLayoutVars>
          <dgm:chMax val="0"/>
          <dgm:bulletEnabled val="1"/>
        </dgm:presLayoutVars>
      </dgm:prSet>
      <dgm:spPr/>
    </dgm:pt>
    <dgm:pt modelId="{008DA88E-8C62-4207-ACAF-4B642352C867}" type="pres">
      <dgm:prSet presAssocID="{0EF0CDC7-A8A4-449C-A447-72FA85538449}" presName="spacer" presStyleCnt="0"/>
      <dgm:spPr/>
    </dgm:pt>
    <dgm:pt modelId="{10B133C3-938A-4680-BC49-B36241E83AC6}" type="pres">
      <dgm:prSet presAssocID="{B390565A-2245-498F-85E9-5DCD4346A2F7}" presName="parentText" presStyleLbl="node1" presStyleIdx="1" presStyleCnt="2">
        <dgm:presLayoutVars>
          <dgm:chMax val="0"/>
          <dgm:bulletEnabled val="1"/>
        </dgm:presLayoutVars>
      </dgm:prSet>
      <dgm:spPr/>
    </dgm:pt>
  </dgm:ptLst>
  <dgm:cxnLst>
    <dgm:cxn modelId="{52CF220B-B80A-4F1B-823C-E3E33E9F93B6}" type="presOf" srcId="{B390565A-2245-498F-85E9-5DCD4346A2F7}" destId="{10B133C3-938A-4680-BC49-B36241E83AC6}" srcOrd="0" destOrd="0" presId="urn:microsoft.com/office/officeart/2005/8/layout/vList2"/>
    <dgm:cxn modelId="{AC5ECD12-384F-4180-93E2-8CDCE5C8A6E4}" type="presOf" srcId="{FD5BEE2E-F47C-45BD-9EBA-623B28F43E1B}" destId="{C0B2888E-5BCD-4C5F-A8B2-A2A75C3601F8}" srcOrd="0" destOrd="0" presId="urn:microsoft.com/office/officeart/2005/8/layout/vList2"/>
    <dgm:cxn modelId="{0681556E-CEB3-4D22-A87D-FFF74C9A0C2A}" srcId="{9B219B7F-7111-4A0B-ABCB-6FCECA7268AD}" destId="{FD5BEE2E-F47C-45BD-9EBA-623B28F43E1B}" srcOrd="0" destOrd="0" parTransId="{103E91DC-FEB3-4EB5-A36C-E7AEC4E98821}" sibTransId="{0EF0CDC7-A8A4-449C-A447-72FA85538449}"/>
    <dgm:cxn modelId="{2F629378-C5F3-4888-B0A9-3153F5DAEC63}" type="presOf" srcId="{9B219B7F-7111-4A0B-ABCB-6FCECA7268AD}" destId="{4121EB4B-2623-41A9-8DD7-F4F82176D57E}" srcOrd="0" destOrd="0" presId="urn:microsoft.com/office/officeart/2005/8/layout/vList2"/>
    <dgm:cxn modelId="{760827AA-BAB8-4311-BBE5-5815CD29D310}" srcId="{9B219B7F-7111-4A0B-ABCB-6FCECA7268AD}" destId="{B390565A-2245-498F-85E9-5DCD4346A2F7}" srcOrd="1" destOrd="0" parTransId="{4CE9A420-0B3C-44D4-9E8E-AA205194D6C4}" sibTransId="{F432C1BA-4629-4BF4-A5C2-88DB2B121EBB}"/>
    <dgm:cxn modelId="{524EED56-5CC0-4797-9F2C-A712A92A7BCB}" type="presParOf" srcId="{4121EB4B-2623-41A9-8DD7-F4F82176D57E}" destId="{C0B2888E-5BCD-4C5F-A8B2-A2A75C3601F8}" srcOrd="0" destOrd="0" presId="urn:microsoft.com/office/officeart/2005/8/layout/vList2"/>
    <dgm:cxn modelId="{5F13957E-E95D-4D49-B1AF-295FB8AC608A}" type="presParOf" srcId="{4121EB4B-2623-41A9-8DD7-F4F82176D57E}" destId="{008DA88E-8C62-4207-ACAF-4B642352C867}" srcOrd="1" destOrd="0" presId="urn:microsoft.com/office/officeart/2005/8/layout/vList2"/>
    <dgm:cxn modelId="{F34AA22A-002C-4440-B3C6-13D87F3BEAA5}" type="presParOf" srcId="{4121EB4B-2623-41A9-8DD7-F4F82176D57E}" destId="{10B133C3-938A-4680-BC49-B36241E83AC6}"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DDB296-AD1F-46D5-814D-641886FCC180}">
      <dsp:nvSpPr>
        <dsp:cNvPr id="0" name=""/>
        <dsp:cNvSpPr/>
      </dsp:nvSpPr>
      <dsp:spPr>
        <a:xfrm>
          <a:off x="1679089" y="0"/>
          <a:ext cx="9471723" cy="1428749"/>
        </a:xfrm>
        <a:prstGeom prst="rightArrow">
          <a:avLst>
            <a:gd name="adj1" fmla="val 75000"/>
            <a:gd name="adj2" fmla="val 50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just" defTabSz="711200">
            <a:lnSpc>
              <a:spcPct val="90000"/>
            </a:lnSpc>
            <a:spcBef>
              <a:spcPct val="0"/>
            </a:spcBef>
            <a:spcAft>
              <a:spcPct val="15000"/>
            </a:spcAft>
            <a:buFont typeface="Arial" panose="020B0604020202020204" pitchFamily="34" charset="0"/>
            <a:buNone/>
          </a:pPr>
          <a:r>
            <a:rPr lang="tr-TR" sz="1600" kern="1200" dirty="0"/>
            <a:t>   </a:t>
          </a:r>
        </a:p>
        <a:p>
          <a:pPr marL="171450" lvl="1" indent="-171450" algn="just" defTabSz="711200">
            <a:lnSpc>
              <a:spcPct val="90000"/>
            </a:lnSpc>
            <a:spcBef>
              <a:spcPct val="0"/>
            </a:spcBef>
            <a:spcAft>
              <a:spcPct val="15000"/>
            </a:spcAft>
            <a:buFont typeface="Arial" panose="020B0604020202020204" pitchFamily="34" charset="0"/>
            <a:buNone/>
          </a:pPr>
          <a:r>
            <a:rPr lang="tr-TR" sz="1600" kern="1200" dirty="0"/>
            <a:t>    Veri seti Python’a aktarılmış, satır–sütun sayısı, ilk satırlar, veri tipleri ve tanımlayıcı istatistikler incelenmiştir. Eksik değerler ve düşük çeşitlilikteki kategoriler kontrol edilmiş, sayısal değişkenlerde uç değerler IQR yöntemiyle belirlenmiştir.</a:t>
          </a:r>
        </a:p>
      </dsp:txBody>
      <dsp:txXfrm>
        <a:off x="1679089" y="178594"/>
        <a:ext cx="8935942" cy="1071561"/>
      </dsp:txXfrm>
    </dsp:sp>
    <dsp:sp modelId="{CEE55308-1699-4C1C-99CF-3242D6FE7F41}">
      <dsp:nvSpPr>
        <dsp:cNvPr id="0" name=""/>
        <dsp:cNvSpPr/>
      </dsp:nvSpPr>
      <dsp:spPr>
        <a:xfrm>
          <a:off x="4867" y="0"/>
          <a:ext cx="1674221" cy="142874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tr-TR" sz="1400" kern="1200" dirty="0"/>
            <a:t>KEŞİFSEL VERİ ANALİZİ (EDA)</a:t>
          </a:r>
        </a:p>
      </dsp:txBody>
      <dsp:txXfrm>
        <a:off x="74613" y="69746"/>
        <a:ext cx="1534729" cy="1289257"/>
      </dsp:txXfrm>
    </dsp:sp>
    <dsp:sp modelId="{B220FA0F-F748-4139-8A53-A939330EA67B}">
      <dsp:nvSpPr>
        <dsp:cNvPr id="0" name=""/>
        <dsp:cNvSpPr/>
      </dsp:nvSpPr>
      <dsp:spPr>
        <a:xfrm>
          <a:off x="1693171" y="1571625"/>
          <a:ext cx="9460826" cy="1428749"/>
        </a:xfrm>
        <a:prstGeom prst="rightArrow">
          <a:avLst>
            <a:gd name="adj1" fmla="val 75000"/>
            <a:gd name="adj2" fmla="val 50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just" defTabSz="711200">
            <a:lnSpc>
              <a:spcPct val="90000"/>
            </a:lnSpc>
            <a:spcBef>
              <a:spcPct val="0"/>
            </a:spcBef>
            <a:spcAft>
              <a:spcPct val="15000"/>
            </a:spcAft>
            <a:buNone/>
          </a:pPr>
          <a:r>
            <a:rPr lang="tr-TR" sz="1600" kern="1200" dirty="0"/>
            <a:t>    </a:t>
          </a:r>
        </a:p>
        <a:p>
          <a:pPr marL="171450" lvl="1" indent="-171450" algn="just" defTabSz="711200">
            <a:lnSpc>
              <a:spcPct val="90000"/>
            </a:lnSpc>
            <a:spcBef>
              <a:spcPct val="0"/>
            </a:spcBef>
            <a:spcAft>
              <a:spcPct val="15000"/>
            </a:spcAft>
            <a:buNone/>
          </a:pPr>
          <a:r>
            <a:rPr lang="tr-TR" sz="1600" kern="1200" dirty="0"/>
            <a:t>    Veri setindeki sayısal değişkenler arasındaki ilişkiler korelasyon matrisi ile incelenmiş, pozitif ve negatif ilişkiler gözlemlenmiştir. Ayrıca histogram ve </a:t>
          </a:r>
          <a:r>
            <a:rPr lang="tr-TR" sz="1600" kern="1200" dirty="0" err="1"/>
            <a:t>boxplotlar</a:t>
          </a:r>
          <a:r>
            <a:rPr lang="tr-TR" sz="1600" kern="1200" dirty="0"/>
            <a:t> ile değişkenlerin dağılımı ve olası uç değerler görselleştirilmiştir.</a:t>
          </a:r>
        </a:p>
      </dsp:txBody>
      <dsp:txXfrm>
        <a:off x="1693171" y="1750219"/>
        <a:ext cx="8925045" cy="1071561"/>
      </dsp:txXfrm>
    </dsp:sp>
    <dsp:sp modelId="{99C0CC3D-879B-4810-804D-C34BBF9589C4}">
      <dsp:nvSpPr>
        <dsp:cNvPr id="0" name=""/>
        <dsp:cNvSpPr/>
      </dsp:nvSpPr>
      <dsp:spPr>
        <a:xfrm>
          <a:off x="1682" y="1571625"/>
          <a:ext cx="1691489" cy="1428749"/>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tr-TR" sz="1400" kern="1200" dirty="0"/>
            <a:t>VERİ GÖRSELLEŞTİRME</a:t>
          </a:r>
        </a:p>
      </dsp:txBody>
      <dsp:txXfrm>
        <a:off x="71428" y="1641371"/>
        <a:ext cx="1551997" cy="1289257"/>
      </dsp:txXfrm>
    </dsp:sp>
    <dsp:sp modelId="{2E2D618F-E104-42A5-A482-FB3A27F1B4C0}">
      <dsp:nvSpPr>
        <dsp:cNvPr id="0" name=""/>
        <dsp:cNvSpPr/>
      </dsp:nvSpPr>
      <dsp:spPr>
        <a:xfrm>
          <a:off x="1711040" y="3143250"/>
          <a:ext cx="9443256" cy="1428749"/>
        </a:xfrm>
        <a:prstGeom prst="rightArrow">
          <a:avLst>
            <a:gd name="adj1" fmla="val 75000"/>
            <a:gd name="adj2" fmla="val 50000"/>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just" defTabSz="711200">
            <a:lnSpc>
              <a:spcPct val="90000"/>
            </a:lnSpc>
            <a:spcBef>
              <a:spcPct val="0"/>
            </a:spcBef>
            <a:spcAft>
              <a:spcPct val="15000"/>
            </a:spcAft>
            <a:buNone/>
          </a:pPr>
          <a:r>
            <a:rPr lang="tr-TR" sz="1600" kern="1200" dirty="0"/>
            <a:t>    Veri setine ön işlem uygulanmış; katılımcılar için ID oluşturulmuş, isim sütunları çıkarılmış ve değişkenler sayısal/kategorik olarak ayrılmıştır. Sayısal değişkenlere uç değerleri azaltmak için </a:t>
          </a:r>
          <a:r>
            <a:rPr lang="tr-TR" sz="1600" kern="1200" dirty="0" err="1"/>
            <a:t>Winsorize</a:t>
          </a:r>
          <a:r>
            <a:rPr lang="tr-TR" sz="1600" kern="1200" dirty="0"/>
            <a:t> ve ölçekleme için </a:t>
          </a:r>
          <a:r>
            <a:rPr lang="tr-TR" sz="1600" kern="1200" dirty="0" err="1"/>
            <a:t>RobustScaler</a:t>
          </a:r>
          <a:r>
            <a:rPr lang="tr-TR" sz="1600" kern="1200" dirty="0"/>
            <a:t> uygulanmış, kategorik değişkenler (duygusal durum ve ilaç türü) sayısal değerlere dönüştürülmüştür.</a:t>
          </a:r>
        </a:p>
      </dsp:txBody>
      <dsp:txXfrm>
        <a:off x="1711040" y="3321844"/>
        <a:ext cx="8907475" cy="1071561"/>
      </dsp:txXfrm>
    </dsp:sp>
    <dsp:sp modelId="{D71AAE7E-3CF9-40FC-B504-3534D8DC9EA4}">
      <dsp:nvSpPr>
        <dsp:cNvPr id="0" name=""/>
        <dsp:cNvSpPr/>
      </dsp:nvSpPr>
      <dsp:spPr>
        <a:xfrm>
          <a:off x="1383" y="3143250"/>
          <a:ext cx="1709657" cy="1428749"/>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tr-TR" sz="1400" kern="1200" dirty="0"/>
            <a:t>VERİ ÖNİŞLEME</a:t>
          </a:r>
        </a:p>
      </dsp:txBody>
      <dsp:txXfrm>
        <a:off x="71129" y="3212996"/>
        <a:ext cx="1570165" cy="12892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4E9201-C6DD-4657-BC99-363653EA0A29}">
      <dsp:nvSpPr>
        <dsp:cNvPr id="0" name=""/>
        <dsp:cNvSpPr/>
      </dsp:nvSpPr>
      <dsp:spPr>
        <a:xfrm>
          <a:off x="4011" y="496299"/>
          <a:ext cx="2171847" cy="130310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i="0" kern="1200" baseline="0" dirty="0"/>
            <a:t>Çalışmada ilaç dozajını optimize etmek için </a:t>
          </a:r>
          <a:r>
            <a:rPr lang="tr-TR" sz="1400" b="1" i="0" kern="1200" baseline="0" dirty="0"/>
            <a:t>offline </a:t>
          </a:r>
          <a:r>
            <a:rPr lang="tr-TR" sz="1400" b="1" i="0" kern="1200" baseline="0" dirty="0" err="1"/>
            <a:t>reinforcement</a:t>
          </a:r>
          <a:r>
            <a:rPr lang="tr-TR" sz="1400" b="1" i="0" kern="1200" baseline="0" dirty="0"/>
            <a:t> </a:t>
          </a:r>
          <a:r>
            <a:rPr lang="tr-TR" sz="1400" b="1" i="0" kern="1200" baseline="0" dirty="0" err="1"/>
            <a:t>learning</a:t>
          </a:r>
          <a:r>
            <a:rPr lang="tr-TR" sz="1400" b="1" i="0" kern="1200" baseline="0" dirty="0"/>
            <a:t> (RL)</a:t>
          </a:r>
          <a:r>
            <a:rPr lang="tr-TR" sz="1400" i="0" kern="1200" baseline="0" dirty="0"/>
            <a:t> yaklaşımı kullanılmıştır.</a:t>
          </a:r>
          <a:endParaRPr lang="en-US" sz="1400" kern="1200" dirty="0"/>
        </a:p>
      </dsp:txBody>
      <dsp:txXfrm>
        <a:off x="4011" y="496299"/>
        <a:ext cx="2171847" cy="1303108"/>
      </dsp:txXfrm>
    </dsp:sp>
    <dsp:sp modelId="{48DC5ABE-B73A-4F71-90E1-0FEFCB52739A}">
      <dsp:nvSpPr>
        <dsp:cNvPr id="0" name=""/>
        <dsp:cNvSpPr/>
      </dsp:nvSpPr>
      <dsp:spPr>
        <a:xfrm>
          <a:off x="2393043" y="496299"/>
          <a:ext cx="2171847" cy="1303108"/>
        </a:xfrm>
        <a:prstGeom prst="rect">
          <a:avLst/>
        </a:prstGeom>
        <a:solidFill>
          <a:schemeClr val="accent2">
            <a:hueOff val="-1296126"/>
            <a:satOff val="-2551"/>
            <a:lumOff val="159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i="0" kern="1200" baseline="0"/>
            <a:t>Ajan, gerçek ortam yerine </a:t>
          </a:r>
          <a:r>
            <a:rPr lang="tr-TR" sz="1400" b="1" i="0" kern="1200" baseline="0"/>
            <a:t>geçmiş veri üzerinden öğrenmiş</a:t>
          </a:r>
          <a:r>
            <a:rPr lang="tr-TR" sz="1400" i="0" kern="1200" baseline="0"/>
            <a:t> ve </a:t>
          </a:r>
          <a:r>
            <a:rPr lang="tr-TR" sz="1400" b="1" i="0" kern="1200" baseline="0"/>
            <a:t>MedicalEnv</a:t>
          </a:r>
          <a:r>
            <a:rPr lang="tr-TR" sz="1400" i="0" kern="1200" baseline="0"/>
            <a:t> ortamında durum–eylem geçişleri simüle edilmiştir.</a:t>
          </a:r>
          <a:endParaRPr lang="en-US" sz="1400" kern="1200"/>
        </a:p>
      </dsp:txBody>
      <dsp:txXfrm>
        <a:off x="2393043" y="496299"/>
        <a:ext cx="2171847" cy="1303108"/>
      </dsp:txXfrm>
    </dsp:sp>
    <dsp:sp modelId="{7A394428-D7F5-437A-87BE-6D1C72EC4E1C}">
      <dsp:nvSpPr>
        <dsp:cNvPr id="0" name=""/>
        <dsp:cNvSpPr/>
      </dsp:nvSpPr>
      <dsp:spPr>
        <a:xfrm>
          <a:off x="4782076" y="496299"/>
          <a:ext cx="2171847" cy="1303108"/>
        </a:xfrm>
        <a:prstGeom prst="rect">
          <a:avLst/>
        </a:prstGeom>
        <a:solidFill>
          <a:schemeClr val="accent2">
            <a:hueOff val="-2592252"/>
            <a:satOff val="-5102"/>
            <a:lumOff val="318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i="0" kern="1200" baseline="0"/>
            <a:t>Durum uzayı: </a:t>
          </a:r>
          <a:r>
            <a:rPr lang="tr-TR" sz="1400" b="1" i="0" kern="1200" baseline="0"/>
            <a:t>Diff</a:t>
          </a:r>
          <a:r>
            <a:rPr lang="tr-TR" sz="1400" i="0" kern="1200" baseline="0"/>
            <a:t>, doz, ilaç türü ve duygusal durum (Happy/Sad) bilgilerini içerir; eylem uzayı: </a:t>
          </a:r>
          <a:r>
            <a:rPr lang="tr-TR" sz="1400" b="1" i="0" kern="1200" baseline="0"/>
            <a:t>dozu azalt (0), sabit tut (1), artır (2)</a:t>
          </a:r>
          <a:r>
            <a:rPr lang="tr-TR" sz="1400" i="0" kern="1200" baseline="0"/>
            <a:t>.</a:t>
          </a:r>
          <a:endParaRPr lang="en-US" sz="1400" kern="1200"/>
        </a:p>
      </dsp:txBody>
      <dsp:txXfrm>
        <a:off x="4782076" y="496299"/>
        <a:ext cx="2171847" cy="1303108"/>
      </dsp:txXfrm>
    </dsp:sp>
    <dsp:sp modelId="{D5CDCEBB-67AA-4CB9-969C-DFB7D5C14519}">
      <dsp:nvSpPr>
        <dsp:cNvPr id="0" name=""/>
        <dsp:cNvSpPr/>
      </dsp:nvSpPr>
      <dsp:spPr>
        <a:xfrm>
          <a:off x="7171108" y="496299"/>
          <a:ext cx="2171847" cy="1303108"/>
        </a:xfrm>
        <a:prstGeom prst="rect">
          <a:avLst/>
        </a:prstGeom>
        <a:solidFill>
          <a:schemeClr val="accent2">
            <a:hueOff val="-3888378"/>
            <a:satOff val="-7653"/>
            <a:lumOff val="477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i="0" kern="1200" baseline="0"/>
            <a:t>Bir </a:t>
          </a:r>
          <a:r>
            <a:rPr lang="tr-TR" sz="1400" b="1" i="0" kern="1200" baseline="0"/>
            <a:t>dinamik model</a:t>
          </a:r>
          <a:r>
            <a:rPr lang="tr-TR" sz="1400" i="0" kern="1200" baseline="0"/>
            <a:t>, Diff değerini tahmin ederek ajanın öğrenme sürecinde veriyle geri bildirim sağlamıştır.</a:t>
          </a:r>
          <a:endParaRPr lang="en-US" sz="1400" kern="1200"/>
        </a:p>
      </dsp:txBody>
      <dsp:txXfrm>
        <a:off x="7171108" y="496299"/>
        <a:ext cx="2171847" cy="1303108"/>
      </dsp:txXfrm>
    </dsp:sp>
    <dsp:sp modelId="{5BD28592-E632-40B9-B6D4-E92AA409AD2F}">
      <dsp:nvSpPr>
        <dsp:cNvPr id="0" name=""/>
        <dsp:cNvSpPr/>
      </dsp:nvSpPr>
      <dsp:spPr>
        <a:xfrm>
          <a:off x="9560141" y="496299"/>
          <a:ext cx="2171847" cy="1303108"/>
        </a:xfrm>
        <a:prstGeom prst="rect">
          <a:avLst/>
        </a:prstGeom>
        <a:solidFill>
          <a:schemeClr val="accent2">
            <a:hueOff val="-5184504"/>
            <a:satOff val="-10204"/>
            <a:lumOff val="637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i="0" kern="1200" baseline="0"/>
            <a:t>Ajanın </a:t>
          </a:r>
          <a:r>
            <a:rPr lang="tr-TR" sz="1400" b="1" i="0" kern="1200" baseline="0"/>
            <a:t>Politika Ağı (PolicyNetwork)</a:t>
          </a:r>
          <a:r>
            <a:rPr lang="tr-TR" sz="1400" i="0" kern="1200" baseline="0"/>
            <a:t> PyTorch ile kurulmuş ve </a:t>
          </a:r>
          <a:r>
            <a:rPr lang="tr-TR" sz="1400" b="1" i="0" kern="1200" baseline="0"/>
            <a:t>REINFORCE (Policy Gradient)</a:t>
          </a:r>
          <a:r>
            <a:rPr lang="tr-TR" sz="1400" i="0" kern="1200" baseline="0"/>
            <a:t> algoritmasıyla eğitilmiştir.</a:t>
          </a:r>
          <a:endParaRPr lang="en-US" sz="1400" kern="1200"/>
        </a:p>
      </dsp:txBody>
      <dsp:txXfrm>
        <a:off x="9560141" y="496299"/>
        <a:ext cx="2171847" cy="1303108"/>
      </dsp:txXfrm>
    </dsp:sp>
    <dsp:sp modelId="{115836DB-F1C3-45B6-B693-23F23068690E}">
      <dsp:nvSpPr>
        <dsp:cNvPr id="0" name=""/>
        <dsp:cNvSpPr/>
      </dsp:nvSpPr>
      <dsp:spPr>
        <a:xfrm>
          <a:off x="1198527" y="2016592"/>
          <a:ext cx="2171847" cy="1303108"/>
        </a:xfrm>
        <a:prstGeom prst="rect">
          <a:avLst/>
        </a:prstGeom>
        <a:solidFill>
          <a:schemeClr val="accent2">
            <a:hueOff val="-6480629"/>
            <a:satOff val="-12755"/>
            <a:lumOff val="796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i="0" kern="1200" baseline="0"/>
            <a:t>Eğitimde amaç, </a:t>
          </a:r>
          <a:r>
            <a:rPr lang="tr-TR" sz="1400" b="1" i="0" kern="1200" baseline="0"/>
            <a:t>uzun vadeli ödülü maksimize etmek</a:t>
          </a:r>
          <a:r>
            <a:rPr lang="tr-TR" sz="1400" i="0" kern="1200" baseline="0"/>
            <a:t> ve epizotlar boyunca politikanın istikrarını gözlemlemektir.</a:t>
          </a:r>
          <a:endParaRPr lang="en-US" sz="1400" kern="1200"/>
        </a:p>
      </dsp:txBody>
      <dsp:txXfrm>
        <a:off x="1198527" y="2016592"/>
        <a:ext cx="2171847" cy="1303108"/>
      </dsp:txXfrm>
    </dsp:sp>
    <dsp:sp modelId="{83E7BCFA-BC14-4BC8-9626-444B50942F68}">
      <dsp:nvSpPr>
        <dsp:cNvPr id="0" name=""/>
        <dsp:cNvSpPr/>
      </dsp:nvSpPr>
      <dsp:spPr>
        <a:xfrm>
          <a:off x="3587559" y="2016592"/>
          <a:ext cx="2171847" cy="1303108"/>
        </a:xfrm>
        <a:prstGeom prst="rect">
          <a:avLst/>
        </a:prstGeom>
        <a:solidFill>
          <a:schemeClr val="accent2">
            <a:hueOff val="-7776756"/>
            <a:satOff val="-15306"/>
            <a:lumOff val="955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i="0" kern="1200" baseline="0"/>
            <a:t>Test aşamasında politika deterministik olarak işletilmiş, en yüksek olasılıklı eylem (argmax) seçilmiştir.</a:t>
          </a:r>
          <a:endParaRPr lang="en-US" sz="1400" kern="1200"/>
        </a:p>
      </dsp:txBody>
      <dsp:txXfrm>
        <a:off x="3587559" y="2016592"/>
        <a:ext cx="2171847" cy="1303108"/>
      </dsp:txXfrm>
    </dsp:sp>
    <dsp:sp modelId="{9D55516B-CBAD-4193-BD98-E8469CE6360F}">
      <dsp:nvSpPr>
        <dsp:cNvPr id="0" name=""/>
        <dsp:cNvSpPr/>
      </dsp:nvSpPr>
      <dsp:spPr>
        <a:xfrm>
          <a:off x="5976592" y="2016592"/>
          <a:ext cx="2171847" cy="1303108"/>
        </a:xfrm>
        <a:prstGeom prst="rect">
          <a:avLst/>
        </a:prstGeom>
        <a:solidFill>
          <a:schemeClr val="accent2">
            <a:hueOff val="-9072881"/>
            <a:satOff val="-17857"/>
            <a:lumOff val="1115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i="0" kern="1200" baseline="0"/>
            <a:t>Performans 100 epizotta </a:t>
          </a:r>
          <a:r>
            <a:rPr lang="tr-TR" sz="1400" b="1" i="0" kern="1200" baseline="0"/>
            <a:t>ortalama ödül</a:t>
          </a:r>
          <a:r>
            <a:rPr lang="tr-TR" sz="1400" i="0" kern="1200" baseline="0"/>
            <a:t>, </a:t>
          </a:r>
          <a:r>
            <a:rPr lang="tr-TR" sz="1400" b="1" i="0" kern="1200" baseline="0"/>
            <a:t>denge süresi</a:t>
          </a:r>
          <a:r>
            <a:rPr lang="tr-TR" sz="1400" i="0" kern="1200" baseline="0"/>
            <a:t> ve tek epizot </a:t>
          </a:r>
          <a:r>
            <a:rPr lang="tr-TR" sz="1400" b="1" i="0" kern="1200" baseline="0"/>
            <a:t>accuracy</a:t>
          </a:r>
          <a:r>
            <a:rPr lang="tr-TR" sz="1400" i="0" kern="1200" baseline="0"/>
            <a:t> ile değerlendirilmiştir.</a:t>
          </a:r>
          <a:endParaRPr lang="en-US" sz="1400" kern="1200"/>
        </a:p>
      </dsp:txBody>
      <dsp:txXfrm>
        <a:off x="5976592" y="2016592"/>
        <a:ext cx="2171847" cy="1303108"/>
      </dsp:txXfrm>
    </dsp:sp>
    <dsp:sp modelId="{68993F59-839C-4B38-9A30-EA7974D56397}">
      <dsp:nvSpPr>
        <dsp:cNvPr id="0" name=""/>
        <dsp:cNvSpPr/>
      </dsp:nvSpPr>
      <dsp:spPr>
        <a:xfrm>
          <a:off x="8365624" y="2016592"/>
          <a:ext cx="2171847" cy="1303108"/>
        </a:xfrm>
        <a:prstGeom prst="rect">
          <a:avLst/>
        </a:prstGeom>
        <a:solidFill>
          <a:schemeClr val="accent2">
            <a:hueOff val="-10369007"/>
            <a:satOff val="-20408"/>
            <a:lumOff val="1274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i="0" kern="1200" baseline="0"/>
            <a:t>Dinamik modelin başarısı, tahmin edilen Diff değerlerinin </a:t>
          </a:r>
          <a:r>
            <a:rPr lang="tr-TR" sz="1400" b="1" i="0" kern="1200" baseline="0"/>
            <a:t>ortalama hatası ve standart sapması</a:t>
          </a:r>
          <a:r>
            <a:rPr lang="tr-TR" sz="1400" i="0" kern="1200" baseline="0"/>
            <a:t> ile raporlanmıştır.</a:t>
          </a:r>
          <a:endParaRPr lang="en-US" sz="1400" kern="1200"/>
        </a:p>
      </dsp:txBody>
      <dsp:txXfrm>
        <a:off x="8365624" y="2016592"/>
        <a:ext cx="2171847" cy="13031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B6E353-411F-4E83-A26D-50323F56F561}">
      <dsp:nvSpPr>
        <dsp:cNvPr id="0" name=""/>
        <dsp:cNvSpPr/>
      </dsp:nvSpPr>
      <dsp:spPr>
        <a:xfrm>
          <a:off x="474240" y="1384"/>
          <a:ext cx="1638901" cy="819450"/>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tr-TR" sz="1700" kern="1200" dirty="0"/>
            <a:t>Modelin Eğitim Sonuçları</a:t>
          </a:r>
        </a:p>
      </dsp:txBody>
      <dsp:txXfrm>
        <a:off x="498241" y="25385"/>
        <a:ext cx="1590899" cy="771448"/>
      </dsp:txXfrm>
    </dsp:sp>
    <dsp:sp modelId="{97386654-6474-4823-847C-DAF63F7D7E9A}">
      <dsp:nvSpPr>
        <dsp:cNvPr id="0" name=""/>
        <dsp:cNvSpPr/>
      </dsp:nvSpPr>
      <dsp:spPr>
        <a:xfrm>
          <a:off x="638130" y="820834"/>
          <a:ext cx="163890" cy="614587"/>
        </a:xfrm>
        <a:custGeom>
          <a:avLst/>
          <a:gdLst/>
          <a:ahLst/>
          <a:cxnLst/>
          <a:rect l="0" t="0" r="0" b="0"/>
          <a:pathLst>
            <a:path>
              <a:moveTo>
                <a:pt x="0" y="0"/>
              </a:moveTo>
              <a:lnTo>
                <a:pt x="0" y="614587"/>
              </a:lnTo>
              <a:lnTo>
                <a:pt x="163890" y="614587"/>
              </a:lnTo>
            </a:path>
          </a:pathLst>
        </a:custGeom>
        <a:noFill/>
        <a:ln w="1905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D3A051-1209-4033-A1D7-18EEB57BC979}">
      <dsp:nvSpPr>
        <dsp:cNvPr id="0" name=""/>
        <dsp:cNvSpPr/>
      </dsp:nvSpPr>
      <dsp:spPr>
        <a:xfrm>
          <a:off x="802020" y="1025697"/>
          <a:ext cx="1311121" cy="819450"/>
        </a:xfrm>
        <a:prstGeom prst="roundRect">
          <a:avLst>
            <a:gd name="adj" fmla="val 10000"/>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tr-TR" sz="1000" kern="1200"/>
            <a:t>Toplam ödüller: 16 ile 72 arasında.</a:t>
          </a:r>
        </a:p>
      </dsp:txBody>
      <dsp:txXfrm>
        <a:off x="826021" y="1049698"/>
        <a:ext cx="1263119" cy="771448"/>
      </dsp:txXfrm>
    </dsp:sp>
    <dsp:sp modelId="{1C2247EF-43D9-497E-8A9D-B89BE9BC2A8A}">
      <dsp:nvSpPr>
        <dsp:cNvPr id="0" name=""/>
        <dsp:cNvSpPr/>
      </dsp:nvSpPr>
      <dsp:spPr>
        <a:xfrm>
          <a:off x="638130" y="820834"/>
          <a:ext cx="163890" cy="1638901"/>
        </a:xfrm>
        <a:custGeom>
          <a:avLst/>
          <a:gdLst/>
          <a:ahLst/>
          <a:cxnLst/>
          <a:rect l="0" t="0" r="0" b="0"/>
          <a:pathLst>
            <a:path>
              <a:moveTo>
                <a:pt x="0" y="0"/>
              </a:moveTo>
              <a:lnTo>
                <a:pt x="0" y="1638901"/>
              </a:lnTo>
              <a:lnTo>
                <a:pt x="163890" y="1638901"/>
              </a:lnTo>
            </a:path>
          </a:pathLst>
        </a:custGeom>
        <a:noFill/>
        <a:ln w="1905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460989-5F5F-4A56-A177-A894ED507CB5}">
      <dsp:nvSpPr>
        <dsp:cNvPr id="0" name=""/>
        <dsp:cNvSpPr/>
      </dsp:nvSpPr>
      <dsp:spPr>
        <a:xfrm>
          <a:off x="802020" y="2050010"/>
          <a:ext cx="1311121" cy="819450"/>
        </a:xfrm>
        <a:prstGeom prst="roundRect">
          <a:avLst>
            <a:gd name="adj" fmla="val 10000"/>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tr-TR" sz="1000" kern="1200"/>
            <a:t>100 epizotluk test: Ortalama ödül 67.96, denge süresi 132.98.</a:t>
          </a:r>
        </a:p>
      </dsp:txBody>
      <dsp:txXfrm>
        <a:off x="826021" y="2074011"/>
        <a:ext cx="1263119" cy="771448"/>
      </dsp:txXfrm>
    </dsp:sp>
    <dsp:sp modelId="{2A671FD4-08BE-4A30-B3E7-FA5E02D41AA9}">
      <dsp:nvSpPr>
        <dsp:cNvPr id="0" name=""/>
        <dsp:cNvSpPr/>
      </dsp:nvSpPr>
      <dsp:spPr>
        <a:xfrm>
          <a:off x="638130" y="820834"/>
          <a:ext cx="163890" cy="2663214"/>
        </a:xfrm>
        <a:custGeom>
          <a:avLst/>
          <a:gdLst/>
          <a:ahLst/>
          <a:cxnLst/>
          <a:rect l="0" t="0" r="0" b="0"/>
          <a:pathLst>
            <a:path>
              <a:moveTo>
                <a:pt x="0" y="0"/>
              </a:moveTo>
              <a:lnTo>
                <a:pt x="0" y="2663214"/>
              </a:lnTo>
              <a:lnTo>
                <a:pt x="163890" y="2663214"/>
              </a:lnTo>
            </a:path>
          </a:pathLst>
        </a:custGeom>
        <a:noFill/>
        <a:ln w="1905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9DE5E7-6410-4B70-9379-36E23C267E57}">
      <dsp:nvSpPr>
        <dsp:cNvPr id="0" name=""/>
        <dsp:cNvSpPr/>
      </dsp:nvSpPr>
      <dsp:spPr>
        <a:xfrm>
          <a:off x="802020" y="3074323"/>
          <a:ext cx="1311121" cy="819450"/>
        </a:xfrm>
        <a:prstGeom prst="roundRect">
          <a:avLst>
            <a:gd name="adj" fmla="val 10000"/>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tr-TR" sz="1000" kern="1200"/>
            <a:t>Tek-run sonuçları: Toplam ödül 68, accuracy %67.17.</a:t>
          </a:r>
        </a:p>
      </dsp:txBody>
      <dsp:txXfrm>
        <a:off x="826021" y="3098324"/>
        <a:ext cx="1263119" cy="771448"/>
      </dsp:txXfrm>
    </dsp:sp>
    <dsp:sp modelId="{E06EA86D-0CE7-479C-B4E7-26FF1941B57D}">
      <dsp:nvSpPr>
        <dsp:cNvPr id="0" name=""/>
        <dsp:cNvSpPr/>
      </dsp:nvSpPr>
      <dsp:spPr>
        <a:xfrm>
          <a:off x="638130" y="820834"/>
          <a:ext cx="163890" cy="3687527"/>
        </a:xfrm>
        <a:custGeom>
          <a:avLst/>
          <a:gdLst/>
          <a:ahLst/>
          <a:cxnLst/>
          <a:rect l="0" t="0" r="0" b="0"/>
          <a:pathLst>
            <a:path>
              <a:moveTo>
                <a:pt x="0" y="0"/>
              </a:moveTo>
              <a:lnTo>
                <a:pt x="0" y="3687527"/>
              </a:lnTo>
              <a:lnTo>
                <a:pt x="163890" y="3687527"/>
              </a:lnTo>
            </a:path>
          </a:pathLst>
        </a:custGeom>
        <a:noFill/>
        <a:ln w="1905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87334C3-611E-4E2B-9DB9-07F3FAB2540D}">
      <dsp:nvSpPr>
        <dsp:cNvPr id="0" name=""/>
        <dsp:cNvSpPr/>
      </dsp:nvSpPr>
      <dsp:spPr>
        <a:xfrm>
          <a:off x="802020" y="4098637"/>
          <a:ext cx="1311121" cy="819450"/>
        </a:xfrm>
        <a:prstGeom prst="roundRect">
          <a:avLst>
            <a:gd name="adj" fmla="val 10000"/>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tr-TR" sz="1000" kern="1200"/>
            <a:t>Dinamik model tahmin hatası: Ortalama hata -0.3578, standart sapma 1.0004.</a:t>
          </a:r>
        </a:p>
      </dsp:txBody>
      <dsp:txXfrm>
        <a:off x="826021" y="4122638"/>
        <a:ext cx="1263119" cy="771448"/>
      </dsp:txXfrm>
    </dsp:sp>
    <dsp:sp modelId="{3B9A54DD-CD08-430B-92FA-D89886322164}">
      <dsp:nvSpPr>
        <dsp:cNvPr id="0" name=""/>
        <dsp:cNvSpPr/>
      </dsp:nvSpPr>
      <dsp:spPr>
        <a:xfrm>
          <a:off x="2522866" y="1384"/>
          <a:ext cx="1638901" cy="819450"/>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tr-TR" sz="1700" kern="1200" dirty="0"/>
            <a:t>Optimizasyon Sonrası Gelişen Performans</a:t>
          </a:r>
        </a:p>
      </dsp:txBody>
      <dsp:txXfrm>
        <a:off x="2546867" y="25385"/>
        <a:ext cx="1590899" cy="771448"/>
      </dsp:txXfrm>
    </dsp:sp>
    <dsp:sp modelId="{DE611239-83A0-4CE4-8DA6-946340221D09}">
      <dsp:nvSpPr>
        <dsp:cNvPr id="0" name=""/>
        <dsp:cNvSpPr/>
      </dsp:nvSpPr>
      <dsp:spPr>
        <a:xfrm>
          <a:off x="2686756" y="820834"/>
          <a:ext cx="163890" cy="614587"/>
        </a:xfrm>
        <a:custGeom>
          <a:avLst/>
          <a:gdLst/>
          <a:ahLst/>
          <a:cxnLst/>
          <a:rect l="0" t="0" r="0" b="0"/>
          <a:pathLst>
            <a:path>
              <a:moveTo>
                <a:pt x="0" y="0"/>
              </a:moveTo>
              <a:lnTo>
                <a:pt x="0" y="614587"/>
              </a:lnTo>
              <a:lnTo>
                <a:pt x="163890" y="614587"/>
              </a:lnTo>
            </a:path>
          </a:pathLst>
        </a:custGeom>
        <a:noFill/>
        <a:ln w="1905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25055F5-C936-44BC-9DA9-CF73E98A5DB0}">
      <dsp:nvSpPr>
        <dsp:cNvPr id="0" name=""/>
        <dsp:cNvSpPr/>
      </dsp:nvSpPr>
      <dsp:spPr>
        <a:xfrm>
          <a:off x="2850646" y="1025697"/>
          <a:ext cx="1311121" cy="819450"/>
        </a:xfrm>
        <a:prstGeom prst="roundRect">
          <a:avLst>
            <a:gd name="adj" fmla="val 10000"/>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tr-TR" sz="1000" kern="1200"/>
            <a:t>Toplam ödüller: 46 ile 140 arasında, yüksek ödüller özellikle 550. epizottan sonra.</a:t>
          </a:r>
        </a:p>
      </dsp:txBody>
      <dsp:txXfrm>
        <a:off x="2874647" y="1049698"/>
        <a:ext cx="1263119" cy="771448"/>
      </dsp:txXfrm>
    </dsp:sp>
    <dsp:sp modelId="{AF0366F9-2740-4646-A781-E835749DBA3F}">
      <dsp:nvSpPr>
        <dsp:cNvPr id="0" name=""/>
        <dsp:cNvSpPr/>
      </dsp:nvSpPr>
      <dsp:spPr>
        <a:xfrm>
          <a:off x="2686756" y="820834"/>
          <a:ext cx="163890" cy="1638901"/>
        </a:xfrm>
        <a:custGeom>
          <a:avLst/>
          <a:gdLst/>
          <a:ahLst/>
          <a:cxnLst/>
          <a:rect l="0" t="0" r="0" b="0"/>
          <a:pathLst>
            <a:path>
              <a:moveTo>
                <a:pt x="0" y="0"/>
              </a:moveTo>
              <a:lnTo>
                <a:pt x="0" y="1638901"/>
              </a:lnTo>
              <a:lnTo>
                <a:pt x="163890" y="1638901"/>
              </a:lnTo>
            </a:path>
          </a:pathLst>
        </a:custGeom>
        <a:noFill/>
        <a:ln w="1905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5F23BD-F8FE-40E5-8947-54085D4F9C9B}">
      <dsp:nvSpPr>
        <dsp:cNvPr id="0" name=""/>
        <dsp:cNvSpPr/>
      </dsp:nvSpPr>
      <dsp:spPr>
        <a:xfrm>
          <a:off x="2850646" y="2050010"/>
          <a:ext cx="1311121" cy="819450"/>
        </a:xfrm>
        <a:prstGeom prst="roundRect">
          <a:avLst>
            <a:gd name="adj" fmla="val 10000"/>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tr-TR" sz="1000" kern="1200"/>
            <a:t>100 epizotluk test: Ortalama ödül 134.00, denge süresi 166.00.</a:t>
          </a:r>
        </a:p>
      </dsp:txBody>
      <dsp:txXfrm>
        <a:off x="2874647" y="2074011"/>
        <a:ext cx="1263119" cy="771448"/>
      </dsp:txXfrm>
    </dsp:sp>
    <dsp:sp modelId="{09D4032F-AF18-4D0B-9901-A220744F511B}">
      <dsp:nvSpPr>
        <dsp:cNvPr id="0" name=""/>
        <dsp:cNvSpPr/>
      </dsp:nvSpPr>
      <dsp:spPr>
        <a:xfrm>
          <a:off x="2686756" y="820834"/>
          <a:ext cx="163890" cy="2663214"/>
        </a:xfrm>
        <a:custGeom>
          <a:avLst/>
          <a:gdLst/>
          <a:ahLst/>
          <a:cxnLst/>
          <a:rect l="0" t="0" r="0" b="0"/>
          <a:pathLst>
            <a:path>
              <a:moveTo>
                <a:pt x="0" y="0"/>
              </a:moveTo>
              <a:lnTo>
                <a:pt x="0" y="2663214"/>
              </a:lnTo>
              <a:lnTo>
                <a:pt x="163890" y="2663214"/>
              </a:lnTo>
            </a:path>
          </a:pathLst>
        </a:custGeom>
        <a:noFill/>
        <a:ln w="1905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4082258-CE22-4378-ADF4-2B8447BBDD37}">
      <dsp:nvSpPr>
        <dsp:cNvPr id="0" name=""/>
        <dsp:cNvSpPr/>
      </dsp:nvSpPr>
      <dsp:spPr>
        <a:xfrm>
          <a:off x="2850646" y="3074323"/>
          <a:ext cx="1311121" cy="819450"/>
        </a:xfrm>
        <a:prstGeom prst="roundRect">
          <a:avLst>
            <a:gd name="adj" fmla="val 10000"/>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tr-TR" sz="1000" kern="1200" dirty="0"/>
            <a:t>Tek-</a:t>
          </a:r>
          <a:r>
            <a:rPr lang="tr-TR" sz="1000" kern="1200" dirty="0" err="1"/>
            <a:t>run</a:t>
          </a:r>
          <a:r>
            <a:rPr lang="tr-TR" sz="1000" kern="1200" dirty="0"/>
            <a:t> sonuçları: Toplam ödül 134.00, doğruluk %83.84.</a:t>
          </a:r>
        </a:p>
      </dsp:txBody>
      <dsp:txXfrm>
        <a:off x="2874647" y="3098324"/>
        <a:ext cx="1263119" cy="771448"/>
      </dsp:txXfrm>
    </dsp:sp>
    <dsp:sp modelId="{901B5629-9A4D-49C6-87D7-A3C8C3543E6E}">
      <dsp:nvSpPr>
        <dsp:cNvPr id="0" name=""/>
        <dsp:cNvSpPr/>
      </dsp:nvSpPr>
      <dsp:spPr>
        <a:xfrm>
          <a:off x="2686756" y="820834"/>
          <a:ext cx="163890" cy="3687527"/>
        </a:xfrm>
        <a:custGeom>
          <a:avLst/>
          <a:gdLst/>
          <a:ahLst/>
          <a:cxnLst/>
          <a:rect l="0" t="0" r="0" b="0"/>
          <a:pathLst>
            <a:path>
              <a:moveTo>
                <a:pt x="0" y="0"/>
              </a:moveTo>
              <a:lnTo>
                <a:pt x="0" y="3687527"/>
              </a:lnTo>
              <a:lnTo>
                <a:pt x="163890" y="3687527"/>
              </a:lnTo>
            </a:path>
          </a:pathLst>
        </a:custGeom>
        <a:noFill/>
        <a:ln w="1905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62651C-B9CA-4E63-9DB5-85C62DAF90C0}">
      <dsp:nvSpPr>
        <dsp:cNvPr id="0" name=""/>
        <dsp:cNvSpPr/>
      </dsp:nvSpPr>
      <dsp:spPr>
        <a:xfrm>
          <a:off x="2850646" y="4098637"/>
          <a:ext cx="1311121" cy="819450"/>
        </a:xfrm>
        <a:prstGeom prst="roundRect">
          <a:avLst>
            <a:gd name="adj" fmla="val 10000"/>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tr-TR" sz="1000" kern="1200"/>
            <a:t>Dinamik model tahmin hatası: Ortalama hata -0.1922, standart sapma 1.0011.</a:t>
          </a:r>
        </a:p>
      </dsp:txBody>
      <dsp:txXfrm>
        <a:off x="2874647" y="4122638"/>
        <a:ext cx="1263119" cy="7714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6E2260-D53F-4222-AF8D-2E556AB7510E}">
      <dsp:nvSpPr>
        <dsp:cNvPr id="0" name=""/>
        <dsp:cNvSpPr/>
      </dsp:nvSpPr>
      <dsp:spPr>
        <a:xfrm>
          <a:off x="0" y="29150"/>
          <a:ext cx="2602994" cy="403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tr-TR" sz="1400" b="1" kern="1200" dirty="0"/>
            <a:t>Test Aşaması</a:t>
          </a:r>
          <a:endParaRPr lang="tr-TR" sz="1400" kern="1200" dirty="0"/>
        </a:p>
      </dsp:txBody>
      <dsp:txXfrm>
        <a:off x="0" y="29150"/>
        <a:ext cx="2602994" cy="403200"/>
      </dsp:txXfrm>
    </dsp:sp>
    <dsp:sp modelId="{20931980-E691-4F30-A695-C8469C89E5EE}">
      <dsp:nvSpPr>
        <dsp:cNvPr id="0" name=""/>
        <dsp:cNvSpPr/>
      </dsp:nvSpPr>
      <dsp:spPr>
        <a:xfrm>
          <a:off x="0" y="432351"/>
          <a:ext cx="2602994" cy="180621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just" defTabSz="622300">
            <a:lnSpc>
              <a:spcPct val="90000"/>
            </a:lnSpc>
            <a:spcBef>
              <a:spcPct val="0"/>
            </a:spcBef>
            <a:spcAft>
              <a:spcPct val="15000"/>
            </a:spcAft>
            <a:buChar char="•"/>
          </a:pPr>
          <a:r>
            <a:rPr lang="tr-TR" sz="1400" kern="1200" dirty="0"/>
            <a:t>Modelin doğru ve hatalı karar verdiği örnekler de tek </a:t>
          </a:r>
          <a:r>
            <a:rPr lang="tr-TR" sz="1400" kern="1200" dirty="0" err="1"/>
            <a:t>run</a:t>
          </a:r>
          <a:r>
            <a:rPr lang="tr-TR" sz="1400" kern="1200" dirty="0"/>
            <a:t> baz alınarak raporlanmıştır;</a:t>
          </a:r>
        </a:p>
        <a:p>
          <a:pPr marL="114300" lvl="1" indent="-114300" algn="just" defTabSz="622300">
            <a:lnSpc>
              <a:spcPct val="90000"/>
            </a:lnSpc>
            <a:spcBef>
              <a:spcPct val="0"/>
            </a:spcBef>
            <a:spcAft>
              <a:spcPct val="15000"/>
            </a:spcAft>
            <a:buChar char="•"/>
          </a:pPr>
          <a:r>
            <a:rPr lang="tr-TR" sz="1400" kern="1200" dirty="0"/>
            <a:t>Pozitif ödül alan ilk 5 satır ID: [2, 37, 158, 48, 9].</a:t>
          </a:r>
        </a:p>
        <a:p>
          <a:pPr marL="114300" lvl="1" indent="-114300" algn="just" defTabSz="622300">
            <a:lnSpc>
              <a:spcPct val="90000"/>
            </a:lnSpc>
            <a:spcBef>
              <a:spcPct val="0"/>
            </a:spcBef>
            <a:spcAft>
              <a:spcPct val="15000"/>
            </a:spcAft>
            <a:buChar char="•"/>
          </a:pPr>
          <a:r>
            <a:rPr lang="tr-TR" sz="1400" kern="1200" dirty="0"/>
            <a:t>Negatif veya sıfır ödül alan ilk 5 satır ID: [111, 57, 56, 126, 189].</a:t>
          </a:r>
        </a:p>
      </dsp:txBody>
      <dsp:txXfrm>
        <a:off x="0" y="432351"/>
        <a:ext cx="2602994" cy="18062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560E82-7AD6-4B53-AF06-606086FE3136}">
      <dsp:nvSpPr>
        <dsp:cNvPr id="0" name=""/>
        <dsp:cNvSpPr/>
      </dsp:nvSpPr>
      <dsp:spPr>
        <a:xfrm>
          <a:off x="1658342" y="848"/>
          <a:ext cx="3171954" cy="3171954"/>
        </a:xfrm>
        <a:prstGeom prst="ellipse">
          <a:avLst/>
        </a:prstGeom>
        <a:solidFill>
          <a:schemeClr val="accent2">
            <a:lumMod val="40000"/>
            <a:lumOff val="60000"/>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60F41E04-2E8A-4BA1-A988-86911BE580BE}">
      <dsp:nvSpPr>
        <dsp:cNvPr id="0" name=""/>
        <dsp:cNvSpPr/>
      </dsp:nvSpPr>
      <dsp:spPr>
        <a:xfrm>
          <a:off x="1808391" y="134070"/>
          <a:ext cx="570951" cy="570951"/>
        </a:xfrm>
        <a:prstGeom prst="ellipse">
          <a:avLst/>
        </a:prstGeom>
        <a:solidFill>
          <a:schemeClr val="accent2">
            <a:lumMod val="20000"/>
            <a:lumOff val="80000"/>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FDA263A8-D4AC-41AC-A526-773168E4A294}">
      <dsp:nvSpPr>
        <dsp:cNvPr id="0" name=""/>
        <dsp:cNvSpPr/>
      </dsp:nvSpPr>
      <dsp:spPr>
        <a:xfrm>
          <a:off x="2423054" y="207220"/>
          <a:ext cx="3053974" cy="570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0" bIns="22860" numCol="1" spcCol="1270" anchor="ctr" anchorCtr="0">
          <a:noAutofit/>
        </a:bodyPr>
        <a:lstStyle/>
        <a:p>
          <a:pPr marL="0" lvl="0" indent="0" algn="l" defTabSz="800100">
            <a:lnSpc>
              <a:spcPct val="90000"/>
            </a:lnSpc>
            <a:spcBef>
              <a:spcPct val="0"/>
            </a:spcBef>
            <a:spcAft>
              <a:spcPct val="35000"/>
            </a:spcAft>
            <a:buNone/>
          </a:pPr>
          <a:r>
            <a:rPr lang="tr-TR" sz="1800" b="1" kern="1200" dirty="0"/>
            <a:t>Sınırlılıklar</a:t>
          </a:r>
        </a:p>
      </dsp:txBody>
      <dsp:txXfrm>
        <a:off x="2423054" y="207220"/>
        <a:ext cx="3053974" cy="570951"/>
      </dsp:txXfrm>
    </dsp:sp>
    <dsp:sp modelId="{7B4E15E6-0099-4094-886F-C2D651BACF5E}">
      <dsp:nvSpPr>
        <dsp:cNvPr id="0" name=""/>
        <dsp:cNvSpPr/>
      </dsp:nvSpPr>
      <dsp:spPr>
        <a:xfrm>
          <a:off x="2030781" y="732450"/>
          <a:ext cx="2632301" cy="1969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0320" rIns="0" bIns="20320" numCol="1" spcCol="1270" anchor="ctr" anchorCtr="0">
          <a:noAutofit/>
        </a:bodyPr>
        <a:lstStyle/>
        <a:p>
          <a:pPr marL="0" lvl="0" indent="0" algn="just" defTabSz="711200">
            <a:lnSpc>
              <a:spcPct val="90000"/>
            </a:lnSpc>
            <a:spcBef>
              <a:spcPct val="0"/>
            </a:spcBef>
            <a:spcAft>
              <a:spcPct val="35000"/>
            </a:spcAft>
            <a:buNone/>
          </a:pPr>
          <a:r>
            <a:rPr lang="tr-TR" sz="1600" kern="1200" dirty="0"/>
            <a:t>Katılımcı sayısı ve yaş aralığı sınırlı; RL modeli sadece belirli senaryolarda test edildi, bu da genellenebilirliği sınırlayabilir. Uç değerler ve bireysel varyasyonlar bazı sonuçların geçerliliğini kısıtlamaktadır.</a:t>
          </a:r>
        </a:p>
      </dsp:txBody>
      <dsp:txXfrm>
        <a:off x="2030781" y="732450"/>
        <a:ext cx="2632301" cy="1969613"/>
      </dsp:txXfrm>
    </dsp:sp>
    <dsp:sp modelId="{1C38A33E-651D-40CD-81CB-F28AEDF2C489}">
      <dsp:nvSpPr>
        <dsp:cNvPr id="0" name=""/>
        <dsp:cNvSpPr/>
      </dsp:nvSpPr>
      <dsp:spPr>
        <a:xfrm>
          <a:off x="1658342" y="2862237"/>
          <a:ext cx="3171954" cy="3171954"/>
        </a:xfrm>
        <a:prstGeom prst="ellipse">
          <a:avLst/>
        </a:prstGeom>
        <a:solidFill>
          <a:schemeClr val="accent2">
            <a:lumMod val="40000"/>
            <a:lumOff val="60000"/>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CA970F25-27BC-4D03-8CBA-9DBDFCC7E581}">
      <dsp:nvSpPr>
        <dsp:cNvPr id="0" name=""/>
        <dsp:cNvSpPr/>
      </dsp:nvSpPr>
      <dsp:spPr>
        <a:xfrm>
          <a:off x="1808391" y="2995459"/>
          <a:ext cx="570951" cy="570951"/>
        </a:xfrm>
        <a:prstGeom prst="ellipse">
          <a:avLst/>
        </a:prstGeom>
        <a:solidFill>
          <a:schemeClr val="accent2">
            <a:lumMod val="20000"/>
            <a:lumOff val="80000"/>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A088C719-E65E-4490-9B5A-3A009CF56054}">
      <dsp:nvSpPr>
        <dsp:cNvPr id="0" name=""/>
        <dsp:cNvSpPr/>
      </dsp:nvSpPr>
      <dsp:spPr>
        <a:xfrm>
          <a:off x="2148746" y="3348136"/>
          <a:ext cx="3053974" cy="570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0" bIns="22860" numCol="1" spcCol="1270" anchor="ctr" anchorCtr="0">
          <a:noAutofit/>
        </a:bodyPr>
        <a:lstStyle/>
        <a:p>
          <a:pPr marL="0" lvl="0" indent="0" algn="l" defTabSz="800100">
            <a:lnSpc>
              <a:spcPct val="90000"/>
            </a:lnSpc>
            <a:spcBef>
              <a:spcPct val="0"/>
            </a:spcBef>
            <a:spcAft>
              <a:spcPct val="35000"/>
            </a:spcAft>
            <a:buNone/>
          </a:pPr>
          <a:r>
            <a:rPr lang="tr-TR" sz="1800" b="1" kern="1200" dirty="0"/>
            <a:t>Gelecekteki çalışmalar</a:t>
          </a:r>
        </a:p>
      </dsp:txBody>
      <dsp:txXfrm>
        <a:off x="2148746" y="3348136"/>
        <a:ext cx="3053974" cy="570951"/>
      </dsp:txXfrm>
    </dsp:sp>
    <dsp:sp modelId="{D1B76ED4-5B32-4447-9D1B-B714CA8D827A}">
      <dsp:nvSpPr>
        <dsp:cNvPr id="0" name=""/>
        <dsp:cNvSpPr/>
      </dsp:nvSpPr>
      <dsp:spPr>
        <a:xfrm>
          <a:off x="2002431" y="3813297"/>
          <a:ext cx="3053974" cy="160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0320" rIns="0" bIns="20320" numCol="1" spcCol="1270" anchor="ctr" anchorCtr="0">
          <a:noAutofit/>
        </a:bodyPr>
        <a:lstStyle/>
        <a:p>
          <a:pPr marL="0" lvl="0" indent="0" algn="l" defTabSz="711200">
            <a:lnSpc>
              <a:spcPct val="90000"/>
            </a:lnSpc>
            <a:spcBef>
              <a:spcPct val="0"/>
            </a:spcBef>
            <a:spcAft>
              <a:spcPct val="35000"/>
            </a:spcAft>
            <a:buNone/>
          </a:pPr>
          <a:r>
            <a:rPr lang="tr-TR" sz="1600" kern="1200" dirty="0"/>
            <a:t>Daha geniş yaş ve demografik gruplarda yapılabilir; doz optimizasyonu kişiye özel tedavi stratejileri için geliştirilebilir. RL modeli farklı çevrelerde test edilerek güvenilirliği değerlendirilebilir.</a:t>
          </a:r>
        </a:p>
      </dsp:txBody>
      <dsp:txXfrm>
        <a:off x="2002431" y="3813297"/>
        <a:ext cx="3053974" cy="16005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98B9FA-3A52-4B59-AE26-2F2EC8E1A691}">
      <dsp:nvSpPr>
        <dsp:cNvPr id="0" name=""/>
        <dsp:cNvSpPr/>
      </dsp:nvSpPr>
      <dsp:spPr>
        <a:xfrm>
          <a:off x="0" y="169094"/>
          <a:ext cx="5998465" cy="783168"/>
        </a:xfrm>
        <a:prstGeom prst="roundRect">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tr-TR" sz="1400" b="1" i="0" kern="1200" baseline="0"/>
            <a:t>Hafıza skorlarındaki iyileşme ve doz ilişkisi</a:t>
          </a:r>
          <a:r>
            <a:rPr lang="tr-TR" sz="1400" b="0" i="0" kern="1200" baseline="0"/>
            <a:t>, ilacın etkin olduğunu ve tedavi stratejilerinin optimize edilebileceğini gösteriyor.</a:t>
          </a:r>
          <a:endParaRPr lang="tr-TR" sz="1400" kern="1200"/>
        </a:p>
      </dsp:txBody>
      <dsp:txXfrm>
        <a:off x="38231" y="207325"/>
        <a:ext cx="5922003" cy="706706"/>
      </dsp:txXfrm>
    </dsp:sp>
    <dsp:sp modelId="{C039D716-E926-4FCF-8B68-49B6C31EC9B8}">
      <dsp:nvSpPr>
        <dsp:cNvPr id="0" name=""/>
        <dsp:cNvSpPr/>
      </dsp:nvSpPr>
      <dsp:spPr>
        <a:xfrm>
          <a:off x="0" y="992583"/>
          <a:ext cx="5998465" cy="783168"/>
        </a:xfrm>
        <a:prstGeom prst="roundRect">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tr-TR" sz="1400" b="1" i="0" kern="1200" baseline="0"/>
            <a:t>RL modelinin performans artışı</a:t>
          </a:r>
          <a:r>
            <a:rPr lang="tr-TR" sz="1400" b="0" i="0" kern="1200" baseline="0"/>
            <a:t>, algoritmanın çevreyi öğrenme ve etkili bir politika geliştirme yeteneğini doğruluyor, bu da yapay zeka tabanlı modellemelerin karar destek sistemlerinde uygulanabilirliğini destekliyor.</a:t>
          </a:r>
          <a:endParaRPr lang="tr-TR" sz="1400" kern="1200"/>
        </a:p>
      </dsp:txBody>
      <dsp:txXfrm>
        <a:off x="38231" y="1030814"/>
        <a:ext cx="5922003" cy="706706"/>
      </dsp:txXfrm>
    </dsp:sp>
    <dsp:sp modelId="{447E8E37-0698-43AB-805C-F51AE516098F}">
      <dsp:nvSpPr>
        <dsp:cNvPr id="0" name=""/>
        <dsp:cNvSpPr/>
      </dsp:nvSpPr>
      <dsp:spPr>
        <a:xfrm>
          <a:off x="0" y="1816071"/>
          <a:ext cx="5998465" cy="783168"/>
        </a:xfrm>
        <a:prstGeom prst="roundRect">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tr-TR" sz="1400" b="1" i="0" kern="1200" baseline="0"/>
            <a:t>Yaşın minimal etkisi</a:t>
          </a:r>
          <a:r>
            <a:rPr lang="tr-TR" sz="1400" b="0" i="0" kern="1200" baseline="0"/>
            <a:t>, ilacın farklı yaş gruplarında benzer şekilde işlediğini ve doz-yanıt ilişkisinin yaş faktöründen bağımsız öğrenilebileceğini gösteriyor.</a:t>
          </a:r>
          <a:endParaRPr lang="tr-TR" sz="1400" kern="1200"/>
        </a:p>
      </dsp:txBody>
      <dsp:txXfrm>
        <a:off x="38231" y="1854302"/>
        <a:ext cx="5922003" cy="706706"/>
      </dsp:txXfrm>
    </dsp:sp>
    <dsp:sp modelId="{F95C2C1F-252B-4B0E-A55C-2A387A7104AD}">
      <dsp:nvSpPr>
        <dsp:cNvPr id="0" name=""/>
        <dsp:cNvSpPr/>
      </dsp:nvSpPr>
      <dsp:spPr>
        <a:xfrm>
          <a:off x="0" y="2639560"/>
          <a:ext cx="5998465" cy="783168"/>
        </a:xfrm>
        <a:prstGeom prst="roundRect">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tr-TR" sz="1400" b="1" i="0" kern="1200" baseline="0"/>
            <a:t>Dengeli doz dağılımı ve veri eksiksizliği</a:t>
          </a:r>
          <a:r>
            <a:rPr lang="tr-TR" sz="1400" b="0" i="0" kern="1200" baseline="0"/>
            <a:t>, analizlerin güvenilirliğini artırmış ve sağlam bir temel oluşturmuştur.</a:t>
          </a:r>
          <a:endParaRPr lang="tr-TR" sz="1400" kern="1200"/>
        </a:p>
      </dsp:txBody>
      <dsp:txXfrm>
        <a:off x="38231" y="2677791"/>
        <a:ext cx="5922003" cy="70670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B2888E-5BCD-4C5F-A8B2-A2A75C3601F8}">
      <dsp:nvSpPr>
        <dsp:cNvPr id="0" name=""/>
        <dsp:cNvSpPr/>
      </dsp:nvSpPr>
      <dsp:spPr>
        <a:xfrm>
          <a:off x="0" y="4464"/>
          <a:ext cx="5166360" cy="18532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just" defTabSz="800100">
            <a:lnSpc>
              <a:spcPct val="90000"/>
            </a:lnSpc>
            <a:spcBef>
              <a:spcPct val="0"/>
            </a:spcBef>
            <a:spcAft>
              <a:spcPct val="35000"/>
            </a:spcAft>
            <a:buNone/>
          </a:pPr>
          <a:r>
            <a:rPr lang="tr-TR" sz="1800" kern="1200" dirty="0"/>
            <a:t>Bu çalışma, ilaç dozlarının hafıza performansını artırdığını ve bireyler arası farklılıkların önemli olduğunu göstermiştir. Yaşın etkisi minimalken, doz-yanıt ilişkisi belirleyicidir. Hafıza skorlarındaki iyileşme tedavinin etkinliğini kanıtlamaktadır. </a:t>
          </a:r>
        </a:p>
      </dsp:txBody>
      <dsp:txXfrm>
        <a:off x="90470" y="94934"/>
        <a:ext cx="4985420" cy="1672340"/>
      </dsp:txXfrm>
    </dsp:sp>
    <dsp:sp modelId="{10B133C3-938A-4680-BC49-B36241E83AC6}">
      <dsp:nvSpPr>
        <dsp:cNvPr id="0" name=""/>
        <dsp:cNvSpPr/>
      </dsp:nvSpPr>
      <dsp:spPr>
        <a:xfrm>
          <a:off x="0" y="1909584"/>
          <a:ext cx="5166360" cy="18532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just" defTabSz="800100">
            <a:lnSpc>
              <a:spcPct val="90000"/>
            </a:lnSpc>
            <a:spcBef>
              <a:spcPct val="0"/>
            </a:spcBef>
            <a:spcAft>
              <a:spcPct val="35000"/>
            </a:spcAft>
            <a:buNone/>
          </a:pPr>
          <a:r>
            <a:rPr lang="tr-TR" sz="1800" kern="1200" dirty="0"/>
            <a:t>RL modeli, eğitim ve optimizasyon sürecinde performansını artırarak güvenilir kararlar üretebilmiştir. Sonuç olarak, çalışma ilaç etkilerini ve yapay zekâ tabanlı öğrenme süreçlerini başarılı şekilde değerlendirmiştir.</a:t>
          </a:r>
        </a:p>
      </dsp:txBody>
      <dsp:txXfrm>
        <a:off x="90470" y="2000054"/>
        <a:ext cx="4985420" cy="1672340"/>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12/11/2025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80803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12/11/2025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40231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12/11/2025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6540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12/11/2025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76435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12/11/2025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60788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12/11/2025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27285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12/11/2025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3969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12/11/2025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59048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12/11/2025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80147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12/11/2025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68495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12/11/2025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1097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12/11/2025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222285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12" Type="http://schemas.openxmlformats.org/officeDocument/2006/relationships/image" Target="../media/image12.png"/><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4.xml"/><Relationship Id="rId5" Type="http://schemas.openxmlformats.org/officeDocument/2006/relationships/image" Target="../media/image17.sv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8" Type="http://schemas.openxmlformats.org/officeDocument/2006/relationships/diagramLayout" Target="../diagrams/layout6.xml"/><Relationship Id="rId13" Type="http://schemas.openxmlformats.org/officeDocument/2006/relationships/image" Target="../media/image19.svg"/><Relationship Id="rId3" Type="http://schemas.openxmlformats.org/officeDocument/2006/relationships/diagramLayout" Target="../diagrams/layout5.xml"/><Relationship Id="rId7" Type="http://schemas.openxmlformats.org/officeDocument/2006/relationships/diagramData" Target="../diagrams/data6.xml"/><Relationship Id="rId12" Type="http://schemas.openxmlformats.org/officeDocument/2006/relationships/image" Target="../media/image18.png"/><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20.jpeg"/><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a:extLst>
              <a:ext uri="{FF2B5EF4-FFF2-40B4-BE49-F238E27FC236}">
                <a16:creationId xmlns:a16="http://schemas.microsoft.com/office/drawing/2014/main" id="{F8CD9B8B-6378-25F2-2E10-DD4D4E2082BB}"/>
              </a:ext>
            </a:extLst>
          </p:cNvPr>
          <p:cNvPicPr>
            <a:picLocks noChangeAspect="1"/>
          </p:cNvPicPr>
          <p:nvPr/>
        </p:nvPicPr>
        <p:blipFill>
          <a:blip r:embed="rId2"/>
          <a:srcRect/>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912025B4-7337-735E-4DC9-E634D2011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20000"/>
                </a:schemeClr>
              </a:gs>
              <a:gs pos="26000">
                <a:schemeClr val="bg1">
                  <a:alpha val="7000"/>
                </a:schemeClr>
              </a:gs>
              <a:gs pos="100000">
                <a:schemeClr val="bg1">
                  <a:alpha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Başlık 1">
            <a:extLst>
              <a:ext uri="{FF2B5EF4-FFF2-40B4-BE49-F238E27FC236}">
                <a16:creationId xmlns:a16="http://schemas.microsoft.com/office/drawing/2014/main" id="{4915D247-FBFA-24C6-285E-C4920106D4B6}"/>
              </a:ext>
            </a:extLst>
          </p:cNvPr>
          <p:cNvSpPr>
            <a:spLocks noGrp="1"/>
          </p:cNvSpPr>
          <p:nvPr>
            <p:ph type="ctrTitle"/>
          </p:nvPr>
        </p:nvSpPr>
        <p:spPr>
          <a:xfrm>
            <a:off x="438910" y="978408"/>
            <a:ext cx="4795819" cy="3969960"/>
          </a:xfrm>
        </p:spPr>
        <p:txBody>
          <a:bodyPr anchor="t">
            <a:normAutofit/>
          </a:bodyPr>
          <a:lstStyle/>
          <a:p>
            <a:pPr>
              <a:lnSpc>
                <a:spcPct val="90000"/>
              </a:lnSpc>
            </a:pPr>
            <a:r>
              <a:rPr lang="tr-TR" sz="3100" dirty="0"/>
              <a:t>“HAFIZA TESTİ SONUÇLARINA DAYALI ANTİ-ANKSİYETE İLAÇ DOZU STRATEJİSİNİN REINFORCE ALGORİTMASI İLE ÖĞRENİLMESİ” </a:t>
            </a:r>
          </a:p>
        </p:txBody>
      </p:sp>
      <p:sp>
        <p:nvSpPr>
          <p:cNvPr id="3" name="Alt Başlık 2">
            <a:extLst>
              <a:ext uri="{FF2B5EF4-FFF2-40B4-BE49-F238E27FC236}">
                <a16:creationId xmlns:a16="http://schemas.microsoft.com/office/drawing/2014/main" id="{DEDB72D3-A716-5E39-A8C9-B58E70168C4F}"/>
              </a:ext>
            </a:extLst>
          </p:cNvPr>
          <p:cNvSpPr>
            <a:spLocks noGrp="1"/>
          </p:cNvSpPr>
          <p:nvPr>
            <p:ph type="subTitle" idx="1"/>
          </p:nvPr>
        </p:nvSpPr>
        <p:spPr>
          <a:xfrm>
            <a:off x="438910" y="4948369"/>
            <a:ext cx="4381634" cy="1157436"/>
          </a:xfrm>
        </p:spPr>
        <p:txBody>
          <a:bodyPr anchor="b">
            <a:normAutofit/>
          </a:bodyPr>
          <a:lstStyle/>
          <a:p>
            <a:pPr>
              <a:lnSpc>
                <a:spcPct val="100000"/>
              </a:lnSpc>
            </a:pPr>
            <a:r>
              <a:rPr lang="tr-TR" sz="1700" b="1" dirty="0"/>
              <a:t>Hazırlayan: </a:t>
            </a:r>
            <a:r>
              <a:rPr lang="tr-TR" sz="1700" dirty="0"/>
              <a:t>Esra Ayvaz B211200045</a:t>
            </a:r>
          </a:p>
          <a:p>
            <a:pPr>
              <a:lnSpc>
                <a:spcPct val="100000"/>
              </a:lnSpc>
            </a:pPr>
            <a:r>
              <a:rPr lang="en-US" sz="1700" b="1" dirty="0"/>
              <a:t>Dan</a:t>
            </a:r>
            <a:r>
              <a:rPr lang="tr-TR" sz="1700" b="1" dirty="0"/>
              <a:t>ı</a:t>
            </a:r>
            <a:r>
              <a:rPr lang="en-US" sz="1700" b="1" dirty="0" err="1"/>
              <a:t>şma</a:t>
            </a:r>
            <a:r>
              <a:rPr lang="tr-TR" sz="1700" b="1" dirty="0"/>
              <a:t>n: </a:t>
            </a:r>
            <a:r>
              <a:rPr lang="en-US" sz="1700" dirty="0"/>
              <a:t>Dr. </a:t>
            </a:r>
            <a:r>
              <a:rPr lang="en-US" sz="1700" dirty="0" err="1"/>
              <a:t>Öğr</a:t>
            </a:r>
            <a:r>
              <a:rPr lang="en-US" sz="1700" dirty="0"/>
              <a:t>. </a:t>
            </a:r>
            <a:r>
              <a:rPr lang="en-US" sz="1700" dirty="0" err="1"/>
              <a:t>Üyesi</a:t>
            </a:r>
            <a:r>
              <a:rPr lang="en-US" sz="1700" dirty="0"/>
              <a:t> Fatma A</a:t>
            </a:r>
            <a:r>
              <a:rPr lang="tr-TR" sz="1700" dirty="0"/>
              <a:t>kalın</a:t>
            </a:r>
          </a:p>
          <a:p>
            <a:pPr>
              <a:lnSpc>
                <a:spcPct val="100000"/>
              </a:lnSpc>
            </a:pPr>
            <a:r>
              <a:rPr lang="tr-TR" sz="1700" b="1" dirty="0"/>
              <a:t>Ders: </a:t>
            </a:r>
            <a:r>
              <a:rPr lang="tr-TR" sz="1700" dirty="0"/>
              <a:t>Tıpta Yapay Zeka</a:t>
            </a:r>
          </a:p>
          <a:p>
            <a:pPr>
              <a:lnSpc>
                <a:spcPct val="100000"/>
              </a:lnSpc>
            </a:pPr>
            <a:endParaRPr lang="tr-TR" sz="1700" dirty="0"/>
          </a:p>
        </p:txBody>
      </p:sp>
      <p:sp>
        <p:nvSpPr>
          <p:cNvPr id="13" name="Rectangle 12">
            <a:extLst>
              <a:ext uri="{FF2B5EF4-FFF2-40B4-BE49-F238E27FC236}">
                <a16:creationId xmlns:a16="http://schemas.microsoft.com/office/drawing/2014/main" id="{150CDACD-D191-E642-F686-FCB54B7E5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9570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55626777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6E25C0C-715E-F08A-0002-2E1BB8DC457E}"/>
              </a:ext>
            </a:extLst>
          </p:cNvPr>
          <p:cNvSpPr>
            <a:spLocks noGrp="1"/>
          </p:cNvSpPr>
          <p:nvPr>
            <p:ph type="title"/>
          </p:nvPr>
        </p:nvSpPr>
        <p:spPr/>
        <p:txBody>
          <a:bodyPr/>
          <a:lstStyle/>
          <a:p>
            <a:pPr algn="ctr"/>
            <a:r>
              <a:rPr lang="tr-TR" dirty="0"/>
              <a:t>İÇİNDEKİLER</a:t>
            </a:r>
          </a:p>
        </p:txBody>
      </p:sp>
      <p:sp>
        <p:nvSpPr>
          <p:cNvPr id="3" name="İçerik Yer Tutucusu 2">
            <a:extLst>
              <a:ext uri="{FF2B5EF4-FFF2-40B4-BE49-F238E27FC236}">
                <a16:creationId xmlns:a16="http://schemas.microsoft.com/office/drawing/2014/main" id="{F6C0888E-CE4A-9E62-FCFB-CF5A6DD81CDA}"/>
              </a:ext>
            </a:extLst>
          </p:cNvPr>
          <p:cNvSpPr>
            <a:spLocks noGrp="1"/>
          </p:cNvSpPr>
          <p:nvPr>
            <p:ph sz="half" idx="1"/>
          </p:nvPr>
        </p:nvSpPr>
        <p:spPr/>
        <p:txBody>
          <a:bodyPr>
            <a:normAutofit/>
          </a:bodyPr>
          <a:lstStyle/>
          <a:p>
            <a:pPr>
              <a:buFont typeface="Wingdings" panose="05000000000000000000" pitchFamily="2" charset="2"/>
              <a:buChar char="Ø"/>
            </a:pPr>
            <a:r>
              <a:rPr lang="tr-TR" b="1" dirty="0"/>
              <a:t>ÖZET</a:t>
            </a:r>
          </a:p>
          <a:p>
            <a:pPr lvl="1"/>
            <a:r>
              <a:rPr lang="tr-TR" dirty="0"/>
              <a:t>VERİ SETİ</a:t>
            </a:r>
          </a:p>
          <a:p>
            <a:pPr lvl="1"/>
            <a:r>
              <a:rPr lang="tr-TR" dirty="0"/>
              <a:t>ÇALIŞMANIN KAPSAMI</a:t>
            </a:r>
          </a:p>
          <a:p>
            <a:pPr>
              <a:buFont typeface="Wingdings" panose="05000000000000000000" pitchFamily="2" charset="2"/>
              <a:buChar char="Ø"/>
            </a:pPr>
            <a:r>
              <a:rPr lang="tr-TR" b="1" dirty="0"/>
              <a:t>YÖNTEM</a:t>
            </a:r>
          </a:p>
          <a:p>
            <a:pPr lvl="1"/>
            <a:r>
              <a:rPr lang="tr-TR" dirty="0"/>
              <a:t>KEŞİFSEL VERİ ANALİZİ (EDA)</a:t>
            </a:r>
          </a:p>
          <a:p>
            <a:pPr lvl="1"/>
            <a:r>
              <a:rPr lang="tr-TR" dirty="0"/>
              <a:t>VERİ GÖRSELLEŞTİRME</a:t>
            </a:r>
          </a:p>
          <a:p>
            <a:pPr lvl="1"/>
            <a:r>
              <a:rPr lang="tr-TR" dirty="0"/>
              <a:t>VERİ ÖNİŞLEME</a:t>
            </a:r>
          </a:p>
          <a:p>
            <a:pPr lvl="1"/>
            <a:r>
              <a:rPr lang="tr-TR" dirty="0"/>
              <a:t>MODELLEME VE REİNFORCEMENT LEARNİNG SÜRECİ</a:t>
            </a:r>
          </a:p>
          <a:p>
            <a:pPr lvl="1"/>
            <a:r>
              <a:rPr lang="tr-TR" dirty="0"/>
              <a:t>OPTİMİZASYON</a:t>
            </a:r>
          </a:p>
          <a:p>
            <a:pPr lvl="1"/>
            <a:r>
              <a:rPr lang="tr-TR" dirty="0"/>
              <a:t>MODEL PERFORMANS ANALİZİ</a:t>
            </a:r>
          </a:p>
        </p:txBody>
      </p:sp>
      <p:sp>
        <p:nvSpPr>
          <p:cNvPr id="4" name="İçerik Yer Tutucusu 3">
            <a:extLst>
              <a:ext uri="{FF2B5EF4-FFF2-40B4-BE49-F238E27FC236}">
                <a16:creationId xmlns:a16="http://schemas.microsoft.com/office/drawing/2014/main" id="{E3D11528-F598-D9E2-9521-CF288D32012B}"/>
              </a:ext>
            </a:extLst>
          </p:cNvPr>
          <p:cNvSpPr>
            <a:spLocks noGrp="1"/>
          </p:cNvSpPr>
          <p:nvPr>
            <p:ph sz="half" idx="2"/>
          </p:nvPr>
        </p:nvSpPr>
        <p:spPr/>
        <p:txBody>
          <a:bodyPr>
            <a:normAutofit/>
          </a:bodyPr>
          <a:lstStyle/>
          <a:p>
            <a:pPr>
              <a:buFont typeface="Wingdings" panose="05000000000000000000" pitchFamily="2" charset="2"/>
              <a:buChar char="Ø"/>
            </a:pPr>
            <a:r>
              <a:rPr lang="tr-TR" b="1" dirty="0"/>
              <a:t>DENEYSEL SONUÇLAR</a:t>
            </a:r>
          </a:p>
          <a:p>
            <a:pPr lvl="1"/>
            <a:r>
              <a:rPr lang="tr-TR" dirty="0"/>
              <a:t>GENEL VERİ SETİ BULGULARI</a:t>
            </a:r>
          </a:p>
          <a:p>
            <a:pPr lvl="1"/>
            <a:r>
              <a:rPr lang="tr-TR" dirty="0"/>
              <a:t>VERİ GÖRSELLERİ</a:t>
            </a:r>
          </a:p>
          <a:p>
            <a:pPr lvl="1"/>
            <a:r>
              <a:rPr lang="tr-TR" dirty="0"/>
              <a:t>MODEL PERFORMANSI VE TEST BULGULARI</a:t>
            </a:r>
          </a:p>
          <a:p>
            <a:pPr>
              <a:buFont typeface="Wingdings" panose="05000000000000000000" pitchFamily="2" charset="2"/>
              <a:buChar char="Ø"/>
            </a:pPr>
            <a:r>
              <a:rPr lang="tr-TR" b="1" dirty="0"/>
              <a:t>DEĞERLENDİRME</a:t>
            </a:r>
          </a:p>
          <a:p>
            <a:pPr lvl="1"/>
            <a:r>
              <a:rPr lang="tr-TR" dirty="0"/>
              <a:t>VERİ SETİNİN YORUMU</a:t>
            </a:r>
          </a:p>
          <a:p>
            <a:pPr lvl="1"/>
            <a:r>
              <a:rPr lang="tr-TR" dirty="0"/>
              <a:t>MODEL PERFORMANSININ İNCELENMESİ</a:t>
            </a:r>
          </a:p>
          <a:p>
            <a:pPr>
              <a:buFont typeface="Wingdings" panose="05000000000000000000" pitchFamily="2" charset="2"/>
              <a:buChar char="Ø"/>
            </a:pPr>
            <a:r>
              <a:rPr lang="tr-TR" b="1" dirty="0"/>
              <a:t>TARTIŞMA</a:t>
            </a:r>
          </a:p>
          <a:p>
            <a:pPr lvl="1"/>
            <a:r>
              <a:rPr lang="tr-TR" dirty="0"/>
              <a:t>ÇALIŞMANIN ÇIKARIMLARI</a:t>
            </a:r>
          </a:p>
          <a:p>
            <a:pPr lvl="1"/>
            <a:r>
              <a:rPr lang="tr-TR" dirty="0"/>
              <a:t>SONUÇ</a:t>
            </a:r>
          </a:p>
        </p:txBody>
      </p:sp>
      <p:pic>
        <p:nvPicPr>
          <p:cNvPr id="7" name="Resim 6">
            <a:extLst>
              <a:ext uri="{FF2B5EF4-FFF2-40B4-BE49-F238E27FC236}">
                <a16:creationId xmlns:a16="http://schemas.microsoft.com/office/drawing/2014/main" id="{D7E6AB05-5570-38B5-9621-9782EB236F3E}"/>
              </a:ext>
            </a:extLst>
          </p:cNvPr>
          <p:cNvPicPr>
            <a:picLocks noChangeAspect="1"/>
          </p:cNvPicPr>
          <p:nvPr/>
        </p:nvPicPr>
        <p:blipFill>
          <a:blip r:embed="rId2"/>
          <a:stretch>
            <a:fillRect/>
          </a:stretch>
        </p:blipFill>
        <p:spPr>
          <a:xfrm>
            <a:off x="9259062" y="4469892"/>
            <a:ext cx="3037713" cy="2819400"/>
          </a:xfrm>
          <a:prstGeom prst="rect">
            <a:avLst/>
          </a:prstGeom>
          <a:scene3d>
            <a:camera prst="orthographicFront">
              <a:rot lat="0" lon="0" rev="0"/>
            </a:camera>
            <a:lightRig rig="threePt" dir="t"/>
          </a:scene3d>
        </p:spPr>
      </p:pic>
      <p:pic>
        <p:nvPicPr>
          <p:cNvPr id="8" name="Resim 7">
            <a:extLst>
              <a:ext uri="{FF2B5EF4-FFF2-40B4-BE49-F238E27FC236}">
                <a16:creationId xmlns:a16="http://schemas.microsoft.com/office/drawing/2014/main" id="{6847DE92-BCAA-A0F3-4766-0E56883FD0B0}"/>
              </a:ext>
            </a:extLst>
          </p:cNvPr>
          <p:cNvPicPr>
            <a:picLocks noChangeAspect="1"/>
          </p:cNvPicPr>
          <p:nvPr/>
        </p:nvPicPr>
        <p:blipFill>
          <a:blip r:embed="rId3"/>
          <a:stretch>
            <a:fillRect/>
          </a:stretch>
        </p:blipFill>
        <p:spPr>
          <a:xfrm>
            <a:off x="85725" y="495490"/>
            <a:ext cx="2438399" cy="1840421"/>
          </a:xfrm>
          <a:prstGeom prst="rect">
            <a:avLst/>
          </a:prstGeom>
          <a:scene3d>
            <a:camera prst="orthographicFront">
              <a:rot lat="0" lon="0" rev="2400000"/>
            </a:camera>
            <a:lightRig rig="threePt" dir="t"/>
          </a:scene3d>
        </p:spPr>
      </p:pic>
    </p:spTree>
    <p:extLst>
      <p:ext uri="{BB962C8B-B14F-4D97-AF65-F5344CB8AC3E}">
        <p14:creationId xmlns:p14="http://schemas.microsoft.com/office/powerpoint/2010/main" val="910277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3D53574-0F0B-0976-366E-C50DBD0ED55C}"/>
              </a:ext>
            </a:extLst>
          </p:cNvPr>
          <p:cNvSpPr>
            <a:spLocks noGrp="1"/>
          </p:cNvSpPr>
          <p:nvPr>
            <p:ph type="title"/>
          </p:nvPr>
        </p:nvSpPr>
        <p:spPr>
          <a:xfrm>
            <a:off x="521208" y="978408"/>
            <a:ext cx="11155680" cy="1289304"/>
          </a:xfrm>
        </p:spPr>
        <p:txBody>
          <a:bodyPr>
            <a:normAutofit fontScale="90000"/>
          </a:bodyPr>
          <a:lstStyle/>
          <a:p>
            <a:r>
              <a:rPr lang="tr-TR" sz="4900" dirty="0"/>
              <a:t>ÖZET</a:t>
            </a:r>
            <a:br>
              <a:rPr lang="tr-TR" dirty="0"/>
            </a:br>
            <a:br>
              <a:rPr lang="tr-TR" dirty="0"/>
            </a:br>
            <a:r>
              <a:rPr lang="tr-TR" sz="3100" dirty="0"/>
              <a:t>VERİ SETİ                                                  ÇALIŞMANIN KAPSAMI</a:t>
            </a:r>
          </a:p>
        </p:txBody>
      </p:sp>
      <p:sp>
        <p:nvSpPr>
          <p:cNvPr id="3" name="İçerik Yer Tutucusu 2">
            <a:extLst>
              <a:ext uri="{FF2B5EF4-FFF2-40B4-BE49-F238E27FC236}">
                <a16:creationId xmlns:a16="http://schemas.microsoft.com/office/drawing/2014/main" id="{E707B1C1-D493-F130-6D7F-96AA3F29BEAA}"/>
              </a:ext>
            </a:extLst>
          </p:cNvPr>
          <p:cNvSpPr>
            <a:spLocks noGrp="1"/>
          </p:cNvSpPr>
          <p:nvPr>
            <p:ph sz="half" idx="1"/>
          </p:nvPr>
        </p:nvSpPr>
        <p:spPr/>
        <p:txBody>
          <a:bodyPr>
            <a:normAutofit lnSpcReduction="10000"/>
          </a:bodyPr>
          <a:lstStyle/>
          <a:p>
            <a:endParaRPr lang="tr-TR" dirty="0"/>
          </a:p>
          <a:p>
            <a:pPr marL="0" indent="0" algn="just">
              <a:buNone/>
            </a:pPr>
            <a:r>
              <a:rPr lang="tr-TR" dirty="0"/>
              <a:t>“Memory Test on </a:t>
            </a:r>
            <a:r>
              <a:rPr lang="tr-TR" dirty="0" err="1"/>
              <a:t>Drugged</a:t>
            </a:r>
            <a:r>
              <a:rPr lang="tr-TR" dirty="0"/>
              <a:t> </a:t>
            </a:r>
            <a:r>
              <a:rPr lang="tr-TR" dirty="0" err="1"/>
              <a:t>Islanders</a:t>
            </a:r>
            <a:r>
              <a:rPr lang="tr-TR" dirty="0"/>
              <a:t>” veri seti, anti-anksiyete ilaçlarının hafıza performansına etkisini incelemek için kullanılmıştır. Katılımcıların yaş, ilaç dozu ve türü, hafıza ön-test ve son-test sonuçları ile duygusal durumları (</a:t>
            </a:r>
            <a:r>
              <a:rPr lang="tr-TR" dirty="0" err="1"/>
              <a:t>Happy</a:t>
            </a:r>
            <a:r>
              <a:rPr lang="tr-TR" dirty="0"/>
              <a:t>/Sad) yer almakta, </a:t>
            </a:r>
            <a:r>
              <a:rPr lang="tr-TR" i="1" dirty="0" err="1"/>
              <a:t>Diff</a:t>
            </a:r>
            <a:r>
              <a:rPr lang="tr-TR" dirty="0"/>
              <a:t> değişkeniyle hafıza değişimi değerlendirilmektedir.</a:t>
            </a:r>
          </a:p>
        </p:txBody>
      </p:sp>
      <p:sp>
        <p:nvSpPr>
          <p:cNvPr id="4" name="İçerik Yer Tutucusu 3">
            <a:extLst>
              <a:ext uri="{FF2B5EF4-FFF2-40B4-BE49-F238E27FC236}">
                <a16:creationId xmlns:a16="http://schemas.microsoft.com/office/drawing/2014/main" id="{D43E3D2D-F100-76EA-DF72-0FD90FD59196}"/>
              </a:ext>
            </a:extLst>
          </p:cNvPr>
          <p:cNvSpPr>
            <a:spLocks noGrp="1"/>
          </p:cNvSpPr>
          <p:nvPr>
            <p:ph sz="half" idx="2"/>
          </p:nvPr>
        </p:nvSpPr>
        <p:spPr/>
        <p:txBody>
          <a:bodyPr>
            <a:normAutofit lnSpcReduction="10000"/>
          </a:bodyPr>
          <a:lstStyle/>
          <a:p>
            <a:pPr marL="0" indent="0">
              <a:buNone/>
            </a:pPr>
            <a:endParaRPr lang="tr-TR" dirty="0"/>
          </a:p>
          <a:p>
            <a:pPr marL="0" indent="0" algn="just">
              <a:buNone/>
            </a:pPr>
            <a:r>
              <a:rPr lang="tr-TR" dirty="0"/>
              <a:t>Bu çalışma, belirli bir hasta grubunda ilaç dozajını optimize etmek için offline </a:t>
            </a:r>
            <a:r>
              <a:rPr lang="tr-TR" dirty="0" err="1"/>
              <a:t>reinforcement</a:t>
            </a:r>
            <a:r>
              <a:rPr lang="tr-TR" dirty="0"/>
              <a:t> </a:t>
            </a:r>
            <a:r>
              <a:rPr lang="tr-TR" dirty="0" err="1"/>
              <a:t>learning</a:t>
            </a:r>
            <a:r>
              <a:rPr lang="tr-TR" dirty="0"/>
              <a:t> (RL) tabanlı bir model geliştirmeyi amaçlamaktadır. Veri seti ön işleme ve temel istatistiklerle incelenmiş, ajan–çevre etkileşimi simüle edilmiş ve geçmiş veri ile bir politika ağı eğitilmiştir. Modelin performansı toplam ödül ve denge süresi gibi metriklerle değerlendirilmiş, çalışma veri temelli dozaj optimizasyonu ve offline RL yöntemlerinin uygulanabilirliğini göstermektedir.</a:t>
            </a:r>
          </a:p>
          <a:p>
            <a:endParaRPr lang="tr-TR" dirty="0"/>
          </a:p>
        </p:txBody>
      </p:sp>
      <p:pic>
        <p:nvPicPr>
          <p:cNvPr id="5" name="Resim 4">
            <a:extLst>
              <a:ext uri="{FF2B5EF4-FFF2-40B4-BE49-F238E27FC236}">
                <a16:creationId xmlns:a16="http://schemas.microsoft.com/office/drawing/2014/main" id="{2DA45D71-0A5C-453E-9652-49D4CE08768E}"/>
              </a:ext>
            </a:extLst>
          </p:cNvPr>
          <p:cNvPicPr>
            <a:picLocks noChangeAspect="1"/>
          </p:cNvPicPr>
          <p:nvPr/>
        </p:nvPicPr>
        <p:blipFill>
          <a:blip r:embed="rId2"/>
          <a:stretch>
            <a:fillRect/>
          </a:stretch>
        </p:blipFill>
        <p:spPr>
          <a:xfrm>
            <a:off x="1118616" y="4848606"/>
            <a:ext cx="3044952" cy="2061972"/>
          </a:xfrm>
          <a:prstGeom prst="rect">
            <a:avLst/>
          </a:prstGeom>
        </p:spPr>
      </p:pic>
      <p:pic>
        <p:nvPicPr>
          <p:cNvPr id="7" name="Grafik 6" descr="Kafa içinde beyin ana hat">
            <a:extLst>
              <a:ext uri="{FF2B5EF4-FFF2-40B4-BE49-F238E27FC236}">
                <a16:creationId xmlns:a16="http://schemas.microsoft.com/office/drawing/2014/main" id="{514EEE94-6883-C9C4-4F9F-26F90C4AC5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6512" y="5056632"/>
            <a:ext cx="1274064" cy="1289304"/>
          </a:xfrm>
          <a:prstGeom prst="rect">
            <a:avLst/>
          </a:prstGeom>
        </p:spPr>
      </p:pic>
    </p:spTree>
    <p:extLst>
      <p:ext uri="{BB962C8B-B14F-4D97-AF65-F5344CB8AC3E}">
        <p14:creationId xmlns:p14="http://schemas.microsoft.com/office/powerpoint/2010/main" val="4264135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B88BC4B-D83B-9FEF-F07F-AEED43EC0B90}"/>
              </a:ext>
            </a:extLst>
          </p:cNvPr>
          <p:cNvSpPr>
            <a:spLocks noGrp="1"/>
          </p:cNvSpPr>
          <p:nvPr>
            <p:ph type="title"/>
          </p:nvPr>
        </p:nvSpPr>
        <p:spPr>
          <a:xfrm>
            <a:off x="518160" y="837006"/>
            <a:ext cx="11155680" cy="1463040"/>
          </a:xfrm>
        </p:spPr>
        <p:txBody>
          <a:bodyPr>
            <a:normAutofit/>
          </a:bodyPr>
          <a:lstStyle/>
          <a:p>
            <a:r>
              <a:rPr lang="tr-TR" sz="3600" dirty="0"/>
              <a:t>YÖNTEM</a:t>
            </a:r>
          </a:p>
        </p:txBody>
      </p:sp>
      <p:graphicFrame>
        <p:nvGraphicFramePr>
          <p:cNvPr id="6" name="İçerik Yer Tutucusu 5">
            <a:extLst>
              <a:ext uri="{FF2B5EF4-FFF2-40B4-BE49-F238E27FC236}">
                <a16:creationId xmlns:a16="http://schemas.microsoft.com/office/drawing/2014/main" id="{CA86A3CB-9C05-FE69-D709-212B27CDDA5E}"/>
              </a:ext>
            </a:extLst>
          </p:cNvPr>
          <p:cNvGraphicFramePr>
            <a:graphicFrameLocks noGrp="1"/>
          </p:cNvGraphicFramePr>
          <p:nvPr>
            <p:ph sz="half" idx="1"/>
            <p:extLst>
              <p:ext uri="{D42A27DB-BD31-4B8C-83A1-F6EECF244321}">
                <p14:modId xmlns:p14="http://schemas.microsoft.com/office/powerpoint/2010/main" val="3519516569"/>
              </p:ext>
            </p:extLst>
          </p:nvPr>
        </p:nvGraphicFramePr>
        <p:xfrm>
          <a:off x="518160" y="1709928"/>
          <a:ext cx="1115568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9373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E8BAA160-18A6-38AE-4699-2AD01EF53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9F3482E9-70C4-0A39-43E3-F9CF6682AC95}"/>
              </a:ext>
            </a:extLst>
          </p:cNvPr>
          <p:cNvSpPr>
            <a:spLocks noGrp="1"/>
          </p:cNvSpPr>
          <p:nvPr>
            <p:ph type="title"/>
          </p:nvPr>
        </p:nvSpPr>
        <p:spPr>
          <a:xfrm>
            <a:off x="521208" y="978408"/>
            <a:ext cx="11155680" cy="1463040"/>
          </a:xfrm>
        </p:spPr>
        <p:txBody>
          <a:bodyPr vert="horz" lIns="91440" tIns="45720" rIns="91440" bIns="45720" rtlCol="0" anchor="t">
            <a:normAutofit/>
          </a:bodyPr>
          <a:lstStyle/>
          <a:p>
            <a:pPr>
              <a:lnSpc>
                <a:spcPct val="90000"/>
              </a:lnSpc>
            </a:pPr>
            <a:r>
              <a:rPr lang="en-US" sz="3400" b="1" kern="1200">
                <a:solidFill>
                  <a:schemeClr val="tx1"/>
                </a:solidFill>
                <a:latin typeface="+mj-lt"/>
                <a:ea typeface="+mj-ea"/>
                <a:cs typeface="+mj-cs"/>
              </a:rPr>
              <a:t>MODELLEME VE REINFORCEMENT LEARNING SÜRECİ</a:t>
            </a:r>
            <a:br>
              <a:rPr lang="en-US" sz="3400" b="1" kern="1200">
                <a:solidFill>
                  <a:schemeClr val="tx1"/>
                </a:solidFill>
                <a:latin typeface="+mj-lt"/>
                <a:ea typeface="+mj-ea"/>
                <a:cs typeface="+mj-cs"/>
              </a:rPr>
            </a:br>
            <a:endParaRPr lang="en-US" sz="3400" b="1" kern="1200">
              <a:solidFill>
                <a:schemeClr val="tx1"/>
              </a:solidFill>
              <a:latin typeface="+mj-lt"/>
              <a:ea typeface="+mj-ea"/>
              <a:cs typeface="+mj-cs"/>
            </a:endParaRPr>
          </a:p>
        </p:txBody>
      </p:sp>
      <p:sp>
        <p:nvSpPr>
          <p:cNvPr id="17" name="Rectangle 16">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Rectangle 1">
            <a:extLst>
              <a:ext uri="{FF2B5EF4-FFF2-40B4-BE49-F238E27FC236}">
                <a16:creationId xmlns:a16="http://schemas.microsoft.com/office/drawing/2014/main" id="{479EB915-0E83-0BB2-6B12-8402D85C336C}"/>
              </a:ext>
            </a:extLst>
          </p:cNvPr>
          <p:cNvGraphicFramePr>
            <a:graphicFrameLocks noGrp="1"/>
          </p:cNvGraphicFramePr>
          <p:nvPr>
            <p:ph sz="half" idx="1"/>
            <p:extLst>
              <p:ext uri="{D42A27DB-BD31-4B8C-83A1-F6EECF244321}">
                <p14:modId xmlns:p14="http://schemas.microsoft.com/office/powerpoint/2010/main" val="1419082704"/>
              </p:ext>
            </p:extLst>
          </p:nvPr>
        </p:nvGraphicFramePr>
        <p:xfrm>
          <a:off x="226476" y="2063592"/>
          <a:ext cx="11736000" cy="3816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95529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FF34B3E-A8CC-5E89-8C0E-8FE6EBDB7DAC}"/>
              </a:ext>
            </a:extLst>
          </p:cNvPr>
          <p:cNvSpPr>
            <a:spLocks noGrp="1"/>
          </p:cNvSpPr>
          <p:nvPr>
            <p:ph type="title"/>
          </p:nvPr>
        </p:nvSpPr>
        <p:spPr>
          <a:xfrm>
            <a:off x="3755136" y="1051560"/>
            <a:ext cx="7906512" cy="713232"/>
          </a:xfrm>
        </p:spPr>
        <p:txBody>
          <a:bodyPr>
            <a:noAutofit/>
          </a:bodyPr>
          <a:lstStyle/>
          <a:p>
            <a:pPr lvl="1"/>
            <a:r>
              <a:rPr lang="tr-TR" sz="2000" b="1" dirty="0"/>
              <a:t>OPTİMİZASYON                           MODEL PERFORMANS ANALİZİ</a:t>
            </a:r>
            <a:br>
              <a:rPr lang="tr-TR" sz="2000" dirty="0"/>
            </a:br>
            <a:endParaRPr lang="tr-TR" sz="2000" dirty="0"/>
          </a:p>
        </p:txBody>
      </p:sp>
      <p:sp>
        <p:nvSpPr>
          <p:cNvPr id="3" name="İçerik Yer Tutucusu 2">
            <a:extLst>
              <a:ext uri="{FF2B5EF4-FFF2-40B4-BE49-F238E27FC236}">
                <a16:creationId xmlns:a16="http://schemas.microsoft.com/office/drawing/2014/main" id="{36149BE6-D39B-7B96-1957-A57EE5066663}"/>
              </a:ext>
            </a:extLst>
          </p:cNvPr>
          <p:cNvSpPr>
            <a:spLocks noGrp="1"/>
          </p:cNvSpPr>
          <p:nvPr>
            <p:ph sz="half" idx="1"/>
          </p:nvPr>
        </p:nvSpPr>
        <p:spPr>
          <a:xfrm>
            <a:off x="3755136" y="1764792"/>
            <a:ext cx="3779520" cy="4489704"/>
          </a:xfrm>
        </p:spPr>
        <p:txBody>
          <a:bodyPr>
            <a:normAutofit fontScale="85000" lnSpcReduction="10000"/>
          </a:bodyPr>
          <a:lstStyle/>
          <a:p>
            <a:pPr marL="0" indent="0" algn="just">
              <a:buNone/>
            </a:pPr>
            <a:r>
              <a:rPr lang="tr-TR" sz="1900" dirty="0"/>
              <a:t>Bu sürümde üç iyileştirme yapılmıştır:</a:t>
            </a:r>
          </a:p>
          <a:p>
            <a:pPr marL="400050" indent="-400050" algn="just">
              <a:buFont typeface="+mj-lt"/>
              <a:buAutoNum type="romanUcPeriod"/>
            </a:pPr>
            <a:r>
              <a:rPr lang="tr-TR" sz="1900" b="1" dirty="0"/>
              <a:t>Öğrenme oranı</a:t>
            </a:r>
            <a:r>
              <a:rPr lang="tr-TR" sz="1900" dirty="0"/>
              <a:t> 0.01'den 0.005'e düşürülerek daha kararlı bir öğrenme süreci sağlanmıştır.</a:t>
            </a:r>
          </a:p>
          <a:p>
            <a:pPr marL="400050" indent="-400050" algn="just">
              <a:buFont typeface="+mj-lt"/>
              <a:buAutoNum type="romanUcPeriod"/>
            </a:pPr>
            <a:r>
              <a:rPr lang="tr-TR" sz="1900" b="1" dirty="0"/>
              <a:t>REINFORCE fonksiyonuna</a:t>
            </a:r>
            <a:r>
              <a:rPr lang="tr-TR" sz="1900" dirty="0"/>
              <a:t> </a:t>
            </a:r>
            <a:r>
              <a:rPr lang="tr-TR" sz="1900" dirty="0" err="1"/>
              <a:t>decay</a:t>
            </a:r>
            <a:r>
              <a:rPr lang="tr-TR" sz="1900" dirty="0"/>
              <a:t> = 0.999 stabilizasyon katsayısı eklenerek politika güncellemelerinin aşırı dalgalanması engellenmiştir.</a:t>
            </a:r>
          </a:p>
          <a:p>
            <a:pPr marL="400050" indent="-400050" algn="just">
              <a:buFont typeface="+mj-lt"/>
              <a:buAutoNum type="romanUcPeriod"/>
            </a:pPr>
            <a:r>
              <a:rPr lang="tr-TR" sz="1900" b="1" dirty="0"/>
              <a:t>Eğitim süresi</a:t>
            </a:r>
            <a:r>
              <a:rPr lang="tr-TR" sz="1900" dirty="0"/>
              <a:t> 800 epizottan 1150 epizoda çıkarılarak politikanın daha olgun ve güvenilir hale gelmesi sağlanmıştır.</a:t>
            </a:r>
          </a:p>
          <a:p>
            <a:pPr marL="0" indent="0" algn="just">
              <a:buNone/>
            </a:pPr>
            <a:r>
              <a:rPr lang="tr-TR" sz="1900" dirty="0"/>
              <a:t>Test aşaması aynı bırakılmış, 100 </a:t>
            </a:r>
            <a:r>
              <a:rPr lang="tr-TR" sz="1900" dirty="0" err="1"/>
              <a:t>epizotluk</a:t>
            </a:r>
            <a:r>
              <a:rPr lang="tr-TR" sz="1900" dirty="0"/>
              <a:t> çoklu test ile karşılaştırılabilir sonuçlar elde edilmiştir.</a:t>
            </a:r>
          </a:p>
          <a:p>
            <a:pPr algn="just"/>
            <a:endParaRPr lang="tr-TR" dirty="0"/>
          </a:p>
        </p:txBody>
      </p:sp>
      <p:sp>
        <p:nvSpPr>
          <p:cNvPr id="4" name="İçerik Yer Tutucusu 3">
            <a:extLst>
              <a:ext uri="{FF2B5EF4-FFF2-40B4-BE49-F238E27FC236}">
                <a16:creationId xmlns:a16="http://schemas.microsoft.com/office/drawing/2014/main" id="{33FA7452-859E-7153-FAEC-08D271791AC8}"/>
              </a:ext>
            </a:extLst>
          </p:cNvPr>
          <p:cNvSpPr>
            <a:spLocks noGrp="1"/>
          </p:cNvSpPr>
          <p:nvPr>
            <p:ph sz="half" idx="2"/>
          </p:nvPr>
        </p:nvSpPr>
        <p:spPr>
          <a:xfrm>
            <a:off x="7571232" y="1810512"/>
            <a:ext cx="4355594" cy="5047488"/>
          </a:xfrm>
        </p:spPr>
        <p:txBody>
          <a:bodyPr>
            <a:noAutofit/>
          </a:bodyPr>
          <a:lstStyle/>
          <a:p>
            <a:pPr algn="just"/>
            <a:r>
              <a:rPr lang="tr-TR" sz="1600" dirty="0"/>
              <a:t>Test aşamasında modelin doğru ve hatalı kararları analiz etmek için her epizot boyunca ajan tarafından alınan ödüller satır </a:t>
            </a:r>
            <a:r>
              <a:rPr lang="tr-TR" sz="1600" dirty="0" err="1"/>
              <a:t>ID’leriyle</a:t>
            </a:r>
            <a:r>
              <a:rPr lang="tr-TR" sz="1600" dirty="0"/>
              <a:t> eşleştirilmiştir. Pozitif ödül alan satırlar </a:t>
            </a:r>
            <a:r>
              <a:rPr lang="tr-TR" sz="1600" dirty="0" err="1"/>
              <a:t>rewarded_ids</a:t>
            </a:r>
            <a:r>
              <a:rPr lang="tr-TR" sz="1600" dirty="0"/>
              <a:t>, sıfır veya negatif ödül alan satırlar ise </a:t>
            </a:r>
            <a:r>
              <a:rPr lang="tr-TR" sz="1600" dirty="0" err="1"/>
              <a:t>punished_ids</a:t>
            </a:r>
            <a:r>
              <a:rPr lang="tr-TR" sz="1600" dirty="0"/>
              <a:t> listesinde toplanmıştır. </a:t>
            </a:r>
          </a:p>
          <a:p>
            <a:pPr algn="just"/>
            <a:r>
              <a:rPr lang="tr-TR" sz="1600" dirty="0"/>
              <a:t>Çizgi grafik ile eğitim sürecindeki toplam ödül değişimleri görselleştirilmiş ve </a:t>
            </a:r>
            <a:r>
              <a:rPr lang="tr-TR" sz="1600" dirty="0" err="1"/>
              <a:t>matplotlib</a:t>
            </a:r>
            <a:r>
              <a:rPr lang="tr-TR" sz="1600" dirty="0"/>
              <a:t> kullanılarak ödüllerdeki dalgalanmalar gösterilmiştir. Bu grafik, modelin performansındaki değişimi epizotlar ilerledikçe net bir şekilde ortaya koymuştur.</a:t>
            </a:r>
          </a:p>
        </p:txBody>
      </p:sp>
      <p:pic>
        <p:nvPicPr>
          <p:cNvPr id="6" name="Resim 5">
            <a:extLst>
              <a:ext uri="{FF2B5EF4-FFF2-40B4-BE49-F238E27FC236}">
                <a16:creationId xmlns:a16="http://schemas.microsoft.com/office/drawing/2014/main" id="{88013FF0-4251-649A-018E-F4248C451563}"/>
              </a:ext>
            </a:extLst>
          </p:cNvPr>
          <p:cNvPicPr>
            <a:picLocks noChangeAspect="1"/>
          </p:cNvPicPr>
          <p:nvPr/>
        </p:nvPicPr>
        <p:blipFill>
          <a:blip r:embed="rId2"/>
          <a:stretch>
            <a:fillRect/>
          </a:stretch>
        </p:blipFill>
        <p:spPr>
          <a:xfrm>
            <a:off x="0" y="512064"/>
            <a:ext cx="3755136" cy="5742432"/>
          </a:xfrm>
          <a:prstGeom prst="rect">
            <a:avLst/>
          </a:prstGeom>
        </p:spPr>
      </p:pic>
    </p:spTree>
    <p:extLst>
      <p:ext uri="{BB962C8B-B14F-4D97-AF65-F5344CB8AC3E}">
        <p14:creationId xmlns:p14="http://schemas.microsoft.com/office/powerpoint/2010/main" val="2903390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7853B6A-4E56-9BD1-620A-DEB2EC12001F}"/>
              </a:ext>
            </a:extLst>
          </p:cNvPr>
          <p:cNvSpPr>
            <a:spLocks noGrp="1"/>
          </p:cNvSpPr>
          <p:nvPr>
            <p:ph type="title"/>
          </p:nvPr>
        </p:nvSpPr>
        <p:spPr>
          <a:xfrm>
            <a:off x="704088" y="877824"/>
            <a:ext cx="10972800" cy="1197864"/>
          </a:xfrm>
        </p:spPr>
        <p:txBody>
          <a:bodyPr>
            <a:normAutofit fontScale="90000"/>
          </a:bodyPr>
          <a:lstStyle/>
          <a:p>
            <a:r>
              <a:rPr lang="tr-TR" sz="4000" dirty="0"/>
              <a:t>DENEYSEL SONUÇLAR</a:t>
            </a:r>
            <a:br>
              <a:rPr lang="tr-TR" dirty="0"/>
            </a:br>
            <a:br>
              <a:rPr lang="tr-TR" dirty="0"/>
            </a:br>
            <a:r>
              <a:rPr lang="tr-TR" sz="2700" dirty="0"/>
              <a:t>GENEL VERİ SETİ BULGULARI</a:t>
            </a:r>
            <a:br>
              <a:rPr lang="tr-TR" sz="2700" dirty="0"/>
            </a:br>
            <a:br>
              <a:rPr lang="tr-TR" dirty="0"/>
            </a:br>
            <a:endParaRPr lang="tr-TR" dirty="0"/>
          </a:p>
        </p:txBody>
      </p:sp>
      <p:sp>
        <p:nvSpPr>
          <p:cNvPr id="3" name="İçerik Yer Tutucusu 2">
            <a:extLst>
              <a:ext uri="{FF2B5EF4-FFF2-40B4-BE49-F238E27FC236}">
                <a16:creationId xmlns:a16="http://schemas.microsoft.com/office/drawing/2014/main" id="{3FFA6E93-EA4B-97FB-D7FF-2502031A5B09}"/>
              </a:ext>
            </a:extLst>
          </p:cNvPr>
          <p:cNvSpPr>
            <a:spLocks noGrp="1"/>
          </p:cNvSpPr>
          <p:nvPr>
            <p:ph sz="half" idx="1"/>
          </p:nvPr>
        </p:nvSpPr>
        <p:spPr>
          <a:xfrm>
            <a:off x="704088" y="2798065"/>
            <a:ext cx="5166360" cy="3767328"/>
          </a:xfrm>
        </p:spPr>
        <p:txBody>
          <a:bodyPr>
            <a:normAutofit/>
          </a:bodyPr>
          <a:lstStyle/>
          <a:p>
            <a:r>
              <a:rPr lang="tr-TR" dirty="0"/>
              <a:t>Katılımcıların yaş ortalaması 39,5 yıl, yaş aralığı 24–83 yıl.</a:t>
            </a:r>
          </a:p>
          <a:p>
            <a:r>
              <a:rPr lang="tr-TR" dirty="0"/>
              <a:t>İlaç türleri 3 kategoriye ayrılmış, dozlar 1–3 arasında değişiyor, ortalama doz 1,99.</a:t>
            </a:r>
          </a:p>
          <a:p>
            <a:r>
              <a:rPr lang="tr-TR" dirty="0"/>
              <a:t>Hafıza skoru ortalaması 481'den 507'ye yükselmiş, </a:t>
            </a:r>
            <a:r>
              <a:rPr lang="tr-TR" dirty="0" err="1"/>
              <a:t>Diff</a:t>
            </a:r>
            <a:r>
              <a:rPr lang="tr-TR" dirty="0"/>
              <a:t> ortalaması +20.</a:t>
            </a:r>
          </a:p>
          <a:p>
            <a:r>
              <a:rPr lang="tr-TR" dirty="0"/>
              <a:t>Hafıza skoru değişimleri geniş bir aralıkta (-404 ile +387).</a:t>
            </a:r>
          </a:p>
          <a:p>
            <a:r>
              <a:rPr lang="tr-TR" dirty="0"/>
              <a:t>Veri setinde eksik değer bulunmamaktadır.</a:t>
            </a:r>
          </a:p>
          <a:p>
            <a:endParaRPr lang="tr-TR" dirty="0"/>
          </a:p>
        </p:txBody>
      </p:sp>
      <p:sp>
        <p:nvSpPr>
          <p:cNvPr id="4" name="İçerik Yer Tutucusu 3">
            <a:extLst>
              <a:ext uri="{FF2B5EF4-FFF2-40B4-BE49-F238E27FC236}">
                <a16:creationId xmlns:a16="http://schemas.microsoft.com/office/drawing/2014/main" id="{E552F992-97CC-9430-C91F-33BA286F6004}"/>
              </a:ext>
            </a:extLst>
          </p:cNvPr>
          <p:cNvSpPr>
            <a:spLocks noGrp="1"/>
          </p:cNvSpPr>
          <p:nvPr>
            <p:ph sz="half" idx="2"/>
          </p:nvPr>
        </p:nvSpPr>
        <p:spPr>
          <a:xfrm>
            <a:off x="6638544" y="2734057"/>
            <a:ext cx="5166360" cy="3767328"/>
          </a:xfrm>
        </p:spPr>
        <p:txBody>
          <a:bodyPr>
            <a:normAutofit/>
          </a:bodyPr>
          <a:lstStyle/>
          <a:p>
            <a:r>
              <a:rPr lang="tr-TR" b="1" dirty="0" err="1"/>
              <a:t>last_name</a:t>
            </a:r>
            <a:r>
              <a:rPr lang="tr-TR" dirty="0"/>
              <a:t> sütununda 18 farklı soyadı, en sık rastlananlar: </a:t>
            </a:r>
            <a:r>
              <a:rPr lang="tr-TR" dirty="0" err="1"/>
              <a:t>Durand</a:t>
            </a:r>
            <a:r>
              <a:rPr lang="tr-TR" dirty="0"/>
              <a:t> (44), </a:t>
            </a:r>
            <a:r>
              <a:rPr lang="tr-TR" dirty="0" err="1"/>
              <a:t>Carrasco</a:t>
            </a:r>
            <a:r>
              <a:rPr lang="tr-TR" dirty="0"/>
              <a:t> (43).</a:t>
            </a:r>
            <a:endParaRPr lang="tr-TR" b="1" dirty="0"/>
          </a:p>
          <a:p>
            <a:r>
              <a:rPr lang="tr-TR" b="1" dirty="0" err="1"/>
              <a:t>Happy_Sad_group</a:t>
            </a:r>
            <a:r>
              <a:rPr lang="tr-TR" dirty="0"/>
              <a:t> dengeli: H = 99, S = 99.</a:t>
            </a:r>
          </a:p>
          <a:p>
            <a:r>
              <a:rPr lang="tr-TR" b="1" dirty="0" err="1"/>
              <a:t>Dosage</a:t>
            </a:r>
            <a:r>
              <a:rPr lang="tr-TR" dirty="0"/>
              <a:t> dağılımı eşit: 1 = 67, 2 = 66, 3 = 65.</a:t>
            </a:r>
          </a:p>
          <a:p>
            <a:r>
              <a:rPr lang="tr-TR" b="1" dirty="0" err="1"/>
              <a:t>Drug</a:t>
            </a:r>
            <a:r>
              <a:rPr lang="tr-TR" dirty="0"/>
              <a:t> dağılımı: A = 67, S = 66, T = 65.</a:t>
            </a:r>
          </a:p>
          <a:p>
            <a:r>
              <a:rPr lang="tr-TR" b="1" dirty="0" err="1"/>
              <a:t>Mem_Score_Before</a:t>
            </a:r>
            <a:r>
              <a:rPr lang="tr-TR" dirty="0"/>
              <a:t> sütununda 31 uç değer, </a:t>
            </a:r>
            <a:r>
              <a:rPr lang="tr-TR" b="1" dirty="0" err="1"/>
              <a:t>Diff</a:t>
            </a:r>
            <a:r>
              <a:rPr lang="tr-TR" dirty="0"/>
              <a:t> sütununda 23 uç değer, </a:t>
            </a:r>
            <a:r>
              <a:rPr lang="tr-TR" b="1" dirty="0" err="1"/>
              <a:t>Mem_Score_After</a:t>
            </a:r>
            <a:r>
              <a:rPr lang="tr-TR" dirty="0"/>
              <a:t> sütununda 9 uç değer tespit edilmiştir.</a:t>
            </a:r>
          </a:p>
          <a:p>
            <a:r>
              <a:rPr lang="tr-TR" b="1" dirty="0" err="1"/>
              <a:t>age</a:t>
            </a:r>
            <a:r>
              <a:rPr lang="tr-TR" dirty="0"/>
              <a:t> sütununda 2 uç değer, </a:t>
            </a:r>
            <a:r>
              <a:rPr lang="tr-TR" b="1" dirty="0" err="1"/>
              <a:t>Dosage</a:t>
            </a:r>
            <a:r>
              <a:rPr lang="tr-TR" dirty="0"/>
              <a:t> sütununda uç değer yoktur.</a:t>
            </a:r>
          </a:p>
          <a:p>
            <a:endParaRPr lang="tr-TR" dirty="0"/>
          </a:p>
        </p:txBody>
      </p:sp>
      <p:pic>
        <p:nvPicPr>
          <p:cNvPr id="7" name="Resim 6">
            <a:extLst>
              <a:ext uri="{FF2B5EF4-FFF2-40B4-BE49-F238E27FC236}">
                <a16:creationId xmlns:a16="http://schemas.microsoft.com/office/drawing/2014/main" id="{33BF5D12-31AC-C9FD-1E30-D49758D40261}"/>
              </a:ext>
            </a:extLst>
          </p:cNvPr>
          <p:cNvPicPr>
            <a:picLocks noChangeAspect="1"/>
          </p:cNvPicPr>
          <p:nvPr/>
        </p:nvPicPr>
        <p:blipFill>
          <a:blip r:embed="rId2"/>
          <a:stretch>
            <a:fillRect/>
          </a:stretch>
        </p:blipFill>
        <p:spPr>
          <a:xfrm>
            <a:off x="8525256" y="754951"/>
            <a:ext cx="3151632" cy="1979106"/>
          </a:xfrm>
          <a:prstGeom prst="rect">
            <a:avLst/>
          </a:prstGeom>
        </p:spPr>
      </p:pic>
    </p:spTree>
    <p:extLst>
      <p:ext uri="{BB962C8B-B14F-4D97-AF65-F5344CB8AC3E}">
        <p14:creationId xmlns:p14="http://schemas.microsoft.com/office/powerpoint/2010/main" val="1040264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43872BC-5746-4514-512C-33682426311E}"/>
              </a:ext>
            </a:extLst>
          </p:cNvPr>
          <p:cNvSpPr>
            <a:spLocks noGrp="1"/>
          </p:cNvSpPr>
          <p:nvPr>
            <p:ph type="title"/>
          </p:nvPr>
        </p:nvSpPr>
        <p:spPr/>
        <p:txBody>
          <a:bodyPr/>
          <a:lstStyle/>
          <a:p>
            <a:r>
              <a:rPr lang="tr-TR" dirty="0"/>
              <a:t>VERİ GÖRSELLERİ</a:t>
            </a:r>
          </a:p>
        </p:txBody>
      </p:sp>
      <p:sp>
        <p:nvSpPr>
          <p:cNvPr id="4" name="İçerik Yer Tutucusu 3">
            <a:extLst>
              <a:ext uri="{FF2B5EF4-FFF2-40B4-BE49-F238E27FC236}">
                <a16:creationId xmlns:a16="http://schemas.microsoft.com/office/drawing/2014/main" id="{5E8E0542-6337-5E30-2558-D8CAF9BB7E0C}"/>
              </a:ext>
            </a:extLst>
          </p:cNvPr>
          <p:cNvSpPr>
            <a:spLocks noGrp="1"/>
          </p:cNvSpPr>
          <p:nvPr>
            <p:ph sz="half" idx="2"/>
          </p:nvPr>
        </p:nvSpPr>
        <p:spPr>
          <a:xfrm>
            <a:off x="6303264" y="2130552"/>
            <a:ext cx="5166360" cy="3767328"/>
          </a:xfrm>
        </p:spPr>
        <p:txBody>
          <a:bodyPr>
            <a:normAutofit lnSpcReduction="10000"/>
          </a:bodyPr>
          <a:lstStyle/>
          <a:p>
            <a:pPr algn="just"/>
            <a:r>
              <a:rPr lang="tr-TR" b="1" dirty="0" err="1"/>
              <a:t>Mem_Score_Before</a:t>
            </a:r>
            <a:r>
              <a:rPr lang="tr-TR" b="1" dirty="0"/>
              <a:t> ve </a:t>
            </a:r>
            <a:r>
              <a:rPr lang="tr-TR" b="1" dirty="0" err="1"/>
              <a:t>Mem_Score_After</a:t>
            </a:r>
            <a:r>
              <a:rPr lang="tr-TR" dirty="0"/>
              <a:t> arasında 0.4 civarında pozitif korelasyon var; iyi hafızaya sahip kişiler ilacın etkisiyle de iyi performans gösteriyor.</a:t>
            </a:r>
          </a:p>
          <a:p>
            <a:pPr algn="just"/>
            <a:r>
              <a:rPr lang="tr-TR" b="1" dirty="0" err="1"/>
              <a:t>Dosage</a:t>
            </a:r>
            <a:r>
              <a:rPr lang="tr-TR" b="1" dirty="0"/>
              <a:t> ve </a:t>
            </a:r>
            <a:r>
              <a:rPr lang="tr-TR" b="1" dirty="0" err="1"/>
              <a:t>Diff</a:t>
            </a:r>
            <a:r>
              <a:rPr lang="tr-TR" dirty="0"/>
              <a:t> arasında 0.2–0.25 civarında pozitif korelasyon var; doz arttıkça hafıza değişimi artıyor.</a:t>
            </a:r>
          </a:p>
          <a:p>
            <a:pPr algn="just"/>
            <a:r>
              <a:rPr lang="tr-TR" b="1" dirty="0"/>
              <a:t>Age ile </a:t>
            </a:r>
            <a:r>
              <a:rPr lang="tr-TR" b="1" dirty="0" err="1"/>
              <a:t>Mem_Score_After</a:t>
            </a:r>
            <a:r>
              <a:rPr lang="tr-TR" b="1" dirty="0"/>
              <a:t> veya </a:t>
            </a:r>
            <a:r>
              <a:rPr lang="tr-TR" b="1" dirty="0" err="1"/>
              <a:t>Diff</a:t>
            </a:r>
            <a:r>
              <a:rPr lang="tr-TR" dirty="0"/>
              <a:t> arasında düşük korelasyon (0 civarı); yaşın hafıza değişimi üzerinde anlamlı etkisi yok.</a:t>
            </a:r>
          </a:p>
          <a:p>
            <a:pPr algn="just"/>
            <a:r>
              <a:rPr lang="tr-TR" b="1" dirty="0" err="1"/>
              <a:t>Dosage</a:t>
            </a:r>
            <a:r>
              <a:rPr lang="tr-TR" b="1" dirty="0"/>
              <a:t> ve diğer hafıza skorları</a:t>
            </a:r>
            <a:r>
              <a:rPr lang="tr-TR" dirty="0"/>
              <a:t> arasında hafif pozitif ilişki var, ancak güçlü değil.</a:t>
            </a:r>
          </a:p>
          <a:p>
            <a:pPr algn="just"/>
            <a:endParaRPr lang="tr-TR" dirty="0"/>
          </a:p>
        </p:txBody>
      </p:sp>
      <p:pic>
        <p:nvPicPr>
          <p:cNvPr id="5" name="İçerik Yer Tutucusu 4" descr="metin, ekran görüntüsü, diyagram, kare içeren bir resim&#10;&#10;Yapay zeka tarafından oluşturulmuş içerik yanlış olabilir.">
            <a:extLst>
              <a:ext uri="{FF2B5EF4-FFF2-40B4-BE49-F238E27FC236}">
                <a16:creationId xmlns:a16="http://schemas.microsoft.com/office/drawing/2014/main" id="{A5100A27-A07F-7FA2-894D-DD0524BE1772}"/>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rcRect/>
          <a:stretch>
            <a:fillRect/>
          </a:stretch>
        </p:blipFill>
        <p:spPr bwMode="auto">
          <a:xfrm>
            <a:off x="198280" y="2057400"/>
            <a:ext cx="5897720" cy="4648200"/>
          </a:xfrm>
          <a:prstGeom prst="rect">
            <a:avLst/>
          </a:prstGeom>
          <a:noFill/>
          <a:ln>
            <a:noFill/>
          </a:ln>
        </p:spPr>
      </p:pic>
    </p:spTree>
    <p:extLst>
      <p:ext uri="{BB962C8B-B14F-4D97-AF65-F5344CB8AC3E}">
        <p14:creationId xmlns:p14="http://schemas.microsoft.com/office/powerpoint/2010/main" val="1105807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çerik Yer Tutucusu 9" descr="metin, diyagram, öykü gelişim çizgisi; kumpas; grafiğini çıkarma, ekran görüntüsü içeren bir resim&#10;&#10;Yapay zeka tarafından oluşturulmuş içerik yanlış olabilir.">
            <a:extLst>
              <a:ext uri="{FF2B5EF4-FFF2-40B4-BE49-F238E27FC236}">
                <a16:creationId xmlns:a16="http://schemas.microsoft.com/office/drawing/2014/main" id="{D589C222-1754-F634-0A81-9A5632040C26}"/>
              </a:ext>
            </a:extLst>
          </p:cNvPr>
          <p:cNvPicPr>
            <a:picLocks noGrp="1" noChangeAspect="1"/>
          </p:cNvPicPr>
          <p:nvPr>
            <p:ph sz="half" idx="1"/>
          </p:nvPr>
        </p:nvPicPr>
        <p:blipFill>
          <a:blip r:embed="rId2"/>
          <a:stretch>
            <a:fillRect/>
          </a:stretch>
        </p:blipFill>
        <p:spPr>
          <a:xfrm>
            <a:off x="505968" y="695325"/>
            <a:ext cx="4961382" cy="6048374"/>
          </a:xfrm>
          <a:prstGeom prst="rect">
            <a:avLst/>
          </a:prstGeom>
        </p:spPr>
      </p:pic>
      <p:pic>
        <p:nvPicPr>
          <p:cNvPr id="12" name="Resim 11" descr="diyagram, öykü gelişim çizgisi; kumpas; grafiğini çıkarma, çizgi, ekran görüntüsü içeren bir resim&#10;&#10;Yapay zeka tarafından oluşturulmuş içerik yanlış olabilir.">
            <a:extLst>
              <a:ext uri="{FF2B5EF4-FFF2-40B4-BE49-F238E27FC236}">
                <a16:creationId xmlns:a16="http://schemas.microsoft.com/office/drawing/2014/main" id="{28EE8E21-A632-81E1-569E-48D12312C2F9}"/>
              </a:ext>
            </a:extLst>
          </p:cNvPr>
          <p:cNvPicPr>
            <a:picLocks noChangeAspect="1"/>
          </p:cNvPicPr>
          <p:nvPr/>
        </p:nvPicPr>
        <p:blipFill>
          <a:blip r:embed="rId3"/>
          <a:stretch>
            <a:fillRect/>
          </a:stretch>
        </p:blipFill>
        <p:spPr>
          <a:xfrm>
            <a:off x="6096000" y="695324"/>
            <a:ext cx="4961382" cy="1544955"/>
          </a:xfrm>
          <a:prstGeom prst="rect">
            <a:avLst/>
          </a:prstGeom>
        </p:spPr>
      </p:pic>
      <p:sp>
        <p:nvSpPr>
          <p:cNvPr id="13" name="Rectangle 1">
            <a:extLst>
              <a:ext uri="{FF2B5EF4-FFF2-40B4-BE49-F238E27FC236}">
                <a16:creationId xmlns:a16="http://schemas.microsoft.com/office/drawing/2014/main" id="{F68BD95B-DDEF-FB97-F704-0844442192EB}"/>
              </a:ext>
            </a:extLst>
          </p:cNvPr>
          <p:cNvSpPr>
            <a:spLocks noGrp="1" noChangeArrowheads="1"/>
          </p:cNvSpPr>
          <p:nvPr>
            <p:ph sz="half" idx="2"/>
          </p:nvPr>
        </p:nvSpPr>
        <p:spPr bwMode="auto">
          <a:xfrm>
            <a:off x="6096000" y="2711244"/>
            <a:ext cx="567232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rPr>
              <a:t>Yaş dağılımı</a:t>
            </a:r>
            <a:r>
              <a:rPr kumimoji="0" lang="tr-TR" altLang="tr-TR" sz="1800" b="0" i="0" u="none" strike="noStrike" cap="none" normalizeH="0" baseline="0" dirty="0">
                <a:ln>
                  <a:noFill/>
                </a:ln>
                <a:solidFill>
                  <a:schemeClr val="tx1"/>
                </a:solidFill>
                <a:effectLst/>
              </a:rPr>
              <a:t> çoğunlukla 25–50 yaş arasında yoğunlaşmış, yaşlı katılımcılar (70-80 yaş) </a:t>
            </a:r>
            <a:r>
              <a:rPr kumimoji="0" lang="tr-TR" altLang="tr-TR" sz="1800" b="0" i="0" u="none" strike="noStrike" cap="none" normalizeH="0" baseline="0" dirty="0" err="1">
                <a:ln>
                  <a:noFill/>
                </a:ln>
                <a:solidFill>
                  <a:schemeClr val="tx1"/>
                </a:solidFill>
                <a:effectLst/>
              </a:rPr>
              <a:t>outlier</a:t>
            </a:r>
            <a:r>
              <a:rPr kumimoji="0" lang="tr-TR" altLang="tr-TR" sz="1800" b="0" i="0" u="none" strike="noStrike" cap="none" normalizeH="0" baseline="0" dirty="0">
                <a:ln>
                  <a:noFill/>
                </a:ln>
                <a:solidFill>
                  <a:schemeClr val="tx1"/>
                </a:solidFill>
                <a:effectLst/>
              </a:rPr>
              <a:t> olarak gözlemlenmiştir; dağılım sağa çarpık, medyan ortalamadan düşük.</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rPr>
              <a:t>İlaç dozu</a:t>
            </a:r>
            <a:r>
              <a:rPr kumimoji="0" lang="tr-TR" altLang="tr-TR" sz="1800" b="0" i="0" u="none" strike="noStrike" cap="none" normalizeH="0" baseline="0" dirty="0">
                <a:ln>
                  <a:noFill/>
                </a:ln>
                <a:solidFill>
                  <a:schemeClr val="tx1"/>
                </a:solidFill>
                <a:effectLst/>
              </a:rPr>
              <a:t> üç seviyede (1: düşük, 2: orta, 3: yüksek) ve her seviyede eşit sayıda katılımcı var; </a:t>
            </a:r>
            <a:r>
              <a:rPr kumimoji="0" lang="tr-TR" altLang="tr-TR" sz="1800" b="0" i="0" u="none" strike="noStrike" cap="none" normalizeH="0" baseline="0" dirty="0" err="1">
                <a:ln>
                  <a:noFill/>
                </a:ln>
                <a:solidFill>
                  <a:schemeClr val="tx1"/>
                </a:solidFill>
                <a:effectLst/>
              </a:rPr>
              <a:t>boxplot</a:t>
            </a:r>
            <a:r>
              <a:rPr kumimoji="0" lang="tr-TR" altLang="tr-TR" sz="1800" b="0" i="0" u="none" strike="noStrike" cap="none" normalizeH="0" baseline="0" dirty="0">
                <a:ln>
                  <a:noFill/>
                </a:ln>
                <a:solidFill>
                  <a:schemeClr val="tx1"/>
                </a:solidFill>
                <a:effectLst/>
              </a:rPr>
              <a:t> medyanı 2, doz dağılımı dengeli.</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rPr>
              <a:t>Hafıza skorları</a:t>
            </a:r>
            <a:r>
              <a:rPr kumimoji="0" lang="tr-TR" altLang="tr-TR" sz="1800" b="0" i="0" u="none" strike="noStrike" cap="none" normalizeH="0" baseline="0" dirty="0">
                <a:ln>
                  <a:noFill/>
                </a:ln>
                <a:solidFill>
                  <a:schemeClr val="tx1"/>
                </a:solidFill>
                <a:effectLst/>
              </a:rPr>
              <a:t> ilacı almadan önce dağınık, düşük performanslar mevcut; ilaç sonrası hafıza genel olarak yükselmiş, düşük skorlar toparlanmış.</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rPr>
              <a:t>Diff</a:t>
            </a:r>
            <a:r>
              <a:rPr kumimoji="0" lang="tr-TR" altLang="tr-TR" sz="1800" b="1" i="0" u="none" strike="noStrike" cap="none" normalizeH="0" baseline="0" dirty="0">
                <a:ln>
                  <a:noFill/>
                </a:ln>
                <a:solidFill>
                  <a:schemeClr val="tx1"/>
                </a:solidFill>
                <a:effectLst/>
              </a:rPr>
              <a:t> (hafıza değişimi)</a:t>
            </a:r>
            <a:r>
              <a:rPr kumimoji="0" lang="tr-TR" altLang="tr-TR" sz="1800" b="0" i="0" u="none" strike="noStrike" cap="none" normalizeH="0" baseline="0" dirty="0">
                <a:ln>
                  <a:noFill/>
                </a:ln>
                <a:solidFill>
                  <a:schemeClr val="tx1"/>
                </a:solidFill>
                <a:effectLst/>
              </a:rPr>
              <a:t> pozitif yönde yoğunlaşmış, çoğu katılımcının hafıza skoru artmış, bazı bireylerde yüksek iyileşmeler gözlemlenmiştir.</a:t>
            </a:r>
          </a:p>
        </p:txBody>
      </p:sp>
    </p:spTree>
    <p:extLst>
      <p:ext uri="{BB962C8B-B14F-4D97-AF65-F5344CB8AC3E}">
        <p14:creationId xmlns:p14="http://schemas.microsoft.com/office/powerpoint/2010/main" val="3147749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D20B527-69A4-7908-2BD6-B9C5388330A5}"/>
              </a:ext>
            </a:extLst>
          </p:cNvPr>
          <p:cNvSpPr>
            <a:spLocks noGrp="1"/>
          </p:cNvSpPr>
          <p:nvPr>
            <p:ph type="title"/>
          </p:nvPr>
        </p:nvSpPr>
        <p:spPr>
          <a:xfrm>
            <a:off x="210312" y="868681"/>
            <a:ext cx="11155680" cy="1463040"/>
          </a:xfrm>
        </p:spPr>
        <p:txBody>
          <a:bodyPr>
            <a:normAutofit/>
          </a:bodyPr>
          <a:lstStyle/>
          <a:p>
            <a:r>
              <a:rPr lang="tr-TR" sz="3200" dirty="0"/>
              <a:t>MODEL PERFORMANSI VE TEST BULGULARI</a:t>
            </a:r>
            <a:br>
              <a:rPr lang="tr-TR" sz="3200" dirty="0"/>
            </a:br>
            <a:endParaRPr lang="tr-TR" sz="3200" dirty="0"/>
          </a:p>
        </p:txBody>
      </p:sp>
      <p:graphicFrame>
        <p:nvGraphicFramePr>
          <p:cNvPr id="6" name="İçerik Yer Tutucusu 5">
            <a:extLst>
              <a:ext uri="{FF2B5EF4-FFF2-40B4-BE49-F238E27FC236}">
                <a16:creationId xmlns:a16="http://schemas.microsoft.com/office/drawing/2014/main" id="{BEA86DA6-8703-1580-CB2A-B6699AC56AFE}"/>
              </a:ext>
            </a:extLst>
          </p:cNvPr>
          <p:cNvGraphicFramePr>
            <a:graphicFrameLocks noGrp="1"/>
          </p:cNvGraphicFramePr>
          <p:nvPr>
            <p:ph sz="half" idx="1"/>
            <p:extLst>
              <p:ext uri="{D42A27DB-BD31-4B8C-83A1-F6EECF244321}">
                <p14:modId xmlns:p14="http://schemas.microsoft.com/office/powerpoint/2010/main" val="50680666"/>
              </p:ext>
            </p:extLst>
          </p:nvPr>
        </p:nvGraphicFramePr>
        <p:xfrm>
          <a:off x="-326138" y="1682496"/>
          <a:ext cx="4636008" cy="49194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0" name="İçerik Yer Tutucusu 9">
            <a:extLst>
              <a:ext uri="{FF2B5EF4-FFF2-40B4-BE49-F238E27FC236}">
                <a16:creationId xmlns:a16="http://schemas.microsoft.com/office/drawing/2014/main" id="{98B6A5C2-6734-4777-8991-84BEA33A72E0}"/>
              </a:ext>
            </a:extLst>
          </p:cNvPr>
          <p:cNvGraphicFramePr>
            <a:graphicFrameLocks noGrp="1"/>
          </p:cNvGraphicFramePr>
          <p:nvPr>
            <p:ph sz="half" idx="2"/>
            <p:extLst>
              <p:ext uri="{D42A27DB-BD31-4B8C-83A1-F6EECF244321}">
                <p14:modId xmlns:p14="http://schemas.microsoft.com/office/powerpoint/2010/main" val="2301706383"/>
              </p:ext>
            </p:extLst>
          </p:nvPr>
        </p:nvGraphicFramePr>
        <p:xfrm>
          <a:off x="4044694" y="1600201"/>
          <a:ext cx="2602994" cy="226771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12" name="Resim 11">
            <a:extLst>
              <a:ext uri="{FF2B5EF4-FFF2-40B4-BE49-F238E27FC236}">
                <a16:creationId xmlns:a16="http://schemas.microsoft.com/office/drawing/2014/main" id="{E8B94D46-159E-E751-788B-FA9726391150}"/>
              </a:ext>
            </a:extLst>
          </p:cNvPr>
          <p:cNvPicPr>
            <a:picLocks noChangeAspect="1"/>
          </p:cNvPicPr>
          <p:nvPr/>
        </p:nvPicPr>
        <p:blipFill>
          <a:blip r:embed="rId12"/>
          <a:stretch>
            <a:fillRect/>
          </a:stretch>
        </p:blipFill>
        <p:spPr>
          <a:xfrm>
            <a:off x="6647688" y="1536192"/>
            <a:ext cx="5544310" cy="2606040"/>
          </a:xfrm>
          <a:prstGeom prst="rect">
            <a:avLst/>
          </a:prstGeom>
        </p:spPr>
      </p:pic>
      <p:sp>
        <p:nvSpPr>
          <p:cNvPr id="13" name="İçerik Yer Tutucusu 3">
            <a:extLst>
              <a:ext uri="{FF2B5EF4-FFF2-40B4-BE49-F238E27FC236}">
                <a16:creationId xmlns:a16="http://schemas.microsoft.com/office/drawing/2014/main" id="{F8900D6E-39C8-B73E-8E52-F1CB55A39993}"/>
              </a:ext>
            </a:extLst>
          </p:cNvPr>
          <p:cNvSpPr txBox="1">
            <a:spLocks/>
          </p:cNvSpPr>
          <p:nvPr/>
        </p:nvSpPr>
        <p:spPr>
          <a:xfrm>
            <a:off x="4044694" y="4416552"/>
            <a:ext cx="8147304" cy="2734055"/>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tr-TR" sz="1400" b="1" dirty="0"/>
              <a:t>Başlangıç (0–200. epizot)</a:t>
            </a:r>
            <a:r>
              <a:rPr lang="tr-TR" sz="1400" dirty="0"/>
              <a:t>: Ödüller </a:t>
            </a:r>
            <a:r>
              <a:rPr lang="tr-TR" sz="1400" b="1" dirty="0"/>
              <a:t>45–80</a:t>
            </a:r>
            <a:r>
              <a:rPr lang="tr-TR" sz="1400" dirty="0"/>
              <a:t> arasında dalgalanmış, ajan çevreyi keşfetmiştir.</a:t>
            </a:r>
          </a:p>
          <a:p>
            <a:pPr algn="just"/>
            <a:r>
              <a:rPr lang="tr-TR" sz="1400" b="1" dirty="0"/>
              <a:t>Orta bölüm (200–600. epizot)</a:t>
            </a:r>
            <a:r>
              <a:rPr lang="tr-TR" sz="1400" dirty="0"/>
              <a:t>: Ödüller </a:t>
            </a:r>
            <a:r>
              <a:rPr lang="tr-TR" sz="1400" b="1" dirty="0"/>
              <a:t>60–120</a:t>
            </a:r>
            <a:r>
              <a:rPr lang="tr-TR" sz="1400" dirty="0"/>
              <a:t> arasında değişmiş, </a:t>
            </a:r>
            <a:r>
              <a:rPr lang="tr-TR" sz="1400" b="1" dirty="0"/>
              <a:t>500–600</a:t>
            </a:r>
            <a:r>
              <a:rPr lang="tr-TR" sz="1400" dirty="0"/>
              <a:t> arası sert sıçramalar ve geri düşüşler gözlemlenmiştir.</a:t>
            </a:r>
          </a:p>
          <a:p>
            <a:pPr algn="just"/>
            <a:r>
              <a:rPr lang="tr-TR" sz="1400" b="1" dirty="0"/>
              <a:t>600 sonrası</a:t>
            </a:r>
            <a:r>
              <a:rPr lang="tr-TR" sz="1400" dirty="0"/>
              <a:t>: Ödüller belirgin bir yükseliş göstermiş ve daha istikrarlı hale gelmiştir.</a:t>
            </a:r>
          </a:p>
          <a:p>
            <a:pPr algn="just"/>
            <a:r>
              <a:rPr lang="tr-TR" sz="1400" b="1" dirty="0"/>
              <a:t>700–1200. epizot</a:t>
            </a:r>
            <a:r>
              <a:rPr lang="tr-TR" sz="1400" dirty="0"/>
              <a:t>: Ödüller genellikle </a:t>
            </a:r>
            <a:r>
              <a:rPr lang="tr-TR" sz="1400" b="1" dirty="0"/>
              <a:t>110–140</a:t>
            </a:r>
            <a:r>
              <a:rPr lang="tr-TR" sz="1400" dirty="0"/>
              <a:t> arasında seyretmiş, </a:t>
            </a:r>
            <a:r>
              <a:rPr lang="tr-TR" sz="1400" b="1" dirty="0"/>
              <a:t>900 civarında</a:t>
            </a:r>
            <a:r>
              <a:rPr lang="tr-TR" sz="1400" dirty="0"/>
              <a:t> hafif bir düşüş yaşanmış, fakat kısa sürmüştür.</a:t>
            </a:r>
          </a:p>
          <a:p>
            <a:pPr algn="just"/>
            <a:r>
              <a:rPr lang="tr-TR" sz="1400" b="1" dirty="0"/>
              <a:t>Son 5–6 epizot</a:t>
            </a:r>
            <a:r>
              <a:rPr lang="tr-TR" sz="1400" dirty="0"/>
              <a:t>: Ödüller </a:t>
            </a:r>
            <a:r>
              <a:rPr lang="tr-TR" sz="1400" b="1" dirty="0"/>
              <a:t>130</a:t>
            </a:r>
            <a:r>
              <a:rPr lang="tr-TR" sz="1400" dirty="0"/>
              <a:t> seviyesinin üzerinde sabitlenmiştir.</a:t>
            </a:r>
          </a:p>
        </p:txBody>
      </p:sp>
    </p:spTree>
    <p:extLst>
      <p:ext uri="{BB962C8B-B14F-4D97-AF65-F5344CB8AC3E}">
        <p14:creationId xmlns:p14="http://schemas.microsoft.com/office/powerpoint/2010/main" val="1686883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Freeform: Shape 10">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8" name="Rectangle 12">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CD5AB767-8476-3074-0060-0D6A144BFADC}"/>
              </a:ext>
            </a:extLst>
          </p:cNvPr>
          <p:cNvSpPr>
            <a:spLocks noGrp="1"/>
          </p:cNvSpPr>
          <p:nvPr>
            <p:ph type="title"/>
          </p:nvPr>
        </p:nvSpPr>
        <p:spPr>
          <a:xfrm>
            <a:off x="517870" y="822460"/>
            <a:ext cx="6281928" cy="1463040"/>
          </a:xfrm>
        </p:spPr>
        <p:txBody>
          <a:bodyPr vert="horz" lIns="91440" tIns="45720" rIns="91440" bIns="45720" rtlCol="0" anchor="t">
            <a:normAutofit fontScale="90000"/>
          </a:bodyPr>
          <a:lstStyle/>
          <a:p>
            <a:r>
              <a:rPr lang="en-US" sz="4000" b="1" kern="1200" dirty="0">
                <a:solidFill>
                  <a:schemeClr val="tx1"/>
                </a:solidFill>
                <a:latin typeface="+mj-lt"/>
                <a:ea typeface="+mj-ea"/>
                <a:cs typeface="+mj-cs"/>
              </a:rPr>
              <a:t>DEĞERLENDİRME</a:t>
            </a:r>
            <a:br>
              <a:rPr lang="tr-TR" sz="3600" b="1" kern="1200" dirty="0">
                <a:solidFill>
                  <a:schemeClr val="tx1"/>
                </a:solidFill>
                <a:latin typeface="+mj-lt"/>
                <a:ea typeface="+mj-ea"/>
                <a:cs typeface="+mj-cs"/>
              </a:rPr>
            </a:br>
            <a:br>
              <a:rPr lang="en-US" b="1" kern="1200" dirty="0">
                <a:solidFill>
                  <a:schemeClr val="tx1"/>
                </a:solidFill>
                <a:latin typeface="+mj-lt"/>
                <a:ea typeface="+mj-ea"/>
                <a:cs typeface="+mj-cs"/>
              </a:rPr>
            </a:br>
            <a:r>
              <a:rPr lang="en-US" sz="2800" b="1" kern="1200" dirty="0">
                <a:solidFill>
                  <a:schemeClr val="tx1"/>
                </a:solidFill>
                <a:latin typeface="+mj-lt"/>
                <a:ea typeface="+mj-ea"/>
                <a:cs typeface="+mj-cs"/>
              </a:rPr>
              <a:t>VERİ SETİNİN YORUMU</a:t>
            </a:r>
          </a:p>
        </p:txBody>
      </p:sp>
      <p:sp>
        <p:nvSpPr>
          <p:cNvPr id="19" name="Rectangle 14">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D162A1CD-D196-1BD8-2DA2-F6E3BCEA22EC}"/>
              </a:ext>
            </a:extLst>
          </p:cNvPr>
          <p:cNvSpPr>
            <a:spLocks noGrp="1" noChangeArrowheads="1"/>
          </p:cNvSpPr>
          <p:nvPr>
            <p:ph sz="half" idx="1"/>
          </p:nvPr>
        </p:nvSpPr>
        <p:spPr bwMode="auto">
          <a:xfrm>
            <a:off x="466344" y="2450591"/>
            <a:ext cx="6281928" cy="391363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p>
            <a:pPr marL="0" marR="0" lvl="0" algn="just" fontAlgn="base">
              <a:lnSpc>
                <a:spcPct val="100000"/>
              </a:lnSpc>
              <a:spcBef>
                <a:spcPct val="0"/>
              </a:spcBef>
              <a:spcAft>
                <a:spcPts val="600"/>
              </a:spcAft>
              <a:buClrTx/>
              <a:buSzTx/>
              <a:tabLst/>
            </a:pPr>
            <a:r>
              <a:rPr kumimoji="0" lang="en-US" altLang="tr-TR" sz="1600" b="1" i="0" u="none" strike="noStrike" cap="none" normalizeH="0" baseline="0" dirty="0" err="1">
                <a:ln>
                  <a:noFill/>
                </a:ln>
                <a:effectLst/>
              </a:rPr>
              <a:t>İlaç</a:t>
            </a:r>
            <a:r>
              <a:rPr kumimoji="0" lang="en-US" altLang="tr-TR" sz="1600" b="1" i="0" u="none" strike="noStrike" cap="none" normalizeH="0" baseline="0" dirty="0">
                <a:ln>
                  <a:noFill/>
                </a:ln>
                <a:effectLst/>
              </a:rPr>
              <a:t> </a:t>
            </a:r>
            <a:r>
              <a:rPr kumimoji="0" lang="en-US" altLang="tr-TR" sz="1600" b="1" i="0" u="none" strike="noStrike" cap="none" normalizeH="0" baseline="0" dirty="0" err="1">
                <a:ln>
                  <a:noFill/>
                </a:ln>
                <a:effectLst/>
              </a:rPr>
              <a:t>dozları</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hafıza</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performansını</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genel</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olarak</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artırmış</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ancak</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bireyler</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arasında</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farklılıklar</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gözlemlenmiştir</a:t>
            </a:r>
            <a:r>
              <a:rPr kumimoji="0" lang="en-US" altLang="tr-TR" sz="1600" b="0" i="0" u="none" strike="noStrike" cap="none" normalizeH="0" baseline="0" dirty="0">
                <a:ln>
                  <a:noFill/>
                </a:ln>
                <a:effectLst/>
              </a:rPr>
              <a:t>.</a:t>
            </a:r>
          </a:p>
          <a:p>
            <a:pPr marL="0" marR="0" lvl="0" algn="just" fontAlgn="base">
              <a:lnSpc>
                <a:spcPct val="100000"/>
              </a:lnSpc>
              <a:spcBef>
                <a:spcPct val="0"/>
              </a:spcBef>
              <a:spcAft>
                <a:spcPts val="600"/>
              </a:spcAft>
              <a:buClrTx/>
              <a:buSzTx/>
              <a:tabLst/>
            </a:pPr>
            <a:r>
              <a:rPr kumimoji="0" lang="en-US" altLang="tr-TR" sz="1600" b="1" i="0" u="none" strike="noStrike" cap="none" normalizeH="0" baseline="0" dirty="0" err="1">
                <a:ln>
                  <a:noFill/>
                </a:ln>
                <a:effectLst/>
              </a:rPr>
              <a:t>Yaşın</a:t>
            </a:r>
            <a:r>
              <a:rPr kumimoji="0" lang="en-US" altLang="tr-TR" sz="1600" b="1" i="0" u="none" strike="noStrike" cap="none" normalizeH="0" baseline="0" dirty="0">
                <a:ln>
                  <a:noFill/>
                </a:ln>
                <a:effectLst/>
              </a:rPr>
              <a:t> </a:t>
            </a:r>
            <a:r>
              <a:rPr kumimoji="0" lang="en-US" altLang="tr-TR" sz="1600" b="1" i="0" u="none" strike="noStrike" cap="none" normalizeH="0" baseline="0" dirty="0" err="1">
                <a:ln>
                  <a:noFill/>
                </a:ln>
                <a:effectLst/>
              </a:rPr>
              <a:t>etkisi</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sınırlıdır</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ilaç</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genç</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ve</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orta</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yaşlı</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katılımcılarda</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benzer</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şekilde</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etki</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göstermektedir</a:t>
            </a:r>
            <a:r>
              <a:rPr kumimoji="0" lang="en-US" altLang="tr-TR" sz="1600" b="0" i="0" u="none" strike="noStrike" cap="none" normalizeH="0" baseline="0" dirty="0">
                <a:ln>
                  <a:noFill/>
                </a:ln>
                <a:effectLst/>
              </a:rPr>
              <a:t>.</a:t>
            </a:r>
          </a:p>
          <a:p>
            <a:pPr marL="0" marR="0" lvl="0" algn="just" fontAlgn="base">
              <a:lnSpc>
                <a:spcPct val="100000"/>
              </a:lnSpc>
              <a:spcBef>
                <a:spcPct val="0"/>
              </a:spcBef>
              <a:spcAft>
                <a:spcPts val="600"/>
              </a:spcAft>
              <a:buClrTx/>
              <a:buSzTx/>
              <a:tabLst/>
            </a:pPr>
            <a:r>
              <a:rPr kumimoji="0" lang="en-US" altLang="tr-TR" sz="1600" b="1" i="0" u="none" strike="noStrike" cap="none" normalizeH="0" baseline="0" dirty="0" err="1">
                <a:ln>
                  <a:noFill/>
                </a:ln>
                <a:effectLst/>
              </a:rPr>
              <a:t>Dengeli</a:t>
            </a:r>
            <a:r>
              <a:rPr kumimoji="0" lang="en-US" altLang="tr-TR" sz="1600" b="1" i="0" u="none" strike="noStrike" cap="none" normalizeH="0" baseline="0" dirty="0">
                <a:ln>
                  <a:noFill/>
                </a:ln>
                <a:effectLst/>
              </a:rPr>
              <a:t> </a:t>
            </a:r>
            <a:r>
              <a:rPr kumimoji="0" lang="en-US" altLang="tr-TR" sz="1600" b="1" i="0" u="none" strike="noStrike" cap="none" normalizeH="0" baseline="0" dirty="0" err="1">
                <a:ln>
                  <a:noFill/>
                </a:ln>
                <a:effectLst/>
              </a:rPr>
              <a:t>doz</a:t>
            </a:r>
            <a:r>
              <a:rPr kumimoji="0" lang="en-US" altLang="tr-TR" sz="1600" b="1" i="0" u="none" strike="noStrike" cap="none" normalizeH="0" baseline="0" dirty="0">
                <a:ln>
                  <a:noFill/>
                </a:ln>
                <a:effectLst/>
              </a:rPr>
              <a:t> </a:t>
            </a:r>
            <a:r>
              <a:rPr kumimoji="0" lang="en-US" altLang="tr-TR" sz="1600" b="1" i="0" u="none" strike="noStrike" cap="none" normalizeH="0" baseline="0" dirty="0" err="1">
                <a:ln>
                  <a:noFill/>
                </a:ln>
                <a:effectLst/>
              </a:rPr>
              <a:t>dağılımı</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modelin</a:t>
            </a:r>
            <a:r>
              <a:rPr kumimoji="0" lang="en-US" altLang="tr-TR" sz="1600" b="0" i="0" u="none" strike="noStrike" cap="none" normalizeH="0" baseline="0" dirty="0">
                <a:ln>
                  <a:noFill/>
                </a:ln>
                <a:effectLst/>
              </a:rPr>
              <a:t> her </a:t>
            </a:r>
            <a:r>
              <a:rPr kumimoji="0" lang="en-US" altLang="tr-TR" sz="1600" b="0" i="0" u="none" strike="noStrike" cap="none" normalizeH="0" baseline="0" dirty="0" err="1">
                <a:ln>
                  <a:noFill/>
                </a:ln>
                <a:effectLst/>
              </a:rPr>
              <a:t>doz</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seviyesini</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yeterince</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öğrenmesini</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ve</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karşılaştırmasını</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mümkün</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kılmıştır</a:t>
            </a:r>
            <a:r>
              <a:rPr kumimoji="0" lang="en-US" altLang="tr-TR" sz="1600" b="0" i="0" u="none" strike="noStrike" cap="none" normalizeH="0" baseline="0" dirty="0">
                <a:ln>
                  <a:noFill/>
                </a:ln>
                <a:effectLst/>
              </a:rPr>
              <a:t>.</a:t>
            </a:r>
          </a:p>
          <a:p>
            <a:pPr marL="0" marR="0" lvl="0" algn="just" fontAlgn="base">
              <a:lnSpc>
                <a:spcPct val="100000"/>
              </a:lnSpc>
              <a:spcBef>
                <a:spcPct val="0"/>
              </a:spcBef>
              <a:spcAft>
                <a:spcPts val="600"/>
              </a:spcAft>
              <a:buClrTx/>
              <a:buSzTx/>
              <a:tabLst/>
            </a:pPr>
            <a:r>
              <a:rPr kumimoji="0" lang="en-US" altLang="tr-TR" sz="1600" b="1" i="0" u="none" strike="noStrike" cap="none" normalizeH="0" baseline="0" dirty="0" err="1">
                <a:ln>
                  <a:noFill/>
                </a:ln>
                <a:effectLst/>
              </a:rPr>
              <a:t>Hafıza</a:t>
            </a:r>
            <a:r>
              <a:rPr kumimoji="0" lang="en-US" altLang="tr-TR" sz="1600" b="1" i="0" u="none" strike="noStrike" cap="none" normalizeH="0" baseline="0" dirty="0">
                <a:ln>
                  <a:noFill/>
                </a:ln>
                <a:effectLst/>
              </a:rPr>
              <a:t> </a:t>
            </a:r>
            <a:r>
              <a:rPr kumimoji="0" lang="en-US" altLang="tr-TR" sz="1600" b="1" i="0" u="none" strike="noStrike" cap="none" normalizeH="0" baseline="0" dirty="0" err="1">
                <a:ln>
                  <a:noFill/>
                </a:ln>
                <a:effectLst/>
              </a:rPr>
              <a:t>skorlarındaki</a:t>
            </a:r>
            <a:r>
              <a:rPr kumimoji="0" lang="en-US" altLang="tr-TR" sz="1600" b="1" i="0" u="none" strike="noStrike" cap="none" normalizeH="0" baseline="0" dirty="0">
                <a:ln>
                  <a:noFill/>
                </a:ln>
                <a:effectLst/>
              </a:rPr>
              <a:t> </a:t>
            </a:r>
            <a:r>
              <a:rPr kumimoji="0" lang="en-US" altLang="tr-TR" sz="1600" b="1" i="0" u="none" strike="noStrike" cap="none" normalizeH="0" baseline="0" dirty="0" err="1">
                <a:ln>
                  <a:noFill/>
                </a:ln>
                <a:effectLst/>
              </a:rPr>
              <a:t>yaygın</a:t>
            </a:r>
            <a:r>
              <a:rPr kumimoji="0" lang="en-US" altLang="tr-TR" sz="1600" b="1" i="0" u="none" strike="noStrike" cap="none" normalizeH="0" baseline="0" dirty="0">
                <a:ln>
                  <a:noFill/>
                </a:ln>
                <a:effectLst/>
              </a:rPr>
              <a:t> </a:t>
            </a:r>
            <a:r>
              <a:rPr kumimoji="0" lang="en-US" altLang="tr-TR" sz="1600" b="1" i="0" u="none" strike="noStrike" cap="none" normalizeH="0" baseline="0" dirty="0" err="1">
                <a:ln>
                  <a:noFill/>
                </a:ln>
                <a:effectLst/>
              </a:rPr>
              <a:t>pozitif</a:t>
            </a:r>
            <a:r>
              <a:rPr kumimoji="0" lang="en-US" altLang="tr-TR" sz="1600" b="1" i="0" u="none" strike="noStrike" cap="none" normalizeH="0" baseline="0" dirty="0">
                <a:ln>
                  <a:noFill/>
                </a:ln>
                <a:effectLst/>
              </a:rPr>
              <a:t> </a:t>
            </a:r>
            <a:r>
              <a:rPr kumimoji="0" lang="en-US" altLang="tr-TR" sz="1600" b="1" i="0" u="none" strike="noStrike" cap="none" normalizeH="0" baseline="0" dirty="0" err="1">
                <a:ln>
                  <a:noFill/>
                </a:ln>
                <a:effectLst/>
              </a:rPr>
              <a:t>değişim</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tedavinin</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genel</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olarak</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faydalı</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olduğunu</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destekler</a:t>
            </a:r>
            <a:r>
              <a:rPr kumimoji="0" lang="en-US" altLang="tr-TR" sz="1600" b="0" i="0" u="none" strike="noStrike" cap="none" normalizeH="0" baseline="0" dirty="0">
                <a:ln>
                  <a:noFill/>
                </a:ln>
                <a:effectLst/>
              </a:rPr>
              <a:t>.</a:t>
            </a:r>
          </a:p>
          <a:p>
            <a:pPr marL="0" marR="0" lvl="0" algn="just" fontAlgn="base">
              <a:lnSpc>
                <a:spcPct val="100000"/>
              </a:lnSpc>
              <a:spcBef>
                <a:spcPct val="0"/>
              </a:spcBef>
              <a:spcAft>
                <a:spcPts val="600"/>
              </a:spcAft>
              <a:buClrTx/>
              <a:buSzTx/>
              <a:tabLst/>
            </a:pPr>
            <a:r>
              <a:rPr kumimoji="0" lang="en-US" altLang="tr-TR" sz="1600" b="1" i="0" u="none" strike="noStrike" cap="none" normalizeH="0" baseline="0" dirty="0" err="1">
                <a:ln>
                  <a:noFill/>
                </a:ln>
                <a:effectLst/>
              </a:rPr>
              <a:t>Uç</a:t>
            </a:r>
            <a:r>
              <a:rPr kumimoji="0" lang="en-US" altLang="tr-TR" sz="1600" b="1" i="0" u="none" strike="noStrike" cap="none" normalizeH="0" baseline="0" dirty="0">
                <a:ln>
                  <a:noFill/>
                </a:ln>
                <a:effectLst/>
              </a:rPr>
              <a:t> </a:t>
            </a:r>
            <a:r>
              <a:rPr kumimoji="0" lang="en-US" altLang="tr-TR" sz="1600" b="1" i="0" u="none" strike="noStrike" cap="none" normalizeH="0" baseline="0" dirty="0" err="1">
                <a:ln>
                  <a:noFill/>
                </a:ln>
                <a:effectLst/>
              </a:rPr>
              <a:t>değerlerdeki</a:t>
            </a:r>
            <a:r>
              <a:rPr kumimoji="0" lang="en-US" altLang="tr-TR" sz="1600" b="1" i="0" u="none" strike="noStrike" cap="none" normalizeH="0" baseline="0" dirty="0">
                <a:ln>
                  <a:noFill/>
                </a:ln>
                <a:effectLst/>
              </a:rPr>
              <a:t> </a:t>
            </a:r>
            <a:r>
              <a:rPr kumimoji="0" lang="en-US" altLang="tr-TR" sz="1600" b="1" i="0" u="none" strike="noStrike" cap="none" normalizeH="0" baseline="0" dirty="0" err="1">
                <a:ln>
                  <a:noFill/>
                </a:ln>
                <a:effectLst/>
              </a:rPr>
              <a:t>yüksek</a:t>
            </a:r>
            <a:r>
              <a:rPr kumimoji="0" lang="en-US" altLang="tr-TR" sz="1600" b="1" i="0" u="none" strike="noStrike" cap="none" normalizeH="0" baseline="0" dirty="0">
                <a:ln>
                  <a:noFill/>
                </a:ln>
                <a:effectLst/>
              </a:rPr>
              <a:t> </a:t>
            </a:r>
            <a:r>
              <a:rPr kumimoji="0" lang="en-US" altLang="tr-TR" sz="1600" b="1" i="0" u="none" strike="noStrike" cap="none" normalizeH="0" baseline="0" dirty="0" err="1">
                <a:ln>
                  <a:noFill/>
                </a:ln>
                <a:effectLst/>
              </a:rPr>
              <a:t>iyileşmeler</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bireysel</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varyasyonların</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önemli</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olduğunu</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göstermektedir</a:t>
            </a:r>
            <a:r>
              <a:rPr kumimoji="0" lang="en-US" altLang="tr-TR" sz="1600" b="0" i="0" u="none" strike="noStrike" cap="none" normalizeH="0" baseline="0" dirty="0">
                <a:ln>
                  <a:noFill/>
                </a:ln>
                <a:effectLst/>
              </a:rPr>
              <a:t>.</a:t>
            </a:r>
          </a:p>
          <a:p>
            <a:pPr marL="0" marR="0" lvl="0" algn="just" fontAlgn="base">
              <a:lnSpc>
                <a:spcPct val="100000"/>
              </a:lnSpc>
              <a:spcBef>
                <a:spcPct val="0"/>
              </a:spcBef>
              <a:spcAft>
                <a:spcPts val="600"/>
              </a:spcAft>
              <a:buClrTx/>
              <a:buSzTx/>
              <a:tabLst/>
            </a:pPr>
            <a:r>
              <a:rPr kumimoji="0" lang="en-US" altLang="tr-TR" sz="1600" b="1" i="0" u="none" strike="noStrike" cap="none" normalizeH="0" baseline="0" dirty="0" err="1">
                <a:ln>
                  <a:noFill/>
                </a:ln>
                <a:effectLst/>
              </a:rPr>
              <a:t>Korelasyon</a:t>
            </a:r>
            <a:r>
              <a:rPr kumimoji="0" lang="en-US" altLang="tr-TR" sz="1600" b="1" i="0" u="none" strike="noStrike" cap="none" normalizeH="0" baseline="0" dirty="0">
                <a:ln>
                  <a:noFill/>
                </a:ln>
                <a:effectLst/>
              </a:rPr>
              <a:t> </a:t>
            </a:r>
            <a:r>
              <a:rPr kumimoji="0" lang="en-US" altLang="tr-TR" sz="1600" b="1" i="0" u="none" strike="noStrike" cap="none" normalizeH="0" baseline="0" dirty="0" err="1">
                <a:ln>
                  <a:noFill/>
                </a:ln>
                <a:effectLst/>
              </a:rPr>
              <a:t>analizleri</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hafıza</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performansının</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başlangıç</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seviyelerine</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bağlı</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olduğunu</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ve</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ilacın</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etkisinin</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dozla</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sınırlı</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arttığını</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ortaya</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koymaktadır</a:t>
            </a:r>
            <a:r>
              <a:rPr kumimoji="0" lang="en-US" altLang="tr-TR" sz="1600" b="0" i="0" u="none" strike="noStrike" cap="none" normalizeH="0" baseline="0" dirty="0">
                <a:ln>
                  <a:noFill/>
                </a:ln>
                <a:effectLst/>
              </a:rPr>
              <a:t>.</a:t>
            </a:r>
          </a:p>
          <a:p>
            <a:pPr marL="0" marR="0" lvl="0" algn="just" fontAlgn="base">
              <a:lnSpc>
                <a:spcPct val="100000"/>
              </a:lnSpc>
              <a:spcBef>
                <a:spcPct val="0"/>
              </a:spcBef>
              <a:spcAft>
                <a:spcPts val="600"/>
              </a:spcAft>
              <a:buClrTx/>
              <a:buSzTx/>
              <a:tabLst/>
            </a:pPr>
            <a:r>
              <a:rPr kumimoji="0" lang="en-US" altLang="tr-TR" sz="1600" b="1" i="0" u="none" strike="noStrike" cap="none" normalizeH="0" baseline="0" dirty="0" err="1">
                <a:ln>
                  <a:noFill/>
                </a:ln>
                <a:effectLst/>
              </a:rPr>
              <a:t>Eksik</a:t>
            </a:r>
            <a:r>
              <a:rPr kumimoji="0" lang="en-US" altLang="tr-TR" sz="1600" b="1" i="0" u="none" strike="noStrike" cap="none" normalizeH="0" baseline="0" dirty="0">
                <a:ln>
                  <a:noFill/>
                </a:ln>
                <a:effectLst/>
              </a:rPr>
              <a:t> </a:t>
            </a:r>
            <a:r>
              <a:rPr kumimoji="0" lang="en-US" altLang="tr-TR" sz="1600" b="1" i="0" u="none" strike="noStrike" cap="none" normalizeH="0" baseline="0" dirty="0" err="1">
                <a:ln>
                  <a:noFill/>
                </a:ln>
                <a:effectLst/>
              </a:rPr>
              <a:t>veri</a:t>
            </a:r>
            <a:r>
              <a:rPr kumimoji="0" lang="en-US" altLang="tr-TR" sz="1600" b="1" i="0" u="none" strike="noStrike" cap="none" normalizeH="0" baseline="0" dirty="0">
                <a:ln>
                  <a:noFill/>
                </a:ln>
                <a:effectLst/>
              </a:rPr>
              <a:t> </a:t>
            </a:r>
            <a:r>
              <a:rPr kumimoji="0" lang="en-US" altLang="tr-TR" sz="1600" b="1" i="0" u="none" strike="noStrike" cap="none" normalizeH="0" baseline="0" dirty="0" err="1">
                <a:ln>
                  <a:noFill/>
                </a:ln>
                <a:effectLst/>
              </a:rPr>
              <a:t>bulunmaması</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analizlerin</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güvenilirliğini</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artırırken</a:t>
            </a:r>
            <a:r>
              <a:rPr kumimoji="0" lang="en-US" altLang="tr-TR" sz="1600" b="0" i="0" u="none" strike="noStrike" cap="none" normalizeH="0" baseline="0" dirty="0">
                <a:ln>
                  <a:noFill/>
                </a:ln>
                <a:effectLst/>
              </a:rPr>
              <a:t>, </a:t>
            </a:r>
            <a:r>
              <a:rPr kumimoji="0" lang="en-US" altLang="tr-TR" sz="1600" b="1" i="0" u="none" strike="noStrike" cap="none" normalizeH="0" baseline="0" dirty="0" err="1">
                <a:ln>
                  <a:noFill/>
                </a:ln>
                <a:effectLst/>
              </a:rPr>
              <a:t>uç</a:t>
            </a:r>
            <a:r>
              <a:rPr kumimoji="0" lang="en-US" altLang="tr-TR" sz="1600" b="1" i="0" u="none" strike="noStrike" cap="none" normalizeH="0" baseline="0" dirty="0">
                <a:ln>
                  <a:noFill/>
                </a:ln>
                <a:effectLst/>
              </a:rPr>
              <a:t> </a:t>
            </a:r>
            <a:r>
              <a:rPr kumimoji="0" lang="en-US" altLang="tr-TR" sz="1600" b="1" i="0" u="none" strike="noStrike" cap="none" normalizeH="0" baseline="0" dirty="0" err="1">
                <a:ln>
                  <a:noFill/>
                </a:ln>
                <a:effectLst/>
              </a:rPr>
              <a:t>değerler</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bireyler</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arasındaki</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farklılıkları</a:t>
            </a:r>
            <a:r>
              <a:rPr kumimoji="0" lang="en-US" altLang="tr-TR" sz="1600" b="0" i="0" u="none" strike="noStrike" cap="none" normalizeH="0" baseline="0" dirty="0">
                <a:ln>
                  <a:noFill/>
                </a:ln>
                <a:effectLst/>
              </a:rPr>
              <a:t> </a:t>
            </a:r>
            <a:r>
              <a:rPr kumimoji="0" lang="en-US" altLang="tr-TR" sz="1600" b="0" i="0" u="none" strike="noStrike" cap="none" normalizeH="0" baseline="0" dirty="0" err="1">
                <a:ln>
                  <a:noFill/>
                </a:ln>
                <a:effectLst/>
              </a:rPr>
              <a:t>yansıtmaktadır</a:t>
            </a:r>
            <a:r>
              <a:rPr kumimoji="0" lang="en-US" altLang="tr-TR" sz="1600" b="0" i="0" u="none" strike="noStrike" cap="none" normalizeH="0" baseline="0" dirty="0">
                <a:ln>
                  <a:noFill/>
                </a:ln>
                <a:effectLst/>
              </a:rPr>
              <a:t>.</a:t>
            </a:r>
          </a:p>
        </p:txBody>
      </p:sp>
      <p:pic>
        <p:nvPicPr>
          <p:cNvPr id="6" name="Resim 5" descr="çizgi film, ekran görüntüsü, sanat, gölge içeren bir resim&#10;&#10;Yapay zeka tarafından oluşturulmuş içerik yanlış olabilir.">
            <a:extLst>
              <a:ext uri="{FF2B5EF4-FFF2-40B4-BE49-F238E27FC236}">
                <a16:creationId xmlns:a16="http://schemas.microsoft.com/office/drawing/2014/main" id="{C0600BEA-172A-1237-14D6-13ECC4CF8088}"/>
              </a:ext>
            </a:extLst>
          </p:cNvPr>
          <p:cNvPicPr>
            <a:picLocks noChangeAspect="1"/>
          </p:cNvPicPr>
          <p:nvPr/>
        </p:nvPicPr>
        <p:blipFill>
          <a:blip r:embed="rId2"/>
          <a:stretch>
            <a:fillRect/>
          </a:stretch>
        </p:blipFill>
        <p:spPr>
          <a:xfrm>
            <a:off x="7214616" y="0"/>
            <a:ext cx="4974336" cy="6858000"/>
          </a:xfrm>
          <a:prstGeom prst="rect">
            <a:avLst/>
          </a:prstGeom>
        </p:spPr>
      </p:pic>
    </p:spTree>
    <p:extLst>
      <p:ext uri="{BB962C8B-B14F-4D97-AF65-F5344CB8AC3E}">
        <p14:creationId xmlns:p14="http://schemas.microsoft.com/office/powerpoint/2010/main" val="1736233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B9A271C-4DF7-8B87-C7E5-6E7DE287CA4D}"/>
              </a:ext>
            </a:extLst>
          </p:cNvPr>
          <p:cNvSpPr>
            <a:spLocks noGrp="1"/>
          </p:cNvSpPr>
          <p:nvPr>
            <p:ph type="title"/>
          </p:nvPr>
        </p:nvSpPr>
        <p:spPr/>
        <p:txBody>
          <a:bodyPr>
            <a:normAutofit/>
          </a:bodyPr>
          <a:lstStyle/>
          <a:p>
            <a:r>
              <a:rPr lang="tr-TR" sz="3200" dirty="0"/>
              <a:t>MODEL PERFORMANSININ İNCELENMESİ</a:t>
            </a:r>
            <a:br>
              <a:rPr lang="tr-TR" sz="3200" dirty="0"/>
            </a:br>
            <a:endParaRPr lang="tr-TR" sz="3200" dirty="0"/>
          </a:p>
        </p:txBody>
      </p:sp>
      <p:sp>
        <p:nvSpPr>
          <p:cNvPr id="5" name="Rectangle 1">
            <a:extLst>
              <a:ext uri="{FF2B5EF4-FFF2-40B4-BE49-F238E27FC236}">
                <a16:creationId xmlns:a16="http://schemas.microsoft.com/office/drawing/2014/main" id="{D9760489-40F8-D37A-CB3D-7EDC069C6D2B}"/>
              </a:ext>
            </a:extLst>
          </p:cNvPr>
          <p:cNvSpPr>
            <a:spLocks noGrp="1" noChangeArrowheads="1"/>
          </p:cNvSpPr>
          <p:nvPr>
            <p:ph sz="half" idx="1"/>
          </p:nvPr>
        </p:nvSpPr>
        <p:spPr bwMode="auto">
          <a:xfrm>
            <a:off x="515112" y="2038201"/>
            <a:ext cx="1114958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rPr>
              <a:t>Ödüller ve denge süresi dalgalanmaları</a:t>
            </a:r>
            <a:r>
              <a:rPr kumimoji="0" lang="tr-TR" altLang="tr-TR" sz="1800" b="0" i="0" u="none" strike="noStrike" cap="none" normalizeH="0" baseline="0" dirty="0">
                <a:ln>
                  <a:noFill/>
                </a:ln>
                <a:solidFill>
                  <a:schemeClr val="tx1"/>
                </a:solidFill>
                <a:effectLst/>
              </a:rPr>
              <a:t>, ajanın çevreyi öğrenme ve keşfetme sürecinde olduğunu gösteriyor.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rPr>
              <a:t>Artan ödüller ve denge süresi</a:t>
            </a:r>
            <a:r>
              <a:rPr kumimoji="0" lang="tr-TR" altLang="tr-TR" sz="1800" b="0" i="0" u="none" strike="noStrike" cap="none" normalizeH="0" baseline="0" dirty="0">
                <a:ln>
                  <a:noFill/>
                </a:ln>
                <a:solidFill>
                  <a:schemeClr val="tx1"/>
                </a:solidFill>
                <a:effectLst/>
              </a:rPr>
              <a:t>, ajanın çevreye uyum sağlama ve etkili karar alma yeteneğinin geliştiğini gösterir.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rPr>
              <a:t>Doğruluk oranının yükselmesi</a:t>
            </a:r>
            <a:r>
              <a:rPr kumimoji="0" lang="tr-TR" altLang="tr-TR" sz="1800" b="0" i="0" u="none" strike="noStrike" cap="none" normalizeH="0" baseline="0" dirty="0">
                <a:ln>
                  <a:noFill/>
                </a:ln>
                <a:solidFill>
                  <a:schemeClr val="tx1"/>
                </a:solidFill>
                <a:effectLst/>
              </a:rPr>
              <a:t>, modelin daha güvenilir ve tutarlı bir politika geliştirdiğini gösterir.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rPr>
              <a:t>Dinamik modelin tahmin hatasının azalması</a:t>
            </a:r>
            <a:r>
              <a:rPr kumimoji="0" lang="tr-TR" altLang="tr-TR" sz="1800" b="0" i="0" u="none" strike="noStrike" cap="none" normalizeH="0" baseline="0" dirty="0">
                <a:ln>
                  <a:noFill/>
                </a:ln>
                <a:solidFill>
                  <a:schemeClr val="tx1"/>
                </a:solidFill>
                <a:effectLst/>
              </a:rPr>
              <a:t>, çevresel davranışların daha doğru öngörüldüğünü ve modelin öğrenme sürecini daha etkin yönettiğini gösterir.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rPr>
              <a:t>Başlangıçta düşük ve değişken ödüller</a:t>
            </a:r>
            <a:r>
              <a:rPr kumimoji="0" lang="tr-TR" altLang="tr-TR" sz="1800" b="0" i="0" u="none" strike="noStrike" cap="none" normalizeH="0" baseline="0" dirty="0">
                <a:ln>
                  <a:noFill/>
                </a:ln>
                <a:solidFill>
                  <a:schemeClr val="tx1"/>
                </a:solidFill>
                <a:effectLst/>
              </a:rPr>
              <a:t>, ajanın keşif ağırlıklı bir öğrenme sürecinde olduğunu ve çevreyi anlamaya çalıştığını gösterir.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rPr>
              <a:t>Orta dönemdeki ödül dalgalanmaları</a:t>
            </a:r>
            <a:r>
              <a:rPr kumimoji="0" lang="tr-TR" altLang="tr-TR" sz="1800" b="0" i="0" u="none" strike="noStrike" cap="none" normalizeH="0" baseline="0" dirty="0">
                <a:ln>
                  <a:noFill/>
                </a:ln>
                <a:solidFill>
                  <a:schemeClr val="tx1"/>
                </a:solidFill>
                <a:effectLst/>
              </a:rPr>
              <a:t>, keşif ve yararlanma arasında denge kurmaya çalışan ajanın "öğrenme kaosu" yaşadığını ortaya koyar.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rPr>
              <a:t>Son dönemdeki ödüllerdeki istikrarlı artış</a:t>
            </a:r>
            <a:r>
              <a:rPr kumimoji="0" lang="tr-TR" altLang="tr-TR" sz="1800" b="0" i="0" u="none" strike="noStrike" cap="none" normalizeH="0" baseline="0" dirty="0">
                <a:ln>
                  <a:noFill/>
                </a:ln>
                <a:solidFill>
                  <a:schemeClr val="tx1"/>
                </a:solidFill>
                <a:effectLst/>
              </a:rPr>
              <a:t>, ajanın çevreyi iyi kavrayıp kararlı bir politika geliştirdiğini ve öğrenme sürecinin olgunlaştığını gösterir.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rPr>
              <a:t>Uzun süreli sabit ödüller</a:t>
            </a:r>
            <a:r>
              <a:rPr kumimoji="0" lang="tr-TR" altLang="tr-TR" sz="1800" b="0" i="0" u="none" strike="noStrike" cap="none" normalizeH="0" baseline="0" dirty="0">
                <a:ln>
                  <a:noFill/>
                </a:ln>
                <a:solidFill>
                  <a:schemeClr val="tx1"/>
                </a:solidFill>
                <a:effectLst/>
              </a:rPr>
              <a:t>, modelin etkili bir stratejiyle istikrarlı performans sergileyerek öğrenmenin doruk noktasına ulaştığını işaret eder.</a:t>
            </a:r>
          </a:p>
        </p:txBody>
      </p:sp>
      <p:pic>
        <p:nvPicPr>
          <p:cNvPr id="7" name="Grafik 6" descr="Yapay zeka düz dolguyla">
            <a:extLst>
              <a:ext uri="{FF2B5EF4-FFF2-40B4-BE49-F238E27FC236}">
                <a16:creationId xmlns:a16="http://schemas.microsoft.com/office/drawing/2014/main" id="{45597689-42A2-90DA-8684-C681DBE739D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66707" y="752248"/>
            <a:ext cx="1323213" cy="1285726"/>
          </a:xfrm>
          <a:prstGeom prst="rect">
            <a:avLst/>
          </a:prstGeom>
        </p:spPr>
      </p:pic>
      <p:pic>
        <p:nvPicPr>
          <p:cNvPr id="9" name="Grafik 8" descr="Tıp düz dolguyla">
            <a:extLst>
              <a:ext uri="{FF2B5EF4-FFF2-40B4-BE49-F238E27FC236}">
                <a16:creationId xmlns:a16="http://schemas.microsoft.com/office/drawing/2014/main" id="{AA729CDA-2CA7-5024-67F7-404F98F9423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74083" y="913945"/>
            <a:ext cx="1070229" cy="1188720"/>
          </a:xfrm>
          <a:prstGeom prst="rect">
            <a:avLst/>
          </a:prstGeom>
        </p:spPr>
      </p:pic>
    </p:spTree>
    <p:extLst>
      <p:ext uri="{BB962C8B-B14F-4D97-AF65-F5344CB8AC3E}">
        <p14:creationId xmlns:p14="http://schemas.microsoft.com/office/powerpoint/2010/main" val="2278716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571C6A2-84E9-8877-90E7-641FEDF1CAA5}"/>
              </a:ext>
            </a:extLst>
          </p:cNvPr>
          <p:cNvSpPr>
            <a:spLocks noGrp="1"/>
          </p:cNvSpPr>
          <p:nvPr>
            <p:ph type="title"/>
          </p:nvPr>
        </p:nvSpPr>
        <p:spPr>
          <a:xfrm>
            <a:off x="530352" y="822960"/>
            <a:ext cx="11155680" cy="1225296"/>
          </a:xfrm>
        </p:spPr>
        <p:txBody>
          <a:bodyPr>
            <a:normAutofit fontScale="90000"/>
          </a:bodyPr>
          <a:lstStyle/>
          <a:p>
            <a:r>
              <a:rPr lang="tr-TR" sz="4000" dirty="0"/>
              <a:t>TARTIŞMA</a:t>
            </a:r>
            <a:br>
              <a:rPr lang="tr-TR" dirty="0"/>
            </a:br>
            <a:br>
              <a:rPr lang="tr-TR" dirty="0"/>
            </a:br>
            <a:r>
              <a:rPr lang="tr-TR" sz="3100" dirty="0"/>
              <a:t>ÇALIŞMANIN ÇIKARIMLARI</a:t>
            </a:r>
            <a:br>
              <a:rPr lang="tr-TR" dirty="0"/>
            </a:br>
            <a:endParaRPr lang="tr-TR" dirty="0"/>
          </a:p>
        </p:txBody>
      </p:sp>
      <p:graphicFrame>
        <p:nvGraphicFramePr>
          <p:cNvPr id="7" name="İçerik Yer Tutucusu 6">
            <a:extLst>
              <a:ext uri="{FF2B5EF4-FFF2-40B4-BE49-F238E27FC236}">
                <a16:creationId xmlns:a16="http://schemas.microsoft.com/office/drawing/2014/main" id="{FB58E248-5CB8-8C20-7DA7-E32803609BFB}"/>
              </a:ext>
            </a:extLst>
          </p:cNvPr>
          <p:cNvGraphicFramePr>
            <a:graphicFrameLocks noGrp="1"/>
          </p:cNvGraphicFramePr>
          <p:nvPr>
            <p:ph sz="half" idx="2"/>
            <p:extLst>
              <p:ext uri="{D42A27DB-BD31-4B8C-83A1-F6EECF244321}">
                <p14:modId xmlns:p14="http://schemas.microsoft.com/office/powerpoint/2010/main" val="1739131387"/>
              </p:ext>
            </p:extLst>
          </p:nvPr>
        </p:nvGraphicFramePr>
        <p:xfrm>
          <a:off x="5385816" y="822960"/>
          <a:ext cx="6806184" cy="60350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İçerik Yer Tutucusu 5">
            <a:extLst>
              <a:ext uri="{FF2B5EF4-FFF2-40B4-BE49-F238E27FC236}">
                <a16:creationId xmlns:a16="http://schemas.microsoft.com/office/drawing/2014/main" id="{2E12DECB-B3DE-F53F-7587-58EDB62F7EAE}"/>
              </a:ext>
            </a:extLst>
          </p:cNvPr>
          <p:cNvGraphicFramePr>
            <a:graphicFrameLocks noGrp="1"/>
          </p:cNvGraphicFramePr>
          <p:nvPr>
            <p:ph sz="half" idx="1"/>
            <p:extLst>
              <p:ext uri="{D42A27DB-BD31-4B8C-83A1-F6EECF244321}">
                <p14:modId xmlns:p14="http://schemas.microsoft.com/office/powerpoint/2010/main" val="2419252813"/>
              </p:ext>
            </p:extLst>
          </p:nvPr>
        </p:nvGraphicFramePr>
        <p:xfrm>
          <a:off x="530352" y="2754112"/>
          <a:ext cx="5998465" cy="359182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9" name="Grafik 8" descr="Sol Beyin düz dolguyla">
            <a:extLst>
              <a:ext uri="{FF2B5EF4-FFF2-40B4-BE49-F238E27FC236}">
                <a16:creationId xmlns:a16="http://schemas.microsoft.com/office/drawing/2014/main" id="{AE78D680-D3EF-C74D-3B82-69771E626F1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930384" y="3319272"/>
            <a:ext cx="1185672" cy="1133856"/>
          </a:xfrm>
          <a:prstGeom prst="rect">
            <a:avLst/>
          </a:prstGeom>
        </p:spPr>
      </p:pic>
    </p:spTree>
    <p:extLst>
      <p:ext uri="{BB962C8B-B14F-4D97-AF65-F5344CB8AC3E}">
        <p14:creationId xmlns:p14="http://schemas.microsoft.com/office/powerpoint/2010/main" val="3693035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İçerik Yer Tutucusu 4">
            <a:extLst>
              <a:ext uri="{FF2B5EF4-FFF2-40B4-BE49-F238E27FC236}">
                <a16:creationId xmlns:a16="http://schemas.microsoft.com/office/drawing/2014/main" id="{CA3D561E-F42E-2AC5-70D9-1F274CD4A617}"/>
              </a:ext>
            </a:extLst>
          </p:cNvPr>
          <p:cNvGraphicFramePr>
            <a:graphicFrameLocks noGrp="1"/>
          </p:cNvGraphicFramePr>
          <p:nvPr>
            <p:ph sz="half" idx="2"/>
            <p:extLst>
              <p:ext uri="{D42A27DB-BD31-4B8C-83A1-F6EECF244321}">
                <p14:modId xmlns:p14="http://schemas.microsoft.com/office/powerpoint/2010/main" val="2390889347"/>
              </p:ext>
            </p:extLst>
          </p:nvPr>
        </p:nvGraphicFramePr>
        <p:xfrm>
          <a:off x="6891909" y="2194560"/>
          <a:ext cx="5166360" cy="37673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170" name="Picture 2" descr="Hikaye Pini görüntüsü">
            <a:extLst>
              <a:ext uri="{FF2B5EF4-FFF2-40B4-BE49-F238E27FC236}">
                <a16:creationId xmlns:a16="http://schemas.microsoft.com/office/drawing/2014/main" id="{151D10B3-CE28-C41D-9825-BBAF0F5CACB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4257" y="1393697"/>
            <a:ext cx="6196584" cy="4568191"/>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2B9A7E47-4EDE-29CA-26A8-7FA036994697}"/>
              </a:ext>
            </a:extLst>
          </p:cNvPr>
          <p:cNvSpPr txBox="1"/>
          <p:nvPr/>
        </p:nvSpPr>
        <p:spPr>
          <a:xfrm>
            <a:off x="6995160" y="1393697"/>
            <a:ext cx="4096512" cy="523220"/>
          </a:xfrm>
          <a:prstGeom prst="rect">
            <a:avLst/>
          </a:prstGeom>
          <a:noFill/>
        </p:spPr>
        <p:txBody>
          <a:bodyPr wrap="square" rtlCol="0">
            <a:spAutoFit/>
          </a:bodyPr>
          <a:lstStyle/>
          <a:p>
            <a:r>
              <a:rPr lang="tr-TR" sz="2800" b="1" dirty="0"/>
              <a:t>SONUÇ</a:t>
            </a:r>
          </a:p>
        </p:txBody>
      </p:sp>
    </p:spTree>
    <p:extLst>
      <p:ext uri="{BB962C8B-B14F-4D97-AF65-F5344CB8AC3E}">
        <p14:creationId xmlns:p14="http://schemas.microsoft.com/office/powerpoint/2010/main" val="1852926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5" name="Rectangle 14">
            <a:extLst>
              <a:ext uri="{FF2B5EF4-FFF2-40B4-BE49-F238E27FC236}">
                <a16:creationId xmlns:a16="http://schemas.microsoft.com/office/drawing/2014/main" id="{67A7C490-FB0D-4946-BDB7-1CF2F58DA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EA46C7B5-107B-5335-5FA4-02A0290E963A}"/>
              </a:ext>
            </a:extLst>
          </p:cNvPr>
          <p:cNvSpPr>
            <a:spLocks noGrp="1"/>
          </p:cNvSpPr>
          <p:nvPr>
            <p:ph type="title"/>
          </p:nvPr>
        </p:nvSpPr>
        <p:spPr>
          <a:xfrm>
            <a:off x="517870" y="978408"/>
            <a:ext cx="6117661" cy="3047327"/>
          </a:xfrm>
        </p:spPr>
        <p:txBody>
          <a:bodyPr vert="horz" lIns="91440" tIns="45720" rIns="91440" bIns="45720" rtlCol="0" anchor="t">
            <a:normAutofit/>
          </a:bodyPr>
          <a:lstStyle/>
          <a:p>
            <a:r>
              <a:rPr lang="en-US" sz="6100"/>
              <a:t>DİNLEDİĞİNİZ İÇİN TEŞEKKÜRLER…</a:t>
            </a:r>
          </a:p>
        </p:txBody>
      </p:sp>
      <p:sp>
        <p:nvSpPr>
          <p:cNvPr id="17" name="Rectangle 16">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1264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fik 5" descr="Öğretmen ana hat">
            <a:extLst>
              <a:ext uri="{FF2B5EF4-FFF2-40B4-BE49-F238E27FC236}">
                <a16:creationId xmlns:a16="http://schemas.microsoft.com/office/drawing/2014/main" id="{136E7C35-8772-DA59-9C5E-76C02069F24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2949" y="1605155"/>
            <a:ext cx="4439999" cy="4439999"/>
          </a:xfrm>
          <a:prstGeom prst="rect">
            <a:avLst/>
          </a:prstGeom>
        </p:spPr>
      </p:pic>
      <p:sp>
        <p:nvSpPr>
          <p:cNvPr id="19" name="Rectangle 18">
            <a:extLst>
              <a:ext uri="{FF2B5EF4-FFF2-40B4-BE49-F238E27FC236}">
                <a16:creationId xmlns:a16="http://schemas.microsoft.com/office/drawing/2014/main" id="{F261CD1D-C921-4DD4-B856-8EA1D71A4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49513" y="6209925"/>
            <a:ext cx="445472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3175325"/>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310</TotalTime>
  <Words>1736</Words>
  <Application>Microsoft Office PowerPoint</Application>
  <PresentationFormat>Geniş ekran</PresentationFormat>
  <Paragraphs>128</Paragraphs>
  <Slides>15</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15</vt:i4>
      </vt:variant>
    </vt:vector>
  </HeadingPairs>
  <TitlesOfParts>
    <vt:vector size="20" baseType="lpstr">
      <vt:lpstr>Arial</vt:lpstr>
      <vt:lpstr>Bierstadt</vt:lpstr>
      <vt:lpstr>Neue Haas Grotesk Text Pro</vt:lpstr>
      <vt:lpstr>Wingdings</vt:lpstr>
      <vt:lpstr>GestaltVTI</vt:lpstr>
      <vt:lpstr>“HAFIZA TESTİ SONUÇLARINA DAYALI ANTİ-ANKSİYETE İLAÇ DOZU STRATEJİSİNİN REINFORCE ALGORİTMASI İLE ÖĞRENİLMESİ” </vt:lpstr>
      <vt:lpstr>İÇİNDEKİLER</vt:lpstr>
      <vt:lpstr>ÖZET  VERİ SETİ                                                  ÇALIŞMANIN KAPSAMI</vt:lpstr>
      <vt:lpstr>YÖNTEM</vt:lpstr>
      <vt:lpstr>MODELLEME VE REINFORCEMENT LEARNING SÜRECİ </vt:lpstr>
      <vt:lpstr>OPTİMİZASYON                           MODEL PERFORMANS ANALİZİ </vt:lpstr>
      <vt:lpstr>DENEYSEL SONUÇLAR  GENEL VERİ SETİ BULGULARI  </vt:lpstr>
      <vt:lpstr>VERİ GÖRSELLERİ</vt:lpstr>
      <vt:lpstr>PowerPoint Sunusu</vt:lpstr>
      <vt:lpstr>MODEL PERFORMANSI VE TEST BULGULARI </vt:lpstr>
      <vt:lpstr>DEĞERLENDİRME  VERİ SETİNİN YORUMU</vt:lpstr>
      <vt:lpstr>MODEL PERFORMANSININ İNCELENMESİ </vt:lpstr>
      <vt:lpstr>TARTIŞMA  ÇALIŞMANIN ÇIKARIMLARI </vt:lpstr>
      <vt:lpstr>PowerPoint Sunusu</vt:lpstr>
      <vt:lpstr>DİNLEDİĞİNİZ İÇİN TEŞEKKÜRLER…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Esra Ayvaz</dc:creator>
  <cp:lastModifiedBy>Esra Ayvaz</cp:lastModifiedBy>
  <cp:revision>1</cp:revision>
  <dcterms:created xsi:type="dcterms:W3CDTF">2025-12-11T12:28:21Z</dcterms:created>
  <dcterms:modified xsi:type="dcterms:W3CDTF">2025-12-11T17:38:26Z</dcterms:modified>
</cp:coreProperties>
</file>